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2" r:id="rId1"/>
    <p:sldMasterId id="2147483673" r:id="rId2"/>
  </p:sldMasterIdLst>
  <p:notesMasterIdLst>
    <p:notesMasterId r:id="rId43"/>
  </p:notesMasterIdLst>
  <p:sldIdLst>
    <p:sldId id="256" r:id="rId3"/>
    <p:sldId id="257" r:id="rId4"/>
    <p:sldId id="258" r:id="rId5"/>
    <p:sldId id="259" r:id="rId6"/>
    <p:sldId id="260" r:id="rId7"/>
    <p:sldId id="261" r:id="rId8"/>
    <p:sldId id="262" r:id="rId9"/>
    <p:sldId id="292" r:id="rId10"/>
    <p:sldId id="293" r:id="rId11"/>
    <p:sldId id="294" r:id="rId12"/>
    <p:sldId id="295"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F26710F-4515-495F-8A12-3B80EE6E18C5}">
  <a:tblStyle styleId="{5F26710F-4515-495F-8A12-3B80EE6E18C5}" styleName="Table_0">
    <a:wholeTbl>
      <a:tcTxStyle b="off" i="off">
        <a:font>
          <a:latin typeface="Aptos"/>
          <a:ea typeface="Aptos"/>
          <a:cs typeface="Aptos"/>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C566C97-2404-4030-9C2A-5C24EAB035B3}"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1557439-C961-4ACF-BB76-F6D57C97AC43}" styleName="Table_2">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AD1D8"/>
          </a:solidFill>
        </a:fill>
      </a:tcStyle>
    </a:band1H>
    <a:band2H>
      <a:tcTxStyle/>
      <a:tcStyle>
        <a:tcBdr/>
      </a:tcStyle>
    </a:band2H>
    <a:band1V>
      <a:tcTxStyle/>
      <a:tcStyle>
        <a:tcBdr/>
        <a:fill>
          <a:solidFill>
            <a:srgbClr val="CAD1D8"/>
          </a:solidFill>
        </a:fill>
      </a:tcStyle>
    </a:band1V>
    <a:band2V>
      <a:tcTxStyle/>
      <a:tcStyle>
        <a:tcBdr/>
      </a:tcStyle>
    </a:band2V>
    <a:lastCol>
      <a:tcTxStyle b="on" i="off">
        <a:font>
          <a:latin typeface="Aptos"/>
          <a:ea typeface="Aptos"/>
          <a:cs typeface="Aptos"/>
        </a:font>
        <a:schemeClr val="lt1"/>
      </a:tcTxStyle>
      <a:tcStyle>
        <a:tcBdr/>
        <a:fill>
          <a:solidFill>
            <a:schemeClr val="accent1"/>
          </a:solidFill>
        </a:fill>
      </a:tcStyle>
    </a:lastCol>
    <a:firstCol>
      <a:tcTxStyle b="on" i="off">
        <a:font>
          <a:latin typeface="Aptos"/>
          <a:ea typeface="Aptos"/>
          <a:cs typeface="Aptos"/>
        </a:font>
        <a:schemeClr val="lt1"/>
      </a:tcTxStyle>
      <a:tcStyle>
        <a:tcBdr/>
        <a:fill>
          <a:solidFill>
            <a:schemeClr val="accent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1" d="100"/>
          <a:sy n="131" d="100"/>
        </p:scale>
        <p:origin x="62" y="19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h5b9a3ca8121c69b6_3_88: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h5b9a3ca8121c69b6_3_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h5b9a3ca8121c69b6_3_9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h5b9a3ca8121c69b6_3_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h5b9a3ca8121c69b6_3_102: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h5b9a3ca8121c69b6_3_1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h5b9a3ca8121c69b6_3_108: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h5b9a3ca8121c69b6_3_1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h5b9a3ca8121c69b6_3_11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h5b9a3ca8121c69b6_3_1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h5b9a3ca8121c69b6_3_128: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h5b9a3ca8121c69b6_3_1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h5b9a3ca8121c69b6_3_14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h5b9a3ca8121c69b6_3_1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h5b9a3ca8121c69b6_3_158: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h5b9a3ca8121c69b6_3_1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h5b9a3ca8121c69b6_3_16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h5b9a3ca8121c69b6_3_1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h5b9a3ca8121c69b6_3_17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h5b9a3ca8121c69b6_3_1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h5b9a3ca8121c69b6_3_182: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h5b9a3ca8121c69b6_3_1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h5b9a3ca8121c69b6_3_19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h5b9a3ca8121c69b6_3_1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h5b9a3ca8121c69b6_3_20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h5b9a3ca8121c69b6_3_2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h5b9a3ca8121c69b6_3_212: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6" name="Google Shape;276;h5b9a3ca8121c69b6_3_2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h5b9a3ca8121c69b6_3_22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6" name="Google Shape;286;h5b9a3ca8121c69b6_3_2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h5b9a3ca8121c69b6_3_23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7" name="Google Shape;297;h5b9a3ca8121c69b6_3_2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h5b9a3ca8121c69b6_3_24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8" name="Google Shape;308;h5b9a3ca8121c69b6_3_2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h5b9a3ca8121c69b6_3_248: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6" name="Google Shape;316;h5b9a3ca8121c69b6_3_2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h5b9a3ca8121c69b6_3_2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4" name="Google Shape;324;h5b9a3ca8121c69b6_3_2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endParaRPr/>
          </a:p>
        </p:txBody>
      </p:sp>
      <p:sp>
        <p:nvSpPr>
          <p:cNvPr id="325" name="Google Shape;325;h5b9a3ca8121c69b6_3_2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Arial"/>
              <a:buNone/>
            </a:pPr>
            <a:fld id="{00000000-1234-1234-1234-123412341234}" type="slidenum">
              <a:rPr lang="en"/>
              <a:t>23</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h5b9a3ca8121c69b6_3_2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h5b9a3ca8121c69b6_3_2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endParaRPr/>
          </a:p>
        </p:txBody>
      </p:sp>
      <p:sp>
        <p:nvSpPr>
          <p:cNvPr id="333" name="Google Shape;333;h5b9a3ca8121c69b6_3_26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
              <a:t>24</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h5b9a3ca8121c69b6_3_2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1" name="Google Shape;341;h5b9a3ca8121c69b6_3_2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endParaRPr/>
          </a:p>
        </p:txBody>
      </p:sp>
      <p:sp>
        <p:nvSpPr>
          <p:cNvPr id="342" name="Google Shape;342;h5b9a3ca8121c69b6_3_2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
              <a:t>25</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h5b9a3ca8121c69b6_3_27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endParaRPr/>
          </a:p>
        </p:txBody>
      </p:sp>
      <p:sp>
        <p:nvSpPr>
          <p:cNvPr id="351" name="Google Shape;351;h5b9a3ca8121c69b6_3_2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h5b9a3ca8121c69b6_3_28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endParaRPr/>
          </a:p>
        </p:txBody>
      </p:sp>
      <p:sp>
        <p:nvSpPr>
          <p:cNvPr id="358" name="Google Shape;358;h5b9a3ca8121c69b6_3_2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h5b9a3ca8121c69b6_3_2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6" name="Google Shape;366;h5b9a3ca8121c69b6_3_2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endParaRPr/>
          </a:p>
        </p:txBody>
      </p:sp>
      <p:sp>
        <p:nvSpPr>
          <p:cNvPr id="367" name="Google Shape;367;h5b9a3ca8121c69b6_3_2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
              <a:t>28</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h5b9a3ca8121c69b6_3_2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5" name="Google Shape;375;h5b9a3ca8121c69b6_3_29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endParaRPr/>
          </a:p>
        </p:txBody>
      </p:sp>
      <p:sp>
        <p:nvSpPr>
          <p:cNvPr id="376" name="Google Shape;376;h5b9a3ca8121c69b6_3_29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Arial"/>
              <a:buNone/>
            </a:pPr>
            <a:fld id="{00000000-1234-1234-1234-123412341234}" type="slidenum">
              <a:rPr lang="en"/>
              <a:t>29</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h5b9a3ca8121c69b6_3_3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0" name="Google Shape;390;h5b9a3ca8121c69b6_3_3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a:p>
        </p:txBody>
      </p:sp>
      <p:sp>
        <p:nvSpPr>
          <p:cNvPr id="391" name="Google Shape;391;h5b9a3ca8121c69b6_3_3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
              <a:t>30</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h5b9a3ca8121c69b6_3_3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1" name="Google Shape;401;h5b9a3ca8121c69b6_3_3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endParaRPr/>
          </a:p>
        </p:txBody>
      </p:sp>
      <p:sp>
        <p:nvSpPr>
          <p:cNvPr id="402" name="Google Shape;402;h5b9a3ca8121c69b6_3_3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
              <a:t>31</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h5b9a3ca8121c69b6_3_32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0" name="Google Shape;410;h5b9a3ca8121c69b6_3_3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h5b9a3ca8121c69b6_3_33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7" name="Google Shape;417;h5b9a3ca8121c69b6_3_3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h5b9a3ca8121c69b6_3_339: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4" name="Google Shape;424;h5b9a3ca8121c69b6_3_3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h5b9a3ca8121c69b6_3_34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1" name="Google Shape;431;h5b9a3ca8121c69b6_3_3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h5b9a3ca8121c69b6_3_35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1" name="Google Shape;441;h5b9a3ca8121c69b6_3_3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h5b9a3ca8121c69b6_3_36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9" name="Google Shape;449;h5b9a3ca8121c69b6_3_3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h5b9a3ca8121c69b6_3_36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6" name="Google Shape;456;h5b9a3ca8121c69b6_3_3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h5b9a3ca8121c69b6_3_3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6" name="Google Shape;466;h5b9a3ca8121c69b6_3_3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h5b9a3ca8121c69b6_3_38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6" name="Google Shape;476;h5b9a3ca8121c69b6_3_3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51565" y="1200150"/>
            <a:ext cx="7324242"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3300"/>
              <a:buFont typeface="Arial"/>
              <a:buNone/>
              <a:defRPr sz="3300"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Google Shape;56;p14"/>
          <p:cNvSpPr txBox="1">
            <a:spLocks noGrp="1"/>
          </p:cNvSpPr>
          <p:nvPr>
            <p:ph type="subTitle" idx="1"/>
          </p:nvPr>
        </p:nvSpPr>
        <p:spPr>
          <a:xfrm>
            <a:off x="351565" y="3161160"/>
            <a:ext cx="7324242" cy="1241822"/>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57" name="Google Shape;57;p14"/>
          <p:cNvSpPr txBox="1"/>
          <p:nvPr/>
        </p:nvSpPr>
        <p:spPr>
          <a:xfrm>
            <a:off x="7383293" y="76111"/>
            <a:ext cx="1548446" cy="276999"/>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1400" b="1" i="0" u="none" strike="noStrike" cap="none">
                <a:solidFill>
                  <a:srgbClr val="BF4F14"/>
                </a:solidFill>
                <a:latin typeface="Arial"/>
                <a:ea typeface="Arial"/>
                <a:cs typeface="Arial"/>
                <a:sym typeface="Arial"/>
              </a:rPr>
              <a:t>CuriousIC EDU</a:t>
            </a:r>
            <a:endParaRPr sz="1100"/>
          </a:p>
        </p:txBody>
      </p:sp>
      <p:pic>
        <p:nvPicPr>
          <p:cNvPr id="58" name="Google Shape;58;p14"/>
          <p:cNvPicPr preferRelativeResize="0"/>
          <p:nvPr/>
        </p:nvPicPr>
        <p:blipFill rotWithShape="1">
          <a:blip r:embed="rId2">
            <a:alphaModFix/>
          </a:blip>
          <a:srcRect/>
          <a:stretch/>
        </p:blipFill>
        <p:spPr>
          <a:xfrm>
            <a:off x="7815111" y="353110"/>
            <a:ext cx="977324" cy="977324"/>
          </a:xfrm>
          <a:prstGeom prst="rect">
            <a:avLst/>
          </a:prstGeom>
          <a:noFill/>
          <a:ln>
            <a:noFill/>
          </a:ln>
        </p:spPr>
      </p:pic>
      <p:sp>
        <p:nvSpPr>
          <p:cNvPr id="59" name="Google Shape;59;p14"/>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1100" b="0" i="0" u="none" strike="noStrike" cap="none">
                <a:solidFill>
                  <a:schemeClr val="dk1"/>
                </a:solidFill>
                <a:latin typeface="Arial"/>
                <a:ea typeface="Arial"/>
                <a:cs typeface="Arial"/>
                <a:sym typeface="Arial"/>
              </a:defRPr>
            </a:lvl1pPr>
            <a:lvl2pPr marL="0" lvl="1" indent="0" algn="r">
              <a:spcBef>
                <a:spcPts val="0"/>
              </a:spcBef>
              <a:buNone/>
              <a:defRPr sz="1100" b="0" i="0" u="none" strike="noStrike" cap="none">
                <a:solidFill>
                  <a:schemeClr val="dk1"/>
                </a:solidFill>
                <a:latin typeface="Arial"/>
                <a:ea typeface="Arial"/>
                <a:cs typeface="Arial"/>
                <a:sym typeface="Arial"/>
              </a:defRPr>
            </a:lvl2pPr>
            <a:lvl3pPr marL="0" lvl="2" indent="0" algn="r">
              <a:spcBef>
                <a:spcPts val="0"/>
              </a:spcBef>
              <a:buNone/>
              <a:defRPr sz="1100" b="0" i="0" u="none" strike="noStrike" cap="none">
                <a:solidFill>
                  <a:schemeClr val="dk1"/>
                </a:solidFill>
                <a:latin typeface="Arial"/>
                <a:ea typeface="Arial"/>
                <a:cs typeface="Arial"/>
                <a:sym typeface="Arial"/>
              </a:defRPr>
            </a:lvl3pPr>
            <a:lvl4pPr marL="0" lvl="3" indent="0" algn="r">
              <a:spcBef>
                <a:spcPts val="0"/>
              </a:spcBef>
              <a:buNone/>
              <a:defRPr sz="1100" b="0" i="0" u="none" strike="noStrike" cap="none">
                <a:solidFill>
                  <a:schemeClr val="dk1"/>
                </a:solidFill>
                <a:latin typeface="Arial"/>
                <a:ea typeface="Arial"/>
                <a:cs typeface="Arial"/>
                <a:sym typeface="Arial"/>
              </a:defRPr>
            </a:lvl4pPr>
            <a:lvl5pPr marL="0" lvl="4" indent="0" algn="r">
              <a:spcBef>
                <a:spcPts val="0"/>
              </a:spcBef>
              <a:buNone/>
              <a:defRPr sz="1100" b="0" i="0" u="none" strike="noStrike" cap="none">
                <a:solidFill>
                  <a:schemeClr val="dk1"/>
                </a:solidFill>
                <a:latin typeface="Arial"/>
                <a:ea typeface="Arial"/>
                <a:cs typeface="Arial"/>
                <a:sym typeface="Arial"/>
              </a:defRPr>
            </a:lvl5pPr>
            <a:lvl6pPr marL="0" lvl="5" indent="0" algn="r">
              <a:spcBef>
                <a:spcPts val="0"/>
              </a:spcBef>
              <a:buNone/>
              <a:defRPr sz="1100" b="0" i="0" u="none" strike="noStrike" cap="none">
                <a:solidFill>
                  <a:schemeClr val="dk1"/>
                </a:solidFill>
                <a:latin typeface="Arial"/>
                <a:ea typeface="Arial"/>
                <a:cs typeface="Arial"/>
                <a:sym typeface="Arial"/>
              </a:defRPr>
            </a:lvl6pPr>
            <a:lvl7pPr marL="0" lvl="6" indent="0" algn="r">
              <a:spcBef>
                <a:spcPts val="0"/>
              </a:spcBef>
              <a:buNone/>
              <a:defRPr sz="1100" b="0" i="0" u="none" strike="noStrike" cap="none">
                <a:solidFill>
                  <a:schemeClr val="dk1"/>
                </a:solidFill>
                <a:latin typeface="Arial"/>
                <a:ea typeface="Arial"/>
                <a:cs typeface="Arial"/>
                <a:sym typeface="Arial"/>
              </a:defRPr>
            </a:lvl7pPr>
            <a:lvl8pPr marL="0" lvl="7" indent="0" algn="r">
              <a:spcBef>
                <a:spcPts val="0"/>
              </a:spcBef>
              <a:buNone/>
              <a:defRPr sz="1100" b="0" i="0" u="none" strike="noStrike" cap="none">
                <a:solidFill>
                  <a:schemeClr val="dk1"/>
                </a:solidFill>
                <a:latin typeface="Arial"/>
                <a:ea typeface="Arial"/>
                <a:cs typeface="Arial"/>
                <a:sym typeface="Arial"/>
              </a:defRPr>
            </a:lvl8pPr>
            <a:lvl9pPr marL="0" lvl="8" indent="0" algn="r">
              <a:spcBef>
                <a:spcPts val="0"/>
              </a:spcBef>
              <a:buNone/>
              <a:defRPr sz="11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0"/>
        <p:cNvGrpSpPr/>
        <p:nvPr/>
      </p:nvGrpSpPr>
      <p:grpSpPr>
        <a:xfrm>
          <a:off x="0" y="0"/>
          <a:ext cx="0" cy="0"/>
          <a:chOff x="0" y="0"/>
          <a:chExt cx="0" cy="0"/>
        </a:xfrm>
      </p:grpSpPr>
      <p:sp>
        <p:nvSpPr>
          <p:cNvPr id="61" name="Google Shape;61;p15"/>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chemeClr val="dk1"/>
              </a:buClr>
              <a:buSzPts val="2400"/>
              <a:buFont typeface="Arial"/>
              <a:buNone/>
              <a:defRPr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2" name="Google Shape;62;p15"/>
          <p:cNvSpPr txBox="1">
            <a:spLocks noGrp="1"/>
          </p:cNvSpPr>
          <p:nvPr>
            <p:ph type="body" idx="1"/>
          </p:nvPr>
        </p:nvSpPr>
        <p:spPr>
          <a:xfrm>
            <a:off x="437746" y="3815674"/>
            <a:ext cx="8251487" cy="817048"/>
          </a:xfrm>
          <a:prstGeom prst="rect">
            <a:avLst/>
          </a:prstGeom>
          <a:noFill/>
          <a:ln w="2857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lvl1pPr marL="457200" lvl="0" indent="-323850" algn="l">
              <a:lnSpc>
                <a:spcPct val="90000"/>
              </a:lnSpc>
              <a:spcBef>
                <a:spcPts val="800"/>
              </a:spcBef>
              <a:spcAft>
                <a:spcPts val="0"/>
              </a:spcAft>
              <a:buClr>
                <a:schemeClr val="dk1"/>
              </a:buClr>
              <a:buSzPts val="1500"/>
              <a:buFont typeface="Noto Sans Symbols"/>
              <a:buChar char="▪"/>
              <a:defRPr sz="1500" b="1"/>
            </a:lvl1pPr>
            <a:lvl2pPr marL="914400" lvl="1" indent="-323850" algn="l">
              <a:lnSpc>
                <a:spcPct val="90000"/>
              </a:lnSpc>
              <a:spcBef>
                <a:spcPts val="400"/>
              </a:spcBef>
              <a:spcAft>
                <a:spcPts val="0"/>
              </a:spcAft>
              <a:buClr>
                <a:schemeClr val="dk1"/>
              </a:buClr>
              <a:buSzPts val="1500"/>
              <a:buChar char="•"/>
              <a:defRPr sz="1500" b="1"/>
            </a:lvl2pPr>
            <a:lvl3pPr marL="1371600" lvl="2" indent="-323850" algn="l">
              <a:lnSpc>
                <a:spcPct val="90000"/>
              </a:lnSpc>
              <a:spcBef>
                <a:spcPts val="400"/>
              </a:spcBef>
              <a:spcAft>
                <a:spcPts val="0"/>
              </a:spcAft>
              <a:buClr>
                <a:schemeClr val="dk1"/>
              </a:buClr>
              <a:buSzPts val="1500"/>
              <a:buChar char="•"/>
              <a:defRPr sz="1500" b="1"/>
            </a:lvl3pPr>
            <a:lvl4pPr marL="1828800" lvl="3" indent="-228600" algn="l">
              <a:lnSpc>
                <a:spcPct val="90000"/>
              </a:lnSpc>
              <a:spcBef>
                <a:spcPts val="400"/>
              </a:spcBef>
              <a:spcAft>
                <a:spcPts val="0"/>
              </a:spcAft>
              <a:buClr>
                <a:schemeClr val="dk1"/>
              </a:buClr>
              <a:buSzPts val="1400"/>
              <a:buNone/>
              <a:defRPr/>
            </a:lvl4pPr>
            <a:lvl5pPr marL="2286000" lvl="4" indent="-228600" algn="l">
              <a:lnSpc>
                <a:spcPct val="90000"/>
              </a:lnSpc>
              <a:spcBef>
                <a:spcPts val="400"/>
              </a:spcBef>
              <a:spcAft>
                <a:spcPts val="0"/>
              </a:spcAft>
              <a:buClr>
                <a:schemeClr val="dk1"/>
              </a:buClr>
              <a:buSzPts val="14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3" name="Google Shape;63;p15"/>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1100" b="0" i="0" u="none" strike="noStrike" cap="none">
                <a:solidFill>
                  <a:schemeClr val="dk1"/>
                </a:solidFill>
                <a:latin typeface="Arial"/>
                <a:ea typeface="Arial"/>
                <a:cs typeface="Arial"/>
                <a:sym typeface="Arial"/>
              </a:defRPr>
            </a:lvl1pPr>
            <a:lvl2pPr marL="0" lvl="1" indent="0" algn="r">
              <a:spcBef>
                <a:spcPts val="0"/>
              </a:spcBef>
              <a:buNone/>
              <a:defRPr sz="1100" b="0" i="0" u="none" strike="noStrike" cap="none">
                <a:solidFill>
                  <a:schemeClr val="dk1"/>
                </a:solidFill>
                <a:latin typeface="Arial"/>
                <a:ea typeface="Arial"/>
                <a:cs typeface="Arial"/>
                <a:sym typeface="Arial"/>
              </a:defRPr>
            </a:lvl2pPr>
            <a:lvl3pPr marL="0" lvl="2" indent="0" algn="r">
              <a:spcBef>
                <a:spcPts val="0"/>
              </a:spcBef>
              <a:buNone/>
              <a:defRPr sz="1100" b="0" i="0" u="none" strike="noStrike" cap="none">
                <a:solidFill>
                  <a:schemeClr val="dk1"/>
                </a:solidFill>
                <a:latin typeface="Arial"/>
                <a:ea typeface="Arial"/>
                <a:cs typeface="Arial"/>
                <a:sym typeface="Arial"/>
              </a:defRPr>
            </a:lvl3pPr>
            <a:lvl4pPr marL="0" lvl="3" indent="0" algn="r">
              <a:spcBef>
                <a:spcPts val="0"/>
              </a:spcBef>
              <a:buNone/>
              <a:defRPr sz="1100" b="0" i="0" u="none" strike="noStrike" cap="none">
                <a:solidFill>
                  <a:schemeClr val="dk1"/>
                </a:solidFill>
                <a:latin typeface="Arial"/>
                <a:ea typeface="Arial"/>
                <a:cs typeface="Arial"/>
                <a:sym typeface="Arial"/>
              </a:defRPr>
            </a:lvl4pPr>
            <a:lvl5pPr marL="0" lvl="4" indent="0" algn="r">
              <a:spcBef>
                <a:spcPts val="0"/>
              </a:spcBef>
              <a:buNone/>
              <a:defRPr sz="1100" b="0" i="0" u="none" strike="noStrike" cap="none">
                <a:solidFill>
                  <a:schemeClr val="dk1"/>
                </a:solidFill>
                <a:latin typeface="Arial"/>
                <a:ea typeface="Arial"/>
                <a:cs typeface="Arial"/>
                <a:sym typeface="Arial"/>
              </a:defRPr>
            </a:lvl5pPr>
            <a:lvl6pPr marL="0" lvl="5" indent="0" algn="r">
              <a:spcBef>
                <a:spcPts val="0"/>
              </a:spcBef>
              <a:buNone/>
              <a:defRPr sz="1100" b="0" i="0" u="none" strike="noStrike" cap="none">
                <a:solidFill>
                  <a:schemeClr val="dk1"/>
                </a:solidFill>
                <a:latin typeface="Arial"/>
                <a:ea typeface="Arial"/>
                <a:cs typeface="Arial"/>
                <a:sym typeface="Arial"/>
              </a:defRPr>
            </a:lvl6pPr>
            <a:lvl7pPr marL="0" lvl="6" indent="0" algn="r">
              <a:spcBef>
                <a:spcPts val="0"/>
              </a:spcBef>
              <a:buNone/>
              <a:defRPr sz="1100" b="0" i="0" u="none" strike="noStrike" cap="none">
                <a:solidFill>
                  <a:schemeClr val="dk1"/>
                </a:solidFill>
                <a:latin typeface="Arial"/>
                <a:ea typeface="Arial"/>
                <a:cs typeface="Arial"/>
                <a:sym typeface="Arial"/>
              </a:defRPr>
            </a:lvl7pPr>
            <a:lvl8pPr marL="0" lvl="7" indent="0" algn="r">
              <a:spcBef>
                <a:spcPts val="0"/>
              </a:spcBef>
              <a:buNone/>
              <a:defRPr sz="1100" b="0" i="0" u="none" strike="noStrike" cap="none">
                <a:solidFill>
                  <a:schemeClr val="dk1"/>
                </a:solidFill>
                <a:latin typeface="Arial"/>
                <a:ea typeface="Arial"/>
                <a:cs typeface="Arial"/>
                <a:sym typeface="Arial"/>
              </a:defRPr>
            </a:lvl8pPr>
            <a:lvl9pPr marL="0" lvl="8" indent="0" algn="r">
              <a:spcBef>
                <a:spcPts val="0"/>
              </a:spcBef>
              <a:buNone/>
              <a:defRPr sz="11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64" name="Google Shape;64;p15"/>
          <p:cNvCxnSpPr/>
          <p:nvPr/>
        </p:nvCxnSpPr>
        <p:spPr>
          <a:xfrm>
            <a:off x="0" y="854841"/>
            <a:ext cx="9144000" cy="0"/>
          </a:xfrm>
          <a:prstGeom prst="straightConnector1">
            <a:avLst/>
          </a:prstGeom>
          <a:noFill/>
          <a:ln w="57150" cap="flat" cmpd="sng">
            <a:solidFill>
              <a:srgbClr val="BF4F14"/>
            </a:solidFill>
            <a:prstDash val="solid"/>
            <a:round/>
            <a:headEnd type="none" w="sm" len="sm"/>
            <a:tailEnd type="none" w="sm" len="sm"/>
          </a:ln>
          <a:effectLst>
            <a:outerShdw blurRad="40000" dist="20000" dir="5400000" rotWithShape="0">
              <a:srgbClr val="000000">
                <a:alpha val="38039"/>
              </a:srgbClr>
            </a:outerShdw>
          </a:effectLst>
        </p:spPr>
      </p:cxnSp>
      <p:sp>
        <p:nvSpPr>
          <p:cNvPr id="65" name="Google Shape;65;p15"/>
          <p:cNvSpPr txBox="1"/>
          <p:nvPr/>
        </p:nvSpPr>
        <p:spPr>
          <a:xfrm>
            <a:off x="350196" y="4742234"/>
            <a:ext cx="2794270" cy="230833"/>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100" b="1" i="0" u="none" strike="noStrike" cap="none">
                <a:solidFill>
                  <a:srgbClr val="BF4F14"/>
                </a:solidFill>
                <a:latin typeface="Arial"/>
                <a:ea typeface="Arial"/>
                <a:cs typeface="Arial"/>
                <a:sym typeface="Arial"/>
              </a:rPr>
              <a:t>CuriousIC EDU</a:t>
            </a:r>
            <a:endParaRPr sz="1100"/>
          </a:p>
        </p:txBody>
      </p:sp>
      <p:pic>
        <p:nvPicPr>
          <p:cNvPr id="66" name="Google Shape;66;p15"/>
          <p:cNvPicPr preferRelativeResize="0"/>
          <p:nvPr/>
        </p:nvPicPr>
        <p:blipFill rotWithShape="1">
          <a:blip r:embed="rId2">
            <a:alphaModFix/>
          </a:blip>
          <a:srcRect/>
          <a:stretch/>
        </p:blipFill>
        <p:spPr>
          <a:xfrm>
            <a:off x="8026688" y="337408"/>
            <a:ext cx="977324" cy="97732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Title and Content">
  <p:cSld name="2_Title and Content">
    <p:spTree>
      <p:nvGrpSpPr>
        <p:cNvPr id="1" name="Shape 67"/>
        <p:cNvGrpSpPr/>
        <p:nvPr/>
      </p:nvGrpSpPr>
      <p:grpSpPr>
        <a:xfrm>
          <a:off x="0" y="0"/>
          <a:ext cx="0" cy="0"/>
          <a:chOff x="0" y="0"/>
          <a:chExt cx="0" cy="0"/>
        </a:xfrm>
      </p:grpSpPr>
      <p:sp>
        <p:nvSpPr>
          <p:cNvPr id="68" name="Google Shape;68;p16"/>
          <p:cNvSpPr txBox="1">
            <a:spLocks noGrp="1"/>
          </p:cNvSpPr>
          <p:nvPr>
            <p:ph type="body" idx="1"/>
          </p:nvPr>
        </p:nvSpPr>
        <p:spPr>
          <a:xfrm>
            <a:off x="437746" y="1349714"/>
            <a:ext cx="8251487" cy="3283009"/>
          </a:xfrm>
          <a:prstGeom prst="rect">
            <a:avLst/>
          </a:prstGeom>
          <a:noFill/>
          <a:ln>
            <a:noFill/>
          </a:ln>
        </p:spPr>
        <p:txBody>
          <a:bodyPr spcFirstLastPara="1" wrap="square" lIns="68575" tIns="34275" rIns="68575" bIns="34275" anchor="t" anchorCtr="0">
            <a:normAutofit/>
          </a:bodyPr>
          <a:lstStyle>
            <a:lvl1pPr marL="457200" lvl="0" indent="-323850" algn="l">
              <a:lnSpc>
                <a:spcPct val="90000"/>
              </a:lnSpc>
              <a:spcBef>
                <a:spcPts val="700"/>
              </a:spcBef>
              <a:spcAft>
                <a:spcPts val="0"/>
              </a:spcAft>
              <a:buClr>
                <a:schemeClr val="dk1"/>
              </a:buClr>
              <a:buSzPts val="1500"/>
              <a:buFont typeface="Noto Sans Symbols"/>
              <a:buChar char="▪"/>
              <a:defRPr sz="1400" b="1"/>
            </a:lvl1pPr>
            <a:lvl2pPr marL="914400" lvl="1" indent="-323850" algn="l">
              <a:lnSpc>
                <a:spcPct val="90000"/>
              </a:lnSpc>
              <a:spcBef>
                <a:spcPts val="400"/>
              </a:spcBef>
              <a:spcAft>
                <a:spcPts val="0"/>
              </a:spcAft>
              <a:buClr>
                <a:schemeClr val="dk1"/>
              </a:buClr>
              <a:buSzPts val="1500"/>
              <a:buChar char="•"/>
              <a:defRPr sz="1400" b="1"/>
            </a:lvl2pPr>
            <a:lvl3pPr marL="1371600" lvl="2" indent="-323850" algn="l">
              <a:lnSpc>
                <a:spcPct val="90000"/>
              </a:lnSpc>
              <a:spcBef>
                <a:spcPts val="400"/>
              </a:spcBef>
              <a:spcAft>
                <a:spcPts val="0"/>
              </a:spcAft>
              <a:buClr>
                <a:schemeClr val="dk1"/>
              </a:buClr>
              <a:buSzPts val="1500"/>
              <a:buChar char="•"/>
              <a:defRPr sz="1400" b="1"/>
            </a:lvl3pPr>
            <a:lvl4pPr marL="1828800" lvl="3" indent="-228600" algn="l">
              <a:lnSpc>
                <a:spcPct val="90000"/>
              </a:lnSpc>
              <a:spcBef>
                <a:spcPts val="400"/>
              </a:spcBef>
              <a:spcAft>
                <a:spcPts val="0"/>
              </a:spcAft>
              <a:buClr>
                <a:schemeClr val="dk1"/>
              </a:buClr>
              <a:buSzPts val="1400"/>
              <a:buNone/>
              <a:defRPr/>
            </a:lvl4pPr>
            <a:lvl5pPr marL="2286000" lvl="4" indent="-228600" algn="l">
              <a:lnSpc>
                <a:spcPct val="90000"/>
              </a:lnSpc>
              <a:spcBef>
                <a:spcPts val="400"/>
              </a:spcBef>
              <a:spcAft>
                <a:spcPts val="0"/>
              </a:spcAft>
              <a:buClr>
                <a:schemeClr val="dk1"/>
              </a:buClr>
              <a:buSzPts val="14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9" name="Google Shape;69;p16"/>
          <p:cNvSpPr txBox="1">
            <a:spLocks noGrp="1"/>
          </p:cNvSpPr>
          <p:nvPr>
            <p:ph type="sldNum" idx="12"/>
          </p:nvPr>
        </p:nvSpPr>
        <p:spPr>
          <a:xfrm>
            <a:off x="6631832" y="4759968"/>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1100"/>
              <a:buFont typeface="Arial"/>
              <a:buNone/>
              <a:defRPr sz="1000" b="0" i="0" u="none" strike="noStrike" cap="none" spc="0">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100"/>
              <a:buFont typeface="Arial"/>
              <a:buNone/>
              <a:defRPr sz="1000" b="0" i="0" u="none" strike="noStrike" cap="none" spc="0">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100"/>
              <a:buFont typeface="Arial"/>
              <a:buNone/>
              <a:defRPr sz="1000" b="0" i="0" u="none" strike="noStrike" cap="none" spc="0">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100"/>
              <a:buFont typeface="Arial"/>
              <a:buNone/>
              <a:defRPr sz="1000" b="0" i="0" u="none" strike="noStrike" cap="none" spc="0">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100"/>
              <a:buFont typeface="Arial"/>
              <a:buNone/>
              <a:defRPr sz="1000" b="0" i="0" u="none" strike="noStrike" cap="none" spc="0">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100"/>
              <a:buFont typeface="Arial"/>
              <a:buNone/>
              <a:defRPr sz="1000" b="0" i="0" u="none" strike="noStrike" cap="none" spc="0">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100"/>
              <a:buFont typeface="Arial"/>
              <a:buNone/>
              <a:defRPr sz="1000" b="0" i="0" u="none" strike="noStrike" cap="none" spc="0">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100"/>
              <a:buFont typeface="Arial"/>
              <a:buNone/>
              <a:defRPr sz="1000" b="0" i="0" u="none" strike="noStrike" cap="none" spc="0">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100"/>
              <a:buFont typeface="Arial"/>
              <a:buNone/>
              <a:defRPr sz="1000" b="0" i="0" u="none" strike="noStrike" cap="none" spc="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70" name="Google Shape;70;p16"/>
          <p:cNvSpPr txBox="1"/>
          <p:nvPr/>
        </p:nvSpPr>
        <p:spPr>
          <a:xfrm>
            <a:off x="323303" y="4896890"/>
            <a:ext cx="2794270" cy="219764"/>
          </a:xfrm>
          <a:prstGeom prst="rect">
            <a:avLst/>
          </a:prstGeom>
          <a:noFill/>
          <a:ln>
            <a:noFill/>
          </a:ln>
        </p:spPr>
        <p:txBody>
          <a:bodyPr spcFirstLastPara="1" wrap="square" lIns="65300" tIns="32625" rIns="65300" bIns="326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000" b="1" i="0" u="none" strike="noStrike" cap="none" spc="0">
                <a:solidFill>
                  <a:srgbClr val="BF4F14"/>
                </a:solidFill>
                <a:latin typeface="Arial"/>
                <a:ea typeface="Arial"/>
                <a:cs typeface="Arial"/>
                <a:sym typeface="Arial"/>
              </a:rPr>
              <a:t>CuriousIC EDU</a:t>
            </a:r>
            <a:endParaRPr sz="1000" b="0" i="0" u="none" strike="noStrike" cap="none" spc="0">
              <a:solidFill>
                <a:srgbClr val="000000"/>
              </a:solidFill>
              <a:latin typeface="Arial"/>
              <a:ea typeface="Arial"/>
              <a:cs typeface="Arial"/>
              <a:sym typeface="Arial"/>
            </a:endParaRPr>
          </a:p>
        </p:txBody>
      </p:sp>
      <p:sp>
        <p:nvSpPr>
          <p:cNvPr id="71" name="Google Shape;71;p16"/>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chemeClr val="dk1"/>
              </a:buClr>
              <a:buSzPts val="2400"/>
              <a:buFont typeface="Arial"/>
              <a:buNone/>
              <a:defRPr b="1"/>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cxnSp>
        <p:nvCxnSpPr>
          <p:cNvPr id="72" name="Google Shape;72;p16"/>
          <p:cNvCxnSpPr/>
          <p:nvPr/>
        </p:nvCxnSpPr>
        <p:spPr>
          <a:xfrm>
            <a:off x="0" y="854841"/>
            <a:ext cx="9144000" cy="0"/>
          </a:xfrm>
          <a:prstGeom prst="straightConnector1">
            <a:avLst/>
          </a:prstGeom>
          <a:noFill/>
          <a:ln w="57150" cap="flat" cmpd="sng">
            <a:solidFill>
              <a:srgbClr val="BF4F14"/>
            </a:solidFill>
            <a:prstDash val="solid"/>
            <a:round/>
            <a:headEnd type="none" w="sm" len="sm"/>
            <a:tailEnd type="none" w="sm" len="sm"/>
          </a:ln>
          <a:effectLst>
            <a:outerShdw blurRad="40000" dist="20000" dir="5400000" rotWithShape="0">
              <a:srgbClr val="000000">
                <a:alpha val="38039"/>
              </a:srgbClr>
            </a:outerShdw>
          </a:effectLst>
        </p:spPr>
      </p:cxnSp>
      <p:pic>
        <p:nvPicPr>
          <p:cNvPr id="73" name="Google Shape;73;p16"/>
          <p:cNvPicPr preferRelativeResize="0"/>
          <p:nvPr/>
        </p:nvPicPr>
        <p:blipFill rotWithShape="1">
          <a:blip r:embed="rId2">
            <a:alphaModFix/>
          </a:blip>
          <a:srcRect/>
          <a:stretch/>
        </p:blipFill>
        <p:spPr>
          <a:xfrm>
            <a:off x="8026688" y="337410"/>
            <a:ext cx="977324" cy="977324"/>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74"/>
        <p:cNvGrpSpPr/>
        <p:nvPr/>
      </p:nvGrpSpPr>
      <p:grpSpPr>
        <a:xfrm>
          <a:off x="0" y="0"/>
          <a:ext cx="0" cy="0"/>
          <a:chOff x="0" y="0"/>
          <a:chExt cx="0" cy="0"/>
        </a:xfrm>
      </p:grpSpPr>
      <p:sp>
        <p:nvSpPr>
          <p:cNvPr id="75" name="Google Shape;75;p17"/>
          <p:cNvSpPr txBox="1">
            <a:spLocks noGrp="1"/>
          </p:cNvSpPr>
          <p:nvPr>
            <p:ph type="body" idx="1"/>
          </p:nvPr>
        </p:nvSpPr>
        <p:spPr>
          <a:xfrm>
            <a:off x="437746" y="1349713"/>
            <a:ext cx="8251487" cy="3283009"/>
          </a:xfrm>
          <a:prstGeom prst="rect">
            <a:avLst/>
          </a:prstGeom>
          <a:noFill/>
          <a:ln>
            <a:noFill/>
          </a:ln>
        </p:spPr>
        <p:txBody>
          <a:bodyPr spcFirstLastPara="1" wrap="square" lIns="68575" tIns="34275" rIns="68575" bIns="34275" anchor="t" anchorCtr="0">
            <a:normAutofit/>
          </a:bodyPr>
          <a:lstStyle>
            <a:lvl1pPr marL="457200" lvl="0" indent="-323850" algn="l">
              <a:lnSpc>
                <a:spcPct val="90000"/>
              </a:lnSpc>
              <a:spcBef>
                <a:spcPts val="800"/>
              </a:spcBef>
              <a:spcAft>
                <a:spcPts val="0"/>
              </a:spcAft>
              <a:buClr>
                <a:schemeClr val="dk1"/>
              </a:buClr>
              <a:buSzPts val="1500"/>
              <a:buFont typeface="Noto Sans Symbols"/>
              <a:buChar char="▪"/>
              <a:defRPr sz="1500" b="1"/>
            </a:lvl1pPr>
            <a:lvl2pPr marL="914400" lvl="1" indent="-323850" algn="l">
              <a:lnSpc>
                <a:spcPct val="90000"/>
              </a:lnSpc>
              <a:spcBef>
                <a:spcPts val="400"/>
              </a:spcBef>
              <a:spcAft>
                <a:spcPts val="0"/>
              </a:spcAft>
              <a:buClr>
                <a:schemeClr val="dk1"/>
              </a:buClr>
              <a:buSzPts val="1500"/>
              <a:buChar char="•"/>
              <a:defRPr sz="1500" b="1"/>
            </a:lvl2pPr>
            <a:lvl3pPr marL="1371600" lvl="2" indent="-323850" algn="l">
              <a:lnSpc>
                <a:spcPct val="90000"/>
              </a:lnSpc>
              <a:spcBef>
                <a:spcPts val="400"/>
              </a:spcBef>
              <a:spcAft>
                <a:spcPts val="0"/>
              </a:spcAft>
              <a:buClr>
                <a:schemeClr val="dk1"/>
              </a:buClr>
              <a:buSzPts val="1500"/>
              <a:buChar char="•"/>
              <a:defRPr sz="1500" b="1"/>
            </a:lvl3pPr>
            <a:lvl4pPr marL="1828800" lvl="3" indent="-228600" algn="l">
              <a:lnSpc>
                <a:spcPct val="90000"/>
              </a:lnSpc>
              <a:spcBef>
                <a:spcPts val="400"/>
              </a:spcBef>
              <a:spcAft>
                <a:spcPts val="0"/>
              </a:spcAft>
              <a:buClr>
                <a:schemeClr val="dk1"/>
              </a:buClr>
              <a:buSzPts val="1400"/>
              <a:buNone/>
              <a:defRPr/>
            </a:lvl4pPr>
            <a:lvl5pPr marL="2286000" lvl="4" indent="-228600" algn="l">
              <a:lnSpc>
                <a:spcPct val="90000"/>
              </a:lnSpc>
              <a:spcBef>
                <a:spcPts val="400"/>
              </a:spcBef>
              <a:spcAft>
                <a:spcPts val="0"/>
              </a:spcAft>
              <a:buClr>
                <a:schemeClr val="dk1"/>
              </a:buClr>
              <a:buSzPts val="14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6" name="Google Shape;76;p17"/>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1100">
                <a:solidFill>
                  <a:schemeClr val="dk1"/>
                </a:solidFill>
                <a:latin typeface="Arial"/>
                <a:ea typeface="Arial"/>
                <a:cs typeface="Arial"/>
                <a:sym typeface="Arial"/>
              </a:defRPr>
            </a:lvl1pPr>
            <a:lvl2pPr marL="0" lvl="1" indent="0" algn="r">
              <a:spcBef>
                <a:spcPts val="0"/>
              </a:spcBef>
              <a:buNone/>
              <a:defRPr sz="1100">
                <a:solidFill>
                  <a:schemeClr val="dk1"/>
                </a:solidFill>
                <a:latin typeface="Arial"/>
                <a:ea typeface="Arial"/>
                <a:cs typeface="Arial"/>
                <a:sym typeface="Arial"/>
              </a:defRPr>
            </a:lvl2pPr>
            <a:lvl3pPr marL="0" lvl="2" indent="0" algn="r">
              <a:spcBef>
                <a:spcPts val="0"/>
              </a:spcBef>
              <a:buNone/>
              <a:defRPr sz="1100">
                <a:solidFill>
                  <a:schemeClr val="dk1"/>
                </a:solidFill>
                <a:latin typeface="Arial"/>
                <a:ea typeface="Arial"/>
                <a:cs typeface="Arial"/>
                <a:sym typeface="Arial"/>
              </a:defRPr>
            </a:lvl3pPr>
            <a:lvl4pPr marL="0" lvl="3" indent="0" algn="r">
              <a:spcBef>
                <a:spcPts val="0"/>
              </a:spcBef>
              <a:buNone/>
              <a:defRPr sz="1100">
                <a:solidFill>
                  <a:schemeClr val="dk1"/>
                </a:solidFill>
                <a:latin typeface="Arial"/>
                <a:ea typeface="Arial"/>
                <a:cs typeface="Arial"/>
                <a:sym typeface="Arial"/>
              </a:defRPr>
            </a:lvl4pPr>
            <a:lvl5pPr marL="0" lvl="4" indent="0" algn="r">
              <a:spcBef>
                <a:spcPts val="0"/>
              </a:spcBef>
              <a:buNone/>
              <a:defRPr sz="1100">
                <a:solidFill>
                  <a:schemeClr val="dk1"/>
                </a:solidFill>
                <a:latin typeface="Arial"/>
                <a:ea typeface="Arial"/>
                <a:cs typeface="Arial"/>
                <a:sym typeface="Arial"/>
              </a:defRPr>
            </a:lvl5pPr>
            <a:lvl6pPr marL="0" lvl="5" indent="0" algn="r">
              <a:spcBef>
                <a:spcPts val="0"/>
              </a:spcBef>
              <a:buNone/>
              <a:defRPr sz="1100">
                <a:solidFill>
                  <a:schemeClr val="dk1"/>
                </a:solidFill>
                <a:latin typeface="Arial"/>
                <a:ea typeface="Arial"/>
                <a:cs typeface="Arial"/>
                <a:sym typeface="Arial"/>
              </a:defRPr>
            </a:lvl6pPr>
            <a:lvl7pPr marL="0" lvl="6" indent="0" algn="r">
              <a:spcBef>
                <a:spcPts val="0"/>
              </a:spcBef>
              <a:buNone/>
              <a:defRPr sz="1100">
                <a:solidFill>
                  <a:schemeClr val="dk1"/>
                </a:solidFill>
                <a:latin typeface="Arial"/>
                <a:ea typeface="Arial"/>
                <a:cs typeface="Arial"/>
                <a:sym typeface="Arial"/>
              </a:defRPr>
            </a:lvl7pPr>
            <a:lvl8pPr marL="0" lvl="7" indent="0" algn="r">
              <a:spcBef>
                <a:spcPts val="0"/>
              </a:spcBef>
              <a:buNone/>
              <a:defRPr sz="1100">
                <a:solidFill>
                  <a:schemeClr val="dk1"/>
                </a:solidFill>
                <a:latin typeface="Arial"/>
                <a:ea typeface="Arial"/>
                <a:cs typeface="Arial"/>
                <a:sym typeface="Arial"/>
              </a:defRPr>
            </a:lvl8pPr>
            <a:lvl9pPr marL="0" lvl="8" indent="0" algn="r">
              <a:spcBef>
                <a:spcPts val="0"/>
              </a:spcBef>
              <a:buNone/>
              <a:defRPr sz="11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77" name="Google Shape;77;p17"/>
          <p:cNvSpPr txBox="1"/>
          <p:nvPr/>
        </p:nvSpPr>
        <p:spPr>
          <a:xfrm>
            <a:off x="350196" y="4742234"/>
            <a:ext cx="2794270" cy="230833"/>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100" b="1">
                <a:solidFill>
                  <a:srgbClr val="BF4F14"/>
                </a:solidFill>
                <a:latin typeface="Arial"/>
                <a:ea typeface="Arial"/>
                <a:cs typeface="Arial"/>
                <a:sym typeface="Arial"/>
              </a:rPr>
              <a:t>CuriousIC EDU</a:t>
            </a:r>
            <a:endParaRPr sz="1100"/>
          </a:p>
        </p:txBody>
      </p:sp>
      <p:sp>
        <p:nvSpPr>
          <p:cNvPr id="78" name="Google Shape;78;p17"/>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chemeClr val="dk1"/>
              </a:buClr>
              <a:buSzPts val="2400"/>
              <a:buFont typeface="Arial"/>
              <a:buNone/>
              <a:defRPr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cxnSp>
        <p:nvCxnSpPr>
          <p:cNvPr id="79" name="Google Shape;79;p17"/>
          <p:cNvCxnSpPr/>
          <p:nvPr/>
        </p:nvCxnSpPr>
        <p:spPr>
          <a:xfrm>
            <a:off x="0" y="854841"/>
            <a:ext cx="9144000" cy="0"/>
          </a:xfrm>
          <a:prstGeom prst="straightConnector1">
            <a:avLst/>
          </a:prstGeom>
          <a:noFill/>
          <a:ln w="57150" cap="flat" cmpd="sng">
            <a:solidFill>
              <a:srgbClr val="BF4F14"/>
            </a:solidFill>
            <a:prstDash val="solid"/>
            <a:round/>
            <a:headEnd type="none" w="sm" len="sm"/>
            <a:tailEnd type="none" w="sm" len="sm"/>
          </a:ln>
          <a:effectLst>
            <a:outerShdw blurRad="40000" dist="20000" dir="5400000" rotWithShape="0">
              <a:srgbClr val="000000">
                <a:alpha val="38039"/>
              </a:srgbClr>
            </a:outerShdw>
          </a:effectLst>
        </p:spPr>
      </p:cxnSp>
      <p:pic>
        <p:nvPicPr>
          <p:cNvPr id="80" name="Google Shape;80;p17"/>
          <p:cNvPicPr preferRelativeResize="0"/>
          <p:nvPr/>
        </p:nvPicPr>
        <p:blipFill rotWithShape="1">
          <a:blip r:embed="rId2">
            <a:alphaModFix/>
          </a:blip>
          <a:srcRect/>
          <a:stretch/>
        </p:blipFill>
        <p:spPr>
          <a:xfrm>
            <a:off x="8026688" y="337408"/>
            <a:ext cx="977324" cy="977324"/>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3" name="Google Shape;83;p18"/>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757575"/>
              </a:buClr>
              <a:buSzPts val="1800"/>
              <a:buNone/>
              <a:defRPr sz="1800">
                <a:solidFill>
                  <a:srgbClr val="757575"/>
                </a:solidFill>
              </a:defRPr>
            </a:lvl1pPr>
            <a:lvl2pPr marL="914400" lvl="1" indent="-228600" algn="l">
              <a:lnSpc>
                <a:spcPct val="90000"/>
              </a:lnSpc>
              <a:spcBef>
                <a:spcPts val="400"/>
              </a:spcBef>
              <a:spcAft>
                <a:spcPts val="0"/>
              </a:spcAft>
              <a:buClr>
                <a:srgbClr val="757575"/>
              </a:buClr>
              <a:buSzPts val="1500"/>
              <a:buNone/>
              <a:defRPr sz="1500">
                <a:solidFill>
                  <a:srgbClr val="757575"/>
                </a:solidFill>
              </a:defRPr>
            </a:lvl2pPr>
            <a:lvl3pPr marL="1371600" lvl="2" indent="-228600" algn="l">
              <a:lnSpc>
                <a:spcPct val="90000"/>
              </a:lnSpc>
              <a:spcBef>
                <a:spcPts val="400"/>
              </a:spcBef>
              <a:spcAft>
                <a:spcPts val="0"/>
              </a:spcAft>
              <a:buClr>
                <a:srgbClr val="757575"/>
              </a:buClr>
              <a:buSzPts val="1400"/>
              <a:buNone/>
              <a:defRPr sz="1400">
                <a:solidFill>
                  <a:srgbClr val="757575"/>
                </a:solidFill>
              </a:defRPr>
            </a:lvl3pPr>
            <a:lvl4pPr marL="1828800" lvl="3" indent="-228600" algn="l">
              <a:lnSpc>
                <a:spcPct val="90000"/>
              </a:lnSpc>
              <a:spcBef>
                <a:spcPts val="400"/>
              </a:spcBef>
              <a:spcAft>
                <a:spcPts val="0"/>
              </a:spcAft>
              <a:buClr>
                <a:srgbClr val="757575"/>
              </a:buClr>
              <a:buSzPts val="1200"/>
              <a:buNone/>
              <a:defRPr sz="1200">
                <a:solidFill>
                  <a:srgbClr val="757575"/>
                </a:solidFill>
              </a:defRPr>
            </a:lvl4pPr>
            <a:lvl5pPr marL="2286000" lvl="4" indent="-228600" algn="l">
              <a:lnSpc>
                <a:spcPct val="90000"/>
              </a:lnSpc>
              <a:spcBef>
                <a:spcPts val="400"/>
              </a:spcBef>
              <a:spcAft>
                <a:spcPts val="0"/>
              </a:spcAft>
              <a:buClr>
                <a:srgbClr val="757575"/>
              </a:buClr>
              <a:buSzPts val="1200"/>
              <a:buNone/>
              <a:defRPr sz="1200">
                <a:solidFill>
                  <a:srgbClr val="757575"/>
                </a:solidFill>
              </a:defRPr>
            </a:lvl5pPr>
            <a:lvl6pPr marL="2743200" lvl="5" indent="-228600" algn="l">
              <a:lnSpc>
                <a:spcPct val="90000"/>
              </a:lnSpc>
              <a:spcBef>
                <a:spcPts val="400"/>
              </a:spcBef>
              <a:spcAft>
                <a:spcPts val="0"/>
              </a:spcAft>
              <a:buClr>
                <a:srgbClr val="757575"/>
              </a:buClr>
              <a:buSzPts val="1200"/>
              <a:buNone/>
              <a:defRPr sz="1200">
                <a:solidFill>
                  <a:srgbClr val="757575"/>
                </a:solidFill>
              </a:defRPr>
            </a:lvl6pPr>
            <a:lvl7pPr marL="3200400" lvl="6" indent="-228600" algn="l">
              <a:lnSpc>
                <a:spcPct val="90000"/>
              </a:lnSpc>
              <a:spcBef>
                <a:spcPts val="400"/>
              </a:spcBef>
              <a:spcAft>
                <a:spcPts val="0"/>
              </a:spcAft>
              <a:buClr>
                <a:srgbClr val="757575"/>
              </a:buClr>
              <a:buSzPts val="1200"/>
              <a:buNone/>
              <a:defRPr sz="1200">
                <a:solidFill>
                  <a:srgbClr val="757575"/>
                </a:solidFill>
              </a:defRPr>
            </a:lvl7pPr>
            <a:lvl8pPr marL="3657600" lvl="7" indent="-228600" algn="l">
              <a:lnSpc>
                <a:spcPct val="90000"/>
              </a:lnSpc>
              <a:spcBef>
                <a:spcPts val="400"/>
              </a:spcBef>
              <a:spcAft>
                <a:spcPts val="0"/>
              </a:spcAft>
              <a:buClr>
                <a:srgbClr val="757575"/>
              </a:buClr>
              <a:buSzPts val="1200"/>
              <a:buNone/>
              <a:defRPr sz="1200">
                <a:solidFill>
                  <a:srgbClr val="757575"/>
                </a:solidFill>
              </a:defRPr>
            </a:lvl8pPr>
            <a:lvl9pPr marL="4114800" lvl="8" indent="-228600" algn="l">
              <a:lnSpc>
                <a:spcPct val="90000"/>
              </a:lnSpc>
              <a:spcBef>
                <a:spcPts val="400"/>
              </a:spcBef>
              <a:spcAft>
                <a:spcPts val="0"/>
              </a:spcAft>
              <a:buClr>
                <a:srgbClr val="757575"/>
              </a:buClr>
              <a:buSzPts val="1200"/>
              <a:buNone/>
              <a:defRPr sz="1200">
                <a:solidFill>
                  <a:srgbClr val="757575"/>
                </a:solidFill>
              </a:defRPr>
            </a:lvl9pPr>
          </a:lstStyle>
          <a:p>
            <a:endParaRPr/>
          </a:p>
        </p:txBody>
      </p:sp>
      <p:sp>
        <p:nvSpPr>
          <p:cNvPr id="84" name="Google Shape;84;p1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t" anchorCtr="0">
            <a:noAutofit/>
          </a:bodyPr>
          <a:lstStyle>
            <a:lvl1pPr marR="0" lvl="0" algn="l" rtl="0">
              <a:spcBef>
                <a:spcPts val="0"/>
              </a:spcBef>
              <a:spcAft>
                <a:spcPts val="0"/>
              </a:spcAft>
              <a:buSzPts val="1100"/>
              <a:buNone/>
              <a:defRPr sz="1400">
                <a:solidFill>
                  <a:schemeClr val="dk1"/>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85" name="Google Shape;85;p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t" anchorCtr="0">
            <a:noAutofit/>
          </a:bodyPr>
          <a:lstStyle>
            <a:lvl1pPr marR="0" lvl="0" algn="l" rtl="0">
              <a:spcBef>
                <a:spcPts val="0"/>
              </a:spcBef>
              <a:spcAft>
                <a:spcPts val="0"/>
              </a:spcAft>
              <a:buSzPts val="1100"/>
              <a:buNone/>
              <a:defRPr sz="1400">
                <a:solidFill>
                  <a:schemeClr val="dk1"/>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86" name="Google Shape;86;p1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7"/>
        <p:cNvGrpSpPr/>
        <p:nvPr/>
      </p:nvGrpSpPr>
      <p:grpSpPr>
        <a:xfrm>
          <a:off x="0" y="0"/>
          <a:ext cx="0" cy="0"/>
          <a:chOff x="0" y="0"/>
          <a:chExt cx="0" cy="0"/>
        </a:xfrm>
      </p:grpSpPr>
      <p:sp>
        <p:nvSpPr>
          <p:cNvPr id="88" name="Google Shape;88;p19"/>
          <p:cNvSpPr txBox="1">
            <a:spLocks noGrp="1"/>
          </p:cNvSpPr>
          <p:nvPr>
            <p:ph type="title"/>
          </p:nvPr>
        </p:nvSpPr>
        <p:spPr>
          <a:xfrm>
            <a:off x="628650" y="192602"/>
            <a:ext cx="7886700" cy="636351"/>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9" name="Google Shape;89;p19"/>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0" name="Google Shape;90;p19"/>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1" name="Google Shape;91;p1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t" anchorCtr="0">
            <a:noAutofit/>
          </a:bodyPr>
          <a:lstStyle>
            <a:lvl1pPr marR="0" lvl="0" algn="l" rtl="0">
              <a:spcBef>
                <a:spcPts val="0"/>
              </a:spcBef>
              <a:spcAft>
                <a:spcPts val="0"/>
              </a:spcAft>
              <a:buSzPts val="1100"/>
              <a:buNone/>
              <a:defRPr sz="1400">
                <a:solidFill>
                  <a:schemeClr val="dk1"/>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2" name="Google Shape;92;p1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t" anchorCtr="0">
            <a:noAutofit/>
          </a:bodyPr>
          <a:lstStyle>
            <a:lvl1pPr marR="0" lvl="0" algn="l" rtl="0">
              <a:spcBef>
                <a:spcPts val="0"/>
              </a:spcBef>
              <a:spcAft>
                <a:spcPts val="0"/>
              </a:spcAft>
              <a:buSzPts val="1100"/>
              <a:buNone/>
              <a:defRPr sz="1400">
                <a:solidFill>
                  <a:schemeClr val="dk1"/>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3" name="Google Shape;93;p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6" name="Google Shape;96;p20"/>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7" name="Google Shape;97;p20"/>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8" name="Google Shape;98;p20"/>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9" name="Google Shape;99;p20"/>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00" name="Google Shape;100;p2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t" anchorCtr="0">
            <a:noAutofit/>
          </a:bodyPr>
          <a:lstStyle>
            <a:lvl1pPr marR="0" lvl="0" algn="l" rtl="0">
              <a:spcBef>
                <a:spcPts val="0"/>
              </a:spcBef>
              <a:spcAft>
                <a:spcPts val="0"/>
              </a:spcAft>
              <a:buSzPts val="1100"/>
              <a:buNone/>
              <a:defRPr sz="1400">
                <a:solidFill>
                  <a:schemeClr val="dk1"/>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1" name="Google Shape;101;p2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t" anchorCtr="0">
            <a:noAutofit/>
          </a:bodyPr>
          <a:lstStyle>
            <a:lvl1pPr marR="0" lvl="0" algn="l" rtl="0">
              <a:spcBef>
                <a:spcPts val="0"/>
              </a:spcBef>
              <a:spcAft>
                <a:spcPts val="0"/>
              </a:spcAft>
              <a:buSzPts val="1100"/>
              <a:buNone/>
              <a:defRPr sz="1400">
                <a:solidFill>
                  <a:schemeClr val="dk1"/>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2" name="Google Shape;102;p2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3"/>
        <p:cNvGrpSpPr/>
        <p:nvPr/>
      </p:nvGrpSpPr>
      <p:grpSpPr>
        <a:xfrm>
          <a:off x="0" y="0"/>
          <a:ext cx="0" cy="0"/>
          <a:chOff x="0" y="0"/>
          <a:chExt cx="0" cy="0"/>
        </a:xfrm>
      </p:grpSpPr>
      <p:sp>
        <p:nvSpPr>
          <p:cNvPr id="104" name="Google Shape;104;p21"/>
          <p:cNvSpPr txBox="1">
            <a:spLocks noGrp="1"/>
          </p:cNvSpPr>
          <p:nvPr>
            <p:ph type="title"/>
          </p:nvPr>
        </p:nvSpPr>
        <p:spPr>
          <a:xfrm>
            <a:off x="628650" y="192602"/>
            <a:ext cx="7886700" cy="636351"/>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5" name="Google Shape;105;p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t" anchorCtr="0">
            <a:noAutofit/>
          </a:bodyPr>
          <a:lstStyle>
            <a:lvl1pPr marR="0" lvl="0" algn="l" rtl="0">
              <a:spcBef>
                <a:spcPts val="0"/>
              </a:spcBef>
              <a:spcAft>
                <a:spcPts val="0"/>
              </a:spcAft>
              <a:buSzPts val="1100"/>
              <a:buNone/>
              <a:defRPr sz="1400">
                <a:solidFill>
                  <a:schemeClr val="dk1"/>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6" name="Google Shape;106;p2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t" anchorCtr="0">
            <a:noAutofit/>
          </a:bodyPr>
          <a:lstStyle>
            <a:lvl1pPr marR="0" lvl="0" algn="l" rtl="0">
              <a:spcBef>
                <a:spcPts val="0"/>
              </a:spcBef>
              <a:spcAft>
                <a:spcPts val="0"/>
              </a:spcAft>
              <a:buSzPts val="1100"/>
              <a:buNone/>
              <a:defRPr sz="1400">
                <a:solidFill>
                  <a:schemeClr val="dk1"/>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7" name="Google Shape;107;p2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8"/>
        <p:cNvGrpSpPr/>
        <p:nvPr/>
      </p:nvGrpSpPr>
      <p:grpSpPr>
        <a:xfrm>
          <a:off x="0" y="0"/>
          <a:ext cx="0" cy="0"/>
          <a:chOff x="0" y="0"/>
          <a:chExt cx="0" cy="0"/>
        </a:xfrm>
      </p:grpSpPr>
      <p:sp>
        <p:nvSpPr>
          <p:cNvPr id="109" name="Google Shape;109;p2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t" anchorCtr="0">
            <a:noAutofit/>
          </a:bodyPr>
          <a:lstStyle>
            <a:lvl1pPr marR="0" lvl="0" algn="l" rtl="0">
              <a:spcBef>
                <a:spcPts val="0"/>
              </a:spcBef>
              <a:spcAft>
                <a:spcPts val="0"/>
              </a:spcAft>
              <a:buSzPts val="1100"/>
              <a:buNone/>
              <a:defRPr sz="1400">
                <a:solidFill>
                  <a:schemeClr val="dk1"/>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10" name="Google Shape;110;p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t" anchorCtr="0">
            <a:noAutofit/>
          </a:bodyPr>
          <a:lstStyle>
            <a:lvl1pPr marR="0" lvl="0" algn="l" rtl="0">
              <a:spcBef>
                <a:spcPts val="0"/>
              </a:spcBef>
              <a:spcAft>
                <a:spcPts val="0"/>
              </a:spcAft>
              <a:buSzPts val="1100"/>
              <a:buNone/>
              <a:defRPr sz="1400">
                <a:solidFill>
                  <a:schemeClr val="dk1"/>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11" name="Google Shape;111;p2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12"/>
        <p:cNvGrpSpPr/>
        <p:nvPr/>
      </p:nvGrpSpPr>
      <p:grpSpPr>
        <a:xfrm>
          <a:off x="0" y="0"/>
          <a:ext cx="0" cy="0"/>
          <a:chOff x="0" y="0"/>
          <a:chExt cx="0" cy="0"/>
        </a:xfrm>
      </p:grpSpPr>
      <p:sp>
        <p:nvSpPr>
          <p:cNvPr id="113" name="Google Shape;113;p2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4" name="Google Shape;114;p23"/>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15" name="Google Shape;115;p23"/>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6" name="Google Shape;116;p2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t" anchorCtr="0">
            <a:noAutofit/>
          </a:bodyPr>
          <a:lstStyle>
            <a:lvl1pPr marR="0" lvl="0" algn="l" rtl="0">
              <a:spcBef>
                <a:spcPts val="0"/>
              </a:spcBef>
              <a:spcAft>
                <a:spcPts val="0"/>
              </a:spcAft>
              <a:buSzPts val="1100"/>
              <a:buNone/>
              <a:defRPr sz="1400">
                <a:solidFill>
                  <a:schemeClr val="dk1"/>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17" name="Google Shape;117;p2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t" anchorCtr="0">
            <a:noAutofit/>
          </a:bodyPr>
          <a:lstStyle>
            <a:lvl1pPr marR="0" lvl="0" algn="l" rtl="0">
              <a:spcBef>
                <a:spcPts val="0"/>
              </a:spcBef>
              <a:spcAft>
                <a:spcPts val="0"/>
              </a:spcAft>
              <a:buSzPts val="1100"/>
              <a:buNone/>
              <a:defRPr sz="1400">
                <a:solidFill>
                  <a:schemeClr val="dk1"/>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18" name="Google Shape;118;p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1" name="Google Shape;121;p24"/>
          <p:cNvSpPr>
            <a:spLocks noGrp="1"/>
          </p:cNvSpPr>
          <p:nvPr>
            <p:ph type="pic" idx="2"/>
          </p:nvPr>
        </p:nvSpPr>
        <p:spPr>
          <a:xfrm>
            <a:off x="3887391" y="740569"/>
            <a:ext cx="4629150" cy="3655219"/>
          </a:xfrm>
          <a:prstGeom prst="rect">
            <a:avLst/>
          </a:prstGeom>
          <a:noFill/>
          <a:ln>
            <a:noFill/>
          </a:ln>
        </p:spPr>
      </p:sp>
      <p:sp>
        <p:nvSpPr>
          <p:cNvPr id="122" name="Google Shape;122;p24"/>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23" name="Google Shape;123;p2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t" anchorCtr="0">
            <a:noAutofit/>
          </a:bodyPr>
          <a:lstStyle>
            <a:lvl1pPr marR="0" lvl="0" algn="l" rtl="0">
              <a:spcBef>
                <a:spcPts val="0"/>
              </a:spcBef>
              <a:spcAft>
                <a:spcPts val="0"/>
              </a:spcAft>
              <a:buSzPts val="1100"/>
              <a:buNone/>
              <a:defRPr sz="1400">
                <a:solidFill>
                  <a:schemeClr val="dk1"/>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24" name="Google Shape;124;p2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t" anchorCtr="0">
            <a:noAutofit/>
          </a:bodyPr>
          <a:lstStyle>
            <a:lvl1pPr marR="0" lvl="0" algn="l" rtl="0">
              <a:spcBef>
                <a:spcPts val="0"/>
              </a:spcBef>
              <a:spcAft>
                <a:spcPts val="0"/>
              </a:spcAft>
              <a:buSzPts val="1100"/>
              <a:buNone/>
              <a:defRPr sz="1400">
                <a:solidFill>
                  <a:schemeClr val="dk1"/>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25" name="Google Shape;125;p2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6"/>
        <p:cNvGrpSpPr/>
        <p:nvPr/>
      </p:nvGrpSpPr>
      <p:grpSpPr>
        <a:xfrm>
          <a:off x="0" y="0"/>
          <a:ext cx="0" cy="0"/>
          <a:chOff x="0" y="0"/>
          <a:chExt cx="0" cy="0"/>
        </a:xfrm>
      </p:grpSpPr>
      <p:sp>
        <p:nvSpPr>
          <p:cNvPr id="127" name="Google Shape;127;p25"/>
          <p:cNvSpPr txBox="1">
            <a:spLocks noGrp="1"/>
          </p:cNvSpPr>
          <p:nvPr>
            <p:ph type="title"/>
          </p:nvPr>
        </p:nvSpPr>
        <p:spPr>
          <a:xfrm>
            <a:off x="628650" y="192602"/>
            <a:ext cx="7886700" cy="636351"/>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8" name="Google Shape;128;p25"/>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9" name="Google Shape;129;p2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t" anchorCtr="0">
            <a:noAutofit/>
          </a:bodyPr>
          <a:lstStyle>
            <a:lvl1pPr marR="0" lvl="0" algn="l" rtl="0">
              <a:spcBef>
                <a:spcPts val="0"/>
              </a:spcBef>
              <a:spcAft>
                <a:spcPts val="0"/>
              </a:spcAft>
              <a:buSzPts val="1100"/>
              <a:buNone/>
              <a:defRPr sz="1400">
                <a:solidFill>
                  <a:schemeClr val="dk1"/>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30" name="Google Shape;130;p2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t" anchorCtr="0">
            <a:noAutofit/>
          </a:bodyPr>
          <a:lstStyle>
            <a:lvl1pPr marR="0" lvl="0" algn="l" rtl="0">
              <a:spcBef>
                <a:spcPts val="0"/>
              </a:spcBef>
              <a:spcAft>
                <a:spcPts val="0"/>
              </a:spcAft>
              <a:buSzPts val="1100"/>
              <a:buNone/>
              <a:defRPr sz="1400">
                <a:solidFill>
                  <a:schemeClr val="dk1"/>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31" name="Google Shape;131;p2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2"/>
        <p:cNvGrpSpPr/>
        <p:nvPr/>
      </p:nvGrpSpPr>
      <p:grpSpPr>
        <a:xfrm>
          <a:off x="0" y="0"/>
          <a:ext cx="0" cy="0"/>
          <a:chOff x="0" y="0"/>
          <a:chExt cx="0" cy="0"/>
        </a:xfrm>
      </p:grpSpPr>
      <p:sp>
        <p:nvSpPr>
          <p:cNvPr id="133" name="Google Shape;133;p26"/>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4" name="Google Shape;134;p2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5" name="Google Shape;135;p2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t" anchorCtr="0">
            <a:noAutofit/>
          </a:bodyPr>
          <a:lstStyle>
            <a:lvl1pPr marR="0" lvl="0" algn="l" rtl="0">
              <a:spcBef>
                <a:spcPts val="0"/>
              </a:spcBef>
              <a:spcAft>
                <a:spcPts val="0"/>
              </a:spcAft>
              <a:buSzPts val="1100"/>
              <a:buNone/>
              <a:defRPr sz="1400">
                <a:solidFill>
                  <a:schemeClr val="dk1"/>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36" name="Google Shape;136;p2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t" anchorCtr="0">
            <a:noAutofit/>
          </a:bodyPr>
          <a:lstStyle>
            <a:lvl1pPr marR="0" lvl="0" algn="l" rtl="0">
              <a:spcBef>
                <a:spcPts val="0"/>
              </a:spcBef>
              <a:spcAft>
                <a:spcPts val="0"/>
              </a:spcAft>
              <a:buSzPts val="1100"/>
              <a:buNone/>
              <a:defRPr sz="1400">
                <a:solidFill>
                  <a:schemeClr val="dk1"/>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37" name="Google Shape;137;p2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192602"/>
            <a:ext cx="7886700" cy="636351"/>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1100" b="0" i="0" u="none" strike="noStrike" cap="none">
                <a:solidFill>
                  <a:schemeClr val="dk1"/>
                </a:solidFill>
                <a:latin typeface="Arial"/>
                <a:ea typeface="Arial"/>
                <a:cs typeface="Arial"/>
                <a:sym typeface="Arial"/>
              </a:defRPr>
            </a:lvl1pPr>
            <a:lvl2pPr marL="0" marR="0" lvl="1" indent="0" algn="r" rtl="0">
              <a:spcBef>
                <a:spcPts val="0"/>
              </a:spcBef>
              <a:buNone/>
              <a:defRPr sz="1100" b="0" i="0" u="none" strike="noStrike" cap="none">
                <a:solidFill>
                  <a:schemeClr val="dk1"/>
                </a:solidFill>
                <a:latin typeface="Arial"/>
                <a:ea typeface="Arial"/>
                <a:cs typeface="Arial"/>
                <a:sym typeface="Arial"/>
              </a:defRPr>
            </a:lvl2pPr>
            <a:lvl3pPr marL="0" marR="0" lvl="2" indent="0" algn="r" rtl="0">
              <a:spcBef>
                <a:spcPts val="0"/>
              </a:spcBef>
              <a:buNone/>
              <a:defRPr sz="1100" b="0" i="0" u="none" strike="noStrike" cap="none">
                <a:solidFill>
                  <a:schemeClr val="dk1"/>
                </a:solidFill>
                <a:latin typeface="Arial"/>
                <a:ea typeface="Arial"/>
                <a:cs typeface="Arial"/>
                <a:sym typeface="Arial"/>
              </a:defRPr>
            </a:lvl3pPr>
            <a:lvl4pPr marL="0" marR="0" lvl="3" indent="0" algn="r" rtl="0">
              <a:spcBef>
                <a:spcPts val="0"/>
              </a:spcBef>
              <a:buNone/>
              <a:defRPr sz="1100" b="0" i="0" u="none" strike="noStrike" cap="none">
                <a:solidFill>
                  <a:schemeClr val="dk1"/>
                </a:solidFill>
                <a:latin typeface="Arial"/>
                <a:ea typeface="Arial"/>
                <a:cs typeface="Arial"/>
                <a:sym typeface="Arial"/>
              </a:defRPr>
            </a:lvl4pPr>
            <a:lvl5pPr marL="0" marR="0" lvl="4" indent="0" algn="r" rtl="0">
              <a:spcBef>
                <a:spcPts val="0"/>
              </a:spcBef>
              <a:buNone/>
              <a:defRPr sz="1100" b="0" i="0" u="none" strike="noStrike" cap="none">
                <a:solidFill>
                  <a:schemeClr val="dk1"/>
                </a:solidFill>
                <a:latin typeface="Arial"/>
                <a:ea typeface="Arial"/>
                <a:cs typeface="Arial"/>
                <a:sym typeface="Arial"/>
              </a:defRPr>
            </a:lvl5pPr>
            <a:lvl6pPr marL="0" marR="0" lvl="5" indent="0" algn="r" rtl="0">
              <a:spcBef>
                <a:spcPts val="0"/>
              </a:spcBef>
              <a:buNone/>
              <a:defRPr sz="1100" b="0" i="0" u="none" strike="noStrike" cap="none">
                <a:solidFill>
                  <a:schemeClr val="dk1"/>
                </a:solidFill>
                <a:latin typeface="Arial"/>
                <a:ea typeface="Arial"/>
                <a:cs typeface="Arial"/>
                <a:sym typeface="Arial"/>
              </a:defRPr>
            </a:lvl6pPr>
            <a:lvl7pPr marL="0" marR="0" lvl="6" indent="0" algn="r" rtl="0">
              <a:spcBef>
                <a:spcPts val="0"/>
              </a:spcBef>
              <a:buNone/>
              <a:defRPr sz="1100" b="0" i="0" u="none" strike="noStrike" cap="none">
                <a:solidFill>
                  <a:schemeClr val="dk1"/>
                </a:solidFill>
                <a:latin typeface="Arial"/>
                <a:ea typeface="Arial"/>
                <a:cs typeface="Arial"/>
                <a:sym typeface="Arial"/>
              </a:defRPr>
            </a:lvl7pPr>
            <a:lvl8pPr marL="0" marR="0" lvl="7" indent="0" algn="r" rtl="0">
              <a:spcBef>
                <a:spcPts val="0"/>
              </a:spcBef>
              <a:buNone/>
              <a:defRPr sz="1100" b="0" i="0" u="none" strike="noStrike" cap="none">
                <a:solidFill>
                  <a:schemeClr val="dk1"/>
                </a:solidFill>
                <a:latin typeface="Arial"/>
                <a:ea typeface="Arial"/>
                <a:cs typeface="Arial"/>
                <a:sym typeface="Arial"/>
              </a:defRPr>
            </a:lvl8pPr>
            <a:lvl9pPr marL="0" marR="0" lvl="8" indent="0" algn="r" rtl="0">
              <a:spcBef>
                <a:spcPts val="0"/>
              </a:spcBef>
              <a:buNone/>
              <a:defRPr sz="11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14.xml"/><Relationship Id="rId4" Type="http://schemas.openxmlformats.org/officeDocument/2006/relationships/image" Target="../media/image41.jpg"/></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3.xml"/><Relationship Id="rId1" Type="http://schemas.openxmlformats.org/officeDocument/2006/relationships/slideLayout" Target="../slideLayouts/slideLayout14.xml"/><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5.xml"/><Relationship Id="rId1" Type="http://schemas.openxmlformats.org/officeDocument/2006/relationships/slideLayout" Target="../slideLayouts/slideLayout14.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6.xml"/><Relationship Id="rId1" Type="http://schemas.openxmlformats.org/officeDocument/2006/relationships/slideLayout" Target="../slideLayouts/slideLayout14.xml"/><Relationship Id="rId4" Type="http://schemas.openxmlformats.org/officeDocument/2006/relationships/image" Target="../media/image50.png"/></Relationships>
</file>

<file path=ppt/slides/_rels/slide3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7.xml"/><Relationship Id="rId1" Type="http://schemas.openxmlformats.org/officeDocument/2006/relationships/slideLayout" Target="../slideLayouts/slideLayout14.xml"/><Relationship Id="rId4" Type="http://schemas.openxmlformats.org/officeDocument/2006/relationships/image" Target="../media/image5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56.png"/></Relationships>
</file>

<file path=ppt/slides/_rels/slide3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4.xml"/><Relationship Id="rId1" Type="http://schemas.openxmlformats.org/officeDocument/2006/relationships/slideLayout" Target="../slideLayouts/slideLayout13.xml"/><Relationship Id="rId4" Type="http://schemas.openxmlformats.org/officeDocument/2006/relationships/image" Target="../media/image60.png"/></Relationships>
</file>

<file path=ppt/slides/_rels/slide3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5.xml"/><Relationship Id="rId1" Type="http://schemas.openxmlformats.org/officeDocument/2006/relationships/slideLayout" Target="../slideLayouts/slideLayout13.xml"/><Relationship Id="rId4" Type="http://schemas.openxmlformats.org/officeDocument/2006/relationships/image" Target="../media/image62.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7"/>
          <p:cNvSpPr txBox="1">
            <a:spLocks noGrp="1"/>
          </p:cNvSpPr>
          <p:nvPr>
            <p:ph type="ctrTitle"/>
          </p:nvPr>
        </p:nvSpPr>
        <p:spPr>
          <a:xfrm>
            <a:off x="351565" y="1200150"/>
            <a:ext cx="7324242" cy="1790700"/>
          </a:xfrm>
          <a:prstGeom prst="rect">
            <a:avLst/>
          </a:prstGeom>
          <a:noFill/>
          <a:ln>
            <a:noFill/>
          </a:ln>
        </p:spPr>
        <p:txBody>
          <a:bodyPr spcFirstLastPara="1" wrap="square" lIns="68575" tIns="34275" rIns="68575" bIns="34275" anchor="b" anchorCtr="0">
            <a:normAutofit/>
          </a:bodyPr>
          <a:lstStyle/>
          <a:p>
            <a:pPr marL="0" lvl="0" indent="0" algn="ctr" rtl="0">
              <a:lnSpc>
                <a:spcPct val="90000"/>
              </a:lnSpc>
              <a:spcBef>
                <a:spcPts val="0"/>
              </a:spcBef>
              <a:spcAft>
                <a:spcPts val="0"/>
              </a:spcAft>
              <a:buClr>
                <a:schemeClr val="dk1"/>
              </a:buClr>
              <a:buSzPts val="3300"/>
              <a:buFont typeface="Arial"/>
              <a:buNone/>
            </a:pPr>
            <a:r>
              <a:rPr lang="en"/>
              <a:t>Battery Management System - AFE</a:t>
            </a:r>
            <a:endParaRPr/>
          </a:p>
          <a:p>
            <a:pPr marL="0" lvl="0" indent="0" algn="ctr" rtl="0">
              <a:lnSpc>
                <a:spcPct val="90000"/>
              </a:lnSpc>
              <a:spcBef>
                <a:spcPts val="0"/>
              </a:spcBef>
              <a:spcAft>
                <a:spcPts val="0"/>
              </a:spcAft>
              <a:buClr>
                <a:schemeClr val="dk1"/>
              </a:buClr>
              <a:buSzPts val="3300"/>
              <a:buFont typeface="Arial"/>
              <a:buNone/>
            </a:pPr>
            <a:endParaRPr/>
          </a:p>
          <a:p>
            <a:pPr marL="0" lvl="0" indent="0" algn="ctr" rtl="0">
              <a:lnSpc>
                <a:spcPct val="90000"/>
              </a:lnSpc>
              <a:spcBef>
                <a:spcPts val="0"/>
              </a:spcBef>
              <a:spcAft>
                <a:spcPts val="0"/>
              </a:spcAft>
              <a:buClr>
                <a:schemeClr val="dk1"/>
              </a:buClr>
              <a:buSzPts val="3300"/>
              <a:buFont typeface="Arial"/>
              <a:buNone/>
            </a:pPr>
            <a:r>
              <a:rPr lang="en" sz="2000" b="0"/>
              <a:t>Design Review</a:t>
            </a:r>
            <a:endParaRPr sz="2000" b="0"/>
          </a:p>
        </p:txBody>
      </p:sp>
      <p:sp>
        <p:nvSpPr>
          <p:cNvPr id="143" name="Google Shape;143;p27"/>
          <p:cNvSpPr txBox="1">
            <a:spLocks noGrp="1"/>
          </p:cNvSpPr>
          <p:nvPr>
            <p:ph type="subTitle" idx="1"/>
          </p:nvPr>
        </p:nvSpPr>
        <p:spPr>
          <a:xfrm>
            <a:off x="351565" y="3161160"/>
            <a:ext cx="7324242" cy="1241822"/>
          </a:xfrm>
          <a:prstGeom prst="rect">
            <a:avLst/>
          </a:prstGeom>
          <a:noFill/>
          <a:ln>
            <a:noFill/>
          </a:ln>
        </p:spPr>
        <p:txBody>
          <a:bodyPr spcFirstLastPara="1" wrap="square" lIns="68575" tIns="34275" rIns="68575" bIns="34275" anchor="t" anchorCtr="0">
            <a:normAutofit/>
          </a:bodyPr>
          <a:lstStyle/>
          <a:p>
            <a:pPr marL="0" lvl="0" indent="0" algn="ctr" rtl="0">
              <a:lnSpc>
                <a:spcPct val="90000"/>
              </a:lnSpc>
              <a:spcBef>
                <a:spcPts val="0"/>
              </a:spcBef>
              <a:spcAft>
                <a:spcPts val="0"/>
              </a:spcAft>
              <a:buClr>
                <a:schemeClr val="dk1"/>
              </a:buClr>
              <a:buSzPts val="1800"/>
              <a:buNone/>
            </a:pPr>
            <a:r>
              <a:rPr lang="en" b="1"/>
              <a:t>Team CuriousIC</a:t>
            </a:r>
            <a:endParaRPr b="1"/>
          </a:p>
        </p:txBody>
      </p:sp>
      <p:sp>
        <p:nvSpPr>
          <p:cNvPr id="144" name="Google Shape;144;p27"/>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8"/>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t>System Architecture </a:t>
            </a:r>
            <a:endParaRPr/>
          </a:p>
        </p:txBody>
      </p:sp>
      <p:sp>
        <p:nvSpPr>
          <p:cNvPr id="150" name="Google Shape;150;p28"/>
          <p:cNvSpPr txBox="1">
            <a:spLocks noGrp="1"/>
          </p:cNvSpPr>
          <p:nvPr>
            <p:ph type="body" idx="1"/>
          </p:nvPr>
        </p:nvSpPr>
        <p:spPr>
          <a:xfrm>
            <a:off x="437746" y="3815674"/>
            <a:ext cx="8251487" cy="817048"/>
          </a:xfrm>
          <a:prstGeom prst="rect">
            <a:avLst/>
          </a:prstGeom>
          <a:noFill/>
          <a:ln w="28575" cap="flat" cmpd="sng">
            <a:solidFill>
              <a:schemeClr val="dk1"/>
            </a:solidFill>
            <a:prstDash val="solid"/>
            <a:round/>
            <a:headEnd type="none" w="sm" len="sm"/>
            <a:tailEnd type="none" w="sm" len="sm"/>
          </a:ln>
        </p:spPr>
        <p:txBody>
          <a:bodyPr spcFirstLastPara="1" wrap="square" lIns="68575" tIns="34275" rIns="68575" bIns="34275" anchor="t" anchorCtr="0">
            <a:normAutofit fontScale="92500"/>
          </a:bodyPr>
          <a:lstStyle/>
          <a:p>
            <a:pPr marL="254000" lvl="0" indent="-253206" algn="l" rtl="0">
              <a:lnSpc>
                <a:spcPct val="90000"/>
              </a:lnSpc>
              <a:spcBef>
                <a:spcPts val="0"/>
              </a:spcBef>
              <a:spcAft>
                <a:spcPts val="0"/>
              </a:spcAft>
              <a:buClr>
                <a:schemeClr val="dk1"/>
              </a:buClr>
              <a:buSzPct val="100000"/>
              <a:buChar char="▪"/>
            </a:pPr>
            <a:r>
              <a:rPr lang="en"/>
              <a:t>Capacitively-Coupled Instrumentation Amplifier (CCIA) { Chopper, DC Servo Loop (DCSL) }</a:t>
            </a:r>
            <a:endParaRPr/>
          </a:p>
          <a:p>
            <a:pPr marL="254000" lvl="0" indent="-253206" algn="l" rtl="0">
              <a:lnSpc>
                <a:spcPct val="90000"/>
              </a:lnSpc>
              <a:spcBef>
                <a:spcPts val="800"/>
              </a:spcBef>
              <a:spcAft>
                <a:spcPts val="0"/>
              </a:spcAft>
              <a:buClr>
                <a:schemeClr val="dk1"/>
              </a:buClr>
              <a:buSzPct val="100000"/>
              <a:buChar char="▪"/>
            </a:pPr>
            <a:r>
              <a:rPr lang="en"/>
              <a:t>Incremental Delta-Sigma (DSM) Analog-to-Digital Converter (ADC) { DSM Loop, Clock Generation}</a:t>
            </a:r>
            <a:endParaRPr/>
          </a:p>
          <a:p>
            <a:pPr marL="254000" lvl="0" indent="-165100" algn="l" rtl="0">
              <a:lnSpc>
                <a:spcPct val="90000"/>
              </a:lnSpc>
              <a:spcBef>
                <a:spcPts val="800"/>
              </a:spcBef>
              <a:spcAft>
                <a:spcPts val="0"/>
              </a:spcAft>
              <a:buClr>
                <a:schemeClr val="dk1"/>
              </a:buClr>
              <a:buSzPct val="100000"/>
              <a:buFont typeface="Noto Sans Symbols"/>
              <a:buNone/>
            </a:pPr>
            <a:endParaRPr/>
          </a:p>
        </p:txBody>
      </p:sp>
      <p:sp>
        <p:nvSpPr>
          <p:cNvPr id="151" name="Google Shape;151;p28"/>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a:t>
            </a:fld>
            <a:endParaRPr/>
          </a:p>
        </p:txBody>
      </p:sp>
      <p:pic>
        <p:nvPicPr>
          <p:cNvPr id="152" name="Google Shape;152;p28"/>
          <p:cNvPicPr preferRelativeResize="0"/>
          <p:nvPr/>
        </p:nvPicPr>
        <p:blipFill rotWithShape="1">
          <a:blip r:embed="rId3">
            <a:alphaModFix/>
          </a:blip>
          <a:srcRect/>
          <a:stretch/>
        </p:blipFill>
        <p:spPr>
          <a:xfrm>
            <a:off x="2361009" y="1095035"/>
            <a:ext cx="4593431" cy="195738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9"/>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t>Top-Level System Schematic</a:t>
            </a:r>
            <a:endParaRPr/>
          </a:p>
        </p:txBody>
      </p:sp>
      <p:sp>
        <p:nvSpPr>
          <p:cNvPr id="158" name="Google Shape;158;p29"/>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3</a:t>
            </a:fld>
            <a:endParaRPr/>
          </a:p>
        </p:txBody>
      </p:sp>
      <p:pic>
        <p:nvPicPr>
          <p:cNvPr id="159" name="Google Shape;159;p29"/>
          <p:cNvPicPr preferRelativeResize="0"/>
          <p:nvPr/>
        </p:nvPicPr>
        <p:blipFill rotWithShape="1">
          <a:blip r:embed="rId3">
            <a:alphaModFix/>
          </a:blip>
          <a:srcRect/>
          <a:stretch/>
        </p:blipFill>
        <p:spPr>
          <a:xfrm>
            <a:off x="2073983" y="1018240"/>
            <a:ext cx="4996033" cy="393265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0"/>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t>ADC Specifications</a:t>
            </a:r>
            <a:endParaRPr/>
          </a:p>
        </p:txBody>
      </p:sp>
      <p:sp>
        <p:nvSpPr>
          <p:cNvPr id="165" name="Google Shape;165;p30"/>
          <p:cNvSpPr txBox="1">
            <a:spLocks noGrp="1"/>
          </p:cNvSpPr>
          <p:nvPr>
            <p:ph type="body" idx="1"/>
          </p:nvPr>
        </p:nvSpPr>
        <p:spPr>
          <a:xfrm>
            <a:off x="437746" y="3815674"/>
            <a:ext cx="8251487" cy="817048"/>
          </a:xfrm>
          <a:prstGeom prst="rect">
            <a:avLst/>
          </a:prstGeom>
          <a:noFill/>
          <a:ln w="2857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254000" lvl="0" indent="-247650" algn="l" rtl="0">
              <a:lnSpc>
                <a:spcPct val="90000"/>
              </a:lnSpc>
              <a:spcBef>
                <a:spcPts val="0"/>
              </a:spcBef>
              <a:spcAft>
                <a:spcPts val="0"/>
              </a:spcAft>
              <a:buClr>
                <a:schemeClr val="dk1"/>
              </a:buClr>
              <a:buSzPts val="1500"/>
              <a:buChar char="▪"/>
            </a:pPr>
            <a:r>
              <a:rPr lang="en"/>
              <a:t>Cascade of Integrators with Feed Forward (CIFF) architecture </a:t>
            </a:r>
            <a:endParaRPr/>
          </a:p>
          <a:p>
            <a:pPr marL="254000" lvl="0" indent="-247650" algn="l" rtl="0">
              <a:lnSpc>
                <a:spcPct val="90000"/>
              </a:lnSpc>
              <a:spcBef>
                <a:spcPts val="800"/>
              </a:spcBef>
              <a:spcAft>
                <a:spcPts val="0"/>
              </a:spcAft>
              <a:buClr>
                <a:schemeClr val="dk1"/>
              </a:buClr>
              <a:buSzPts val="1500"/>
              <a:buChar char="▪"/>
            </a:pPr>
            <a:r>
              <a:rPr lang="en"/>
              <a:t>State reset after each conversion after each conversion enables sequential multi-cell measurement in BMS AFE</a:t>
            </a:r>
            <a:endParaRPr/>
          </a:p>
          <a:p>
            <a:pPr marL="0" lvl="0" indent="0" algn="l" rtl="0">
              <a:lnSpc>
                <a:spcPct val="90000"/>
              </a:lnSpc>
              <a:spcBef>
                <a:spcPts val="800"/>
              </a:spcBef>
              <a:spcAft>
                <a:spcPts val="0"/>
              </a:spcAft>
              <a:buClr>
                <a:schemeClr val="dk1"/>
              </a:buClr>
              <a:buSzPts val="1500"/>
              <a:buNone/>
            </a:pPr>
            <a:endParaRPr/>
          </a:p>
        </p:txBody>
      </p:sp>
      <p:sp>
        <p:nvSpPr>
          <p:cNvPr id="166" name="Google Shape;166;p30"/>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4</a:t>
            </a:fld>
            <a:endParaRPr/>
          </a:p>
        </p:txBody>
      </p:sp>
      <p:pic>
        <p:nvPicPr>
          <p:cNvPr id="167" name="Google Shape;167;p30"/>
          <p:cNvPicPr preferRelativeResize="0"/>
          <p:nvPr/>
        </p:nvPicPr>
        <p:blipFill rotWithShape="1">
          <a:blip r:embed="rId3">
            <a:alphaModFix/>
          </a:blip>
          <a:srcRect/>
          <a:stretch/>
        </p:blipFill>
        <p:spPr>
          <a:xfrm>
            <a:off x="437746" y="1261946"/>
            <a:ext cx="4998073" cy="2224204"/>
          </a:xfrm>
          <a:prstGeom prst="rect">
            <a:avLst/>
          </a:prstGeom>
          <a:noFill/>
          <a:ln>
            <a:noFill/>
          </a:ln>
        </p:spPr>
      </p:pic>
      <p:graphicFrame>
        <p:nvGraphicFramePr>
          <p:cNvPr id="168" name="Google Shape;168;p30"/>
          <p:cNvGraphicFramePr/>
          <p:nvPr/>
        </p:nvGraphicFramePr>
        <p:xfrm>
          <a:off x="5747248" y="1553536"/>
          <a:ext cx="3000000" cy="3000000"/>
        </p:xfrm>
        <a:graphic>
          <a:graphicData uri="http://schemas.openxmlformats.org/drawingml/2006/table">
            <a:tbl>
              <a:tblPr>
                <a:noFill/>
                <a:tableStyleId>{5F26710F-4515-495F-8A12-3B80EE6E18C5}</a:tableStyleId>
              </a:tblPr>
              <a:tblGrid>
                <a:gridCol w="1674075">
                  <a:extLst>
                    <a:ext uri="{9D8B030D-6E8A-4147-A177-3AD203B41FA5}">
                      <a16:colId xmlns:a16="http://schemas.microsoft.com/office/drawing/2014/main" val="20000"/>
                    </a:ext>
                  </a:extLst>
                </a:gridCol>
                <a:gridCol w="1004200">
                  <a:extLst>
                    <a:ext uri="{9D8B030D-6E8A-4147-A177-3AD203B41FA5}">
                      <a16:colId xmlns:a16="http://schemas.microsoft.com/office/drawing/2014/main" val="20001"/>
                    </a:ext>
                  </a:extLst>
                </a:gridCol>
              </a:tblGrid>
              <a:tr h="264250">
                <a:tc>
                  <a:txBody>
                    <a:bodyPr/>
                    <a:lstStyle/>
                    <a:p>
                      <a:pPr marL="0" marR="0" lvl="0" indent="0" algn="ctr" rtl="0">
                        <a:spcBef>
                          <a:spcPts val="0"/>
                        </a:spcBef>
                        <a:spcAft>
                          <a:spcPts val="0"/>
                        </a:spcAft>
                        <a:buClr>
                          <a:schemeClr val="dk1"/>
                        </a:buClr>
                        <a:buSzPts val="1200"/>
                        <a:buFont typeface="Arial"/>
                        <a:buNone/>
                      </a:pPr>
                      <a:r>
                        <a:rPr lang="en" sz="1200" b="1" u="none" strike="noStrike" cap="none"/>
                        <a:t>Parameter</a:t>
                      </a:r>
                      <a:endParaRPr sz="1800" b="1" u="none" strike="noStrike" cap="none"/>
                    </a:p>
                  </a:txBody>
                  <a:tcPr marL="57150" marR="57150" marT="28575" marB="2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200"/>
                        <a:buFont typeface="Arial"/>
                        <a:buNone/>
                      </a:pPr>
                      <a:r>
                        <a:rPr lang="en" sz="1200" b="1" u="none" strike="noStrike" cap="none"/>
                        <a:t>Details</a:t>
                      </a:r>
                      <a:endParaRPr sz="1800" b="1" u="none" strike="noStrike" cap="none"/>
                    </a:p>
                  </a:txBody>
                  <a:tcPr marL="57150" marR="57150" marT="28575" marB="2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64250">
                <a:tc>
                  <a:txBody>
                    <a:bodyPr/>
                    <a:lstStyle/>
                    <a:p>
                      <a:pPr marL="0" marR="0" lvl="0" indent="0" algn="ctr" rtl="0">
                        <a:spcBef>
                          <a:spcPts val="0"/>
                        </a:spcBef>
                        <a:spcAft>
                          <a:spcPts val="0"/>
                        </a:spcAft>
                        <a:buClr>
                          <a:schemeClr val="dk1"/>
                        </a:buClr>
                        <a:buSzPts val="1200"/>
                        <a:buFont typeface="Arial"/>
                        <a:buNone/>
                      </a:pPr>
                      <a:r>
                        <a:rPr lang="en" sz="1200" u="none" strike="noStrike" cap="none"/>
                        <a:t>Order</a:t>
                      </a:r>
                      <a:endParaRPr sz="1800" u="none" strike="noStrike" cap="none"/>
                    </a:p>
                  </a:txBody>
                  <a:tcPr marL="57150" marR="57150" marT="28575" marB="2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200"/>
                        <a:buFont typeface="Arial"/>
                        <a:buNone/>
                      </a:pPr>
                      <a:r>
                        <a:rPr lang="en" sz="1200" u="none" strike="noStrike" cap="none"/>
                        <a:t>3rd</a:t>
                      </a:r>
                      <a:endParaRPr sz="1800" u="none" strike="noStrike" cap="none"/>
                    </a:p>
                  </a:txBody>
                  <a:tcPr marL="57150" marR="57150" marT="28575" marB="2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64250">
                <a:tc>
                  <a:txBody>
                    <a:bodyPr/>
                    <a:lstStyle/>
                    <a:p>
                      <a:pPr marL="0" marR="0" lvl="0" indent="0" algn="ctr" rtl="0">
                        <a:spcBef>
                          <a:spcPts val="0"/>
                        </a:spcBef>
                        <a:spcAft>
                          <a:spcPts val="0"/>
                        </a:spcAft>
                        <a:buClr>
                          <a:schemeClr val="dk1"/>
                        </a:buClr>
                        <a:buSzPts val="1200"/>
                        <a:buFont typeface="Arial"/>
                        <a:buNone/>
                      </a:pPr>
                      <a:r>
                        <a:rPr lang="en" sz="1200" u="none" strike="noStrike" cap="none"/>
                        <a:t>ENOB</a:t>
                      </a:r>
                      <a:endParaRPr sz="1800" u="none" strike="noStrike" cap="none"/>
                    </a:p>
                  </a:txBody>
                  <a:tcPr marL="57150" marR="57150" marT="28575" marB="2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200"/>
                        <a:buFont typeface="Arial"/>
                        <a:buNone/>
                      </a:pPr>
                      <a:r>
                        <a:rPr lang="en" sz="1200" u="none" strike="noStrike" cap="none"/>
                        <a:t>&gt; 16 bits</a:t>
                      </a:r>
                      <a:endParaRPr sz="1800" u="none" strike="noStrike" cap="none"/>
                    </a:p>
                  </a:txBody>
                  <a:tcPr marL="57150" marR="57150" marT="28575" marB="2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50800">
                <a:tc>
                  <a:txBody>
                    <a:bodyPr/>
                    <a:lstStyle/>
                    <a:p>
                      <a:pPr marL="0" marR="0" lvl="0" indent="0" algn="ctr" rtl="0">
                        <a:spcBef>
                          <a:spcPts val="0"/>
                        </a:spcBef>
                        <a:spcAft>
                          <a:spcPts val="0"/>
                        </a:spcAft>
                        <a:buClr>
                          <a:schemeClr val="dk1"/>
                        </a:buClr>
                        <a:buSzPts val="1200"/>
                        <a:buFont typeface="Arial"/>
                        <a:buNone/>
                      </a:pPr>
                      <a:r>
                        <a:rPr lang="en" sz="1200" u="none" strike="noStrike" cap="none"/>
                        <a:t>Sampling Frequency</a:t>
                      </a:r>
                      <a:endParaRPr sz="1800" u="none" strike="noStrike" cap="none"/>
                    </a:p>
                  </a:txBody>
                  <a:tcPr marL="57150" marR="57150" marT="28575" marB="2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200"/>
                        <a:buFont typeface="Arial"/>
                        <a:buNone/>
                      </a:pPr>
                      <a:r>
                        <a:rPr lang="en" sz="1200" u="none" strike="noStrike" cap="none"/>
                        <a:t>4MHz</a:t>
                      </a:r>
                      <a:endParaRPr sz="1800" u="none" strike="noStrike" cap="none"/>
                    </a:p>
                  </a:txBody>
                  <a:tcPr marL="57150" marR="57150" marT="28575" marB="2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64250">
                <a:tc>
                  <a:txBody>
                    <a:bodyPr/>
                    <a:lstStyle/>
                    <a:p>
                      <a:pPr marL="0" marR="0" lvl="0" indent="0" algn="ctr" rtl="0">
                        <a:spcBef>
                          <a:spcPts val="0"/>
                        </a:spcBef>
                        <a:spcAft>
                          <a:spcPts val="0"/>
                        </a:spcAft>
                        <a:buClr>
                          <a:schemeClr val="dk1"/>
                        </a:buClr>
                        <a:buSzPts val="1200"/>
                        <a:buFont typeface="Arial"/>
                        <a:buNone/>
                      </a:pPr>
                      <a:r>
                        <a:rPr lang="en" sz="1200" u="none" strike="noStrike" cap="none"/>
                        <a:t>Signal Bandwidth</a:t>
                      </a:r>
                      <a:endParaRPr sz="1800" u="none" strike="noStrike" cap="none"/>
                    </a:p>
                  </a:txBody>
                  <a:tcPr marL="57150" marR="57150" marT="28575" marB="2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200"/>
                        <a:buFont typeface="Arial"/>
                        <a:buNone/>
                      </a:pPr>
                      <a:r>
                        <a:rPr lang="en" sz="1200" u="none" strike="noStrike" cap="none"/>
                        <a:t>3.9kHz</a:t>
                      </a:r>
                      <a:endParaRPr sz="1800" u="none" strike="noStrike" cap="none"/>
                    </a:p>
                  </a:txBody>
                  <a:tcPr marL="57150" marR="57150" marT="28575" marB="2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64250">
                <a:tc>
                  <a:txBody>
                    <a:bodyPr/>
                    <a:lstStyle/>
                    <a:p>
                      <a:pPr marL="0" marR="0" lvl="0" indent="0" algn="ctr" rtl="0">
                        <a:spcBef>
                          <a:spcPts val="0"/>
                        </a:spcBef>
                        <a:spcAft>
                          <a:spcPts val="0"/>
                        </a:spcAft>
                        <a:buClr>
                          <a:schemeClr val="dk1"/>
                        </a:buClr>
                        <a:buSzPts val="1200"/>
                        <a:buFont typeface="Arial"/>
                        <a:buNone/>
                      </a:pPr>
                      <a:r>
                        <a:rPr lang="en" sz="1200" u="none" strike="noStrike" cap="none"/>
                        <a:t>OSR</a:t>
                      </a:r>
                      <a:endParaRPr sz="1800" u="none" strike="noStrike" cap="none"/>
                    </a:p>
                  </a:txBody>
                  <a:tcPr marL="57150" marR="57150" marT="28575" marB="2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200"/>
                        <a:buFont typeface="Arial"/>
                        <a:buNone/>
                      </a:pPr>
                      <a:r>
                        <a:rPr lang="en" sz="1200" u="none" strike="noStrike" cap="none"/>
                        <a:t>512 </a:t>
                      </a:r>
                      <a:endParaRPr sz="1800" u="none" strike="noStrike" cap="none"/>
                    </a:p>
                  </a:txBody>
                  <a:tcPr marL="57150" marR="57150" marT="28575" marB="2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264250">
                <a:tc>
                  <a:txBody>
                    <a:bodyPr/>
                    <a:lstStyle/>
                    <a:p>
                      <a:pPr marL="0" marR="0" lvl="0" indent="0" algn="ctr" rtl="0">
                        <a:spcBef>
                          <a:spcPts val="0"/>
                        </a:spcBef>
                        <a:spcAft>
                          <a:spcPts val="0"/>
                        </a:spcAft>
                        <a:buClr>
                          <a:schemeClr val="dk1"/>
                        </a:buClr>
                        <a:buSzPts val="1200"/>
                        <a:buFont typeface="Arial"/>
                        <a:buNone/>
                      </a:pPr>
                      <a:r>
                        <a:rPr lang="en" sz="1200" u="none" strike="noStrike" cap="none"/>
                        <a:t>Quantizer</a:t>
                      </a:r>
                      <a:endParaRPr sz="1800" u="none" strike="noStrike" cap="none"/>
                    </a:p>
                  </a:txBody>
                  <a:tcPr marL="57150" marR="57150" marT="28575" marB="2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200"/>
                        <a:buFont typeface="Arial"/>
                        <a:buNone/>
                      </a:pPr>
                      <a:r>
                        <a:rPr lang="en" sz="1200" u="none" strike="noStrike" cap="none"/>
                        <a:t>1-bit</a:t>
                      </a:r>
                      <a:endParaRPr sz="1800" u="none" strike="noStrike" cap="none"/>
                    </a:p>
                  </a:txBody>
                  <a:tcPr marL="57150" marR="57150" marT="28575" marB="2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1"/>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rgbClr val="000000"/>
              </a:buClr>
              <a:buSzPts val="1100"/>
              <a:buFont typeface="Arial"/>
              <a:buNone/>
            </a:pPr>
            <a:r>
              <a:rPr lang="en">
                <a:solidFill>
                  <a:schemeClr val="dk1"/>
                </a:solidFill>
              </a:rPr>
              <a:t>ADC Schematics</a:t>
            </a:r>
            <a:endParaRPr/>
          </a:p>
        </p:txBody>
      </p:sp>
      <p:sp>
        <p:nvSpPr>
          <p:cNvPr id="174" name="Google Shape;174;p31"/>
          <p:cNvSpPr txBox="1">
            <a:spLocks noGrp="1"/>
          </p:cNvSpPr>
          <p:nvPr>
            <p:ph type="body" idx="1"/>
          </p:nvPr>
        </p:nvSpPr>
        <p:spPr>
          <a:xfrm>
            <a:off x="437746" y="3815674"/>
            <a:ext cx="8251487" cy="817048"/>
          </a:xfrm>
          <a:prstGeom prst="rect">
            <a:avLst/>
          </a:prstGeom>
          <a:noFill/>
          <a:ln w="28575" cap="flat" cmpd="sng">
            <a:solidFill>
              <a:schemeClr val="dk1"/>
            </a:solidFill>
            <a:prstDash val="solid"/>
            <a:round/>
            <a:headEnd type="none" w="sm" len="sm"/>
            <a:tailEnd type="none" w="sm" len="sm"/>
          </a:ln>
        </p:spPr>
        <p:txBody>
          <a:bodyPr spcFirstLastPara="1" wrap="square" lIns="68575" tIns="34275" rIns="68575" bIns="34275" anchor="t" anchorCtr="0">
            <a:normAutofit lnSpcReduction="10000"/>
          </a:bodyPr>
          <a:lstStyle/>
          <a:p>
            <a:pPr marL="254000" lvl="0" indent="-254000" algn="l" rtl="0">
              <a:lnSpc>
                <a:spcPct val="115000"/>
              </a:lnSpc>
              <a:spcBef>
                <a:spcPts val="0"/>
              </a:spcBef>
              <a:spcAft>
                <a:spcPts val="0"/>
              </a:spcAft>
              <a:buClr>
                <a:schemeClr val="dk1"/>
              </a:buClr>
              <a:buSzPts val="1200"/>
              <a:buChar char="▪"/>
            </a:pPr>
            <a:r>
              <a:rPr lang="en">
                <a:solidFill>
                  <a:schemeClr val="dk1"/>
                </a:solidFill>
              </a:rPr>
              <a:t>The 3rd-order Delta-Sigma ADC employs a cascaded three-stage loop filter.</a:t>
            </a:r>
            <a:endParaRPr/>
          </a:p>
          <a:p>
            <a:pPr marL="254000" lvl="0" indent="-254000" algn="l" rtl="0">
              <a:lnSpc>
                <a:spcPct val="115000"/>
              </a:lnSpc>
              <a:spcBef>
                <a:spcPts val="0"/>
              </a:spcBef>
              <a:spcAft>
                <a:spcPts val="0"/>
              </a:spcAft>
              <a:buClr>
                <a:schemeClr val="dk1"/>
              </a:buClr>
              <a:buSzPts val="1200"/>
              <a:buChar char="▪"/>
            </a:pPr>
            <a:r>
              <a:rPr lang="en">
                <a:solidFill>
                  <a:schemeClr val="dk1"/>
                </a:solidFill>
              </a:rPr>
              <a:t>A switched-capacitor (SC) analog adder combines the outputs of the integrators.</a:t>
            </a:r>
            <a:endParaRPr/>
          </a:p>
          <a:p>
            <a:pPr marL="254000" lvl="0" indent="-254000" algn="l" rtl="0">
              <a:lnSpc>
                <a:spcPct val="115000"/>
              </a:lnSpc>
              <a:spcBef>
                <a:spcPts val="0"/>
              </a:spcBef>
              <a:spcAft>
                <a:spcPts val="0"/>
              </a:spcAft>
              <a:buClr>
                <a:schemeClr val="dk1"/>
              </a:buClr>
              <a:buSzPts val="1200"/>
              <a:buChar char="▪"/>
            </a:pPr>
            <a:r>
              <a:rPr lang="en">
                <a:solidFill>
                  <a:schemeClr val="dk1"/>
                </a:solidFill>
              </a:rPr>
              <a:t>A 1-bit quantizer converts the summed analog signal into a digital output.</a:t>
            </a:r>
            <a:endParaRPr/>
          </a:p>
          <a:p>
            <a:pPr marL="254000" lvl="0" indent="-152400" algn="l" rtl="0">
              <a:lnSpc>
                <a:spcPct val="90000"/>
              </a:lnSpc>
              <a:spcBef>
                <a:spcPts val="800"/>
              </a:spcBef>
              <a:spcAft>
                <a:spcPts val="0"/>
              </a:spcAft>
              <a:buClr>
                <a:schemeClr val="dk1"/>
              </a:buClr>
              <a:buSzPts val="1500"/>
              <a:buFont typeface="Noto Sans Symbols"/>
              <a:buNone/>
            </a:pPr>
            <a:endParaRPr/>
          </a:p>
        </p:txBody>
      </p:sp>
      <p:sp>
        <p:nvSpPr>
          <p:cNvPr id="175" name="Google Shape;175;p31"/>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5</a:t>
            </a:fld>
            <a:endParaRPr/>
          </a:p>
        </p:txBody>
      </p:sp>
      <p:pic>
        <p:nvPicPr>
          <p:cNvPr id="176" name="Google Shape;176;p31"/>
          <p:cNvPicPr preferRelativeResize="0"/>
          <p:nvPr/>
        </p:nvPicPr>
        <p:blipFill rotWithShape="1">
          <a:blip r:embed="rId3">
            <a:alphaModFix/>
          </a:blip>
          <a:srcRect t="4493" r="11520" b="3051"/>
          <a:stretch/>
        </p:blipFill>
        <p:spPr>
          <a:xfrm>
            <a:off x="263653" y="1097477"/>
            <a:ext cx="4596889" cy="2590952"/>
          </a:xfrm>
          <a:prstGeom prst="rect">
            <a:avLst/>
          </a:prstGeom>
          <a:noFill/>
          <a:ln>
            <a:noFill/>
          </a:ln>
        </p:spPr>
      </p:pic>
      <p:pic>
        <p:nvPicPr>
          <p:cNvPr id="177" name="Google Shape;177;p31"/>
          <p:cNvPicPr preferRelativeResize="0"/>
          <p:nvPr/>
        </p:nvPicPr>
        <p:blipFill rotWithShape="1">
          <a:blip r:embed="rId4">
            <a:alphaModFix/>
          </a:blip>
          <a:srcRect t="5717" b="8820"/>
          <a:stretch/>
        </p:blipFill>
        <p:spPr>
          <a:xfrm>
            <a:off x="4836436" y="1387670"/>
            <a:ext cx="4025587" cy="1974542"/>
          </a:xfrm>
          <a:prstGeom prst="rect">
            <a:avLst/>
          </a:prstGeom>
          <a:noFill/>
          <a:ln>
            <a:noFill/>
          </a:ln>
        </p:spPr>
      </p:pic>
      <p:sp>
        <p:nvSpPr>
          <p:cNvPr id="178" name="Google Shape;178;p31"/>
          <p:cNvSpPr/>
          <p:nvPr/>
        </p:nvSpPr>
        <p:spPr>
          <a:xfrm>
            <a:off x="4818112" y="1269266"/>
            <a:ext cx="4126785" cy="2247371"/>
          </a:xfrm>
          <a:prstGeom prst="rect">
            <a:avLst/>
          </a:prstGeom>
          <a:noFill/>
          <a:ln w="19050" cap="flat" cmpd="sng">
            <a:solidFill>
              <a:srgbClr val="FF0000"/>
            </a:solidFill>
            <a:prstDash val="dash"/>
            <a:round/>
            <a:headEnd type="none" w="sm" len="sm"/>
            <a:tailEnd type="none" w="sm" len="sm"/>
          </a:ln>
        </p:spPr>
        <p:txBody>
          <a:bodyPr spcFirstLastPara="1" wrap="square" lIns="68575" tIns="68575" rIns="68575" bIns="68575" anchor="ctr" anchorCtr="0">
            <a:noAutofit/>
          </a:bodyPr>
          <a:lstStyle/>
          <a:p>
            <a:pPr marL="0" marR="0" lvl="0" indent="0" algn="ctr"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79" name="Google Shape;179;p31"/>
          <p:cNvSpPr/>
          <p:nvPr/>
        </p:nvSpPr>
        <p:spPr>
          <a:xfrm>
            <a:off x="907498" y="1952466"/>
            <a:ext cx="1194711" cy="1065137"/>
          </a:xfrm>
          <a:prstGeom prst="rect">
            <a:avLst/>
          </a:prstGeom>
          <a:noFill/>
          <a:ln w="19050" cap="flat" cmpd="sng">
            <a:solidFill>
              <a:srgbClr val="FF0000"/>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cxnSp>
        <p:nvCxnSpPr>
          <p:cNvPr id="180" name="Google Shape;180;p31"/>
          <p:cNvCxnSpPr/>
          <p:nvPr/>
        </p:nvCxnSpPr>
        <p:spPr>
          <a:xfrm rot="10800000" flipH="1">
            <a:off x="2112671" y="1269266"/>
            <a:ext cx="2723765" cy="683200"/>
          </a:xfrm>
          <a:prstGeom prst="straightConnector1">
            <a:avLst/>
          </a:prstGeom>
          <a:noFill/>
          <a:ln w="19050" cap="flat" cmpd="sng">
            <a:solidFill>
              <a:srgbClr val="FF0000"/>
            </a:solidFill>
            <a:prstDash val="dash"/>
            <a:round/>
            <a:headEnd type="none" w="sm" len="sm"/>
            <a:tailEnd type="none" w="sm" len="sm"/>
          </a:ln>
        </p:spPr>
      </p:cxnSp>
      <p:cxnSp>
        <p:nvCxnSpPr>
          <p:cNvPr id="181" name="Google Shape;181;p31"/>
          <p:cNvCxnSpPr/>
          <p:nvPr/>
        </p:nvCxnSpPr>
        <p:spPr>
          <a:xfrm>
            <a:off x="2112671" y="3044367"/>
            <a:ext cx="2775224" cy="467363"/>
          </a:xfrm>
          <a:prstGeom prst="straightConnector1">
            <a:avLst/>
          </a:prstGeom>
          <a:noFill/>
          <a:ln w="19050" cap="flat" cmpd="sng">
            <a:solidFill>
              <a:srgbClr val="FF0000"/>
            </a:solidFill>
            <a:prstDash val="dash"/>
            <a:round/>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2"/>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solidFill>
                  <a:schemeClr val="dk1"/>
                </a:solidFill>
              </a:rPr>
              <a:t>ADC Schematics</a:t>
            </a:r>
            <a:endParaRPr/>
          </a:p>
        </p:txBody>
      </p:sp>
      <p:sp>
        <p:nvSpPr>
          <p:cNvPr id="187" name="Google Shape;187;p32"/>
          <p:cNvSpPr txBox="1">
            <a:spLocks noGrp="1"/>
          </p:cNvSpPr>
          <p:nvPr>
            <p:ph type="body" idx="1"/>
          </p:nvPr>
        </p:nvSpPr>
        <p:spPr>
          <a:xfrm>
            <a:off x="437746" y="4324693"/>
            <a:ext cx="8251487" cy="308029"/>
          </a:xfrm>
          <a:prstGeom prst="rect">
            <a:avLst/>
          </a:prstGeom>
          <a:noFill/>
          <a:ln w="2857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254000" lvl="0" indent="-254000" algn="l" rtl="0">
              <a:lnSpc>
                <a:spcPct val="90000"/>
              </a:lnSpc>
              <a:spcBef>
                <a:spcPts val="0"/>
              </a:spcBef>
              <a:spcAft>
                <a:spcPts val="0"/>
              </a:spcAft>
              <a:buClr>
                <a:srgbClr val="000000"/>
              </a:buClr>
              <a:buSzPts val="1400"/>
              <a:buChar char="▪"/>
            </a:pPr>
            <a:r>
              <a:rPr lang="en"/>
              <a:t>Schematics of </a:t>
            </a:r>
            <a:r>
              <a:rPr lang="en">
                <a:solidFill>
                  <a:schemeClr val="dk1"/>
                </a:solidFill>
              </a:rPr>
              <a:t>Integrators used in the DSM Loop Filter</a:t>
            </a:r>
            <a:endParaRPr>
              <a:solidFill>
                <a:srgbClr val="000000"/>
              </a:solidFill>
            </a:endParaRPr>
          </a:p>
          <a:p>
            <a:pPr marL="254000" lvl="0" indent="-152400" algn="l" rtl="0">
              <a:lnSpc>
                <a:spcPct val="90000"/>
              </a:lnSpc>
              <a:spcBef>
                <a:spcPts val="800"/>
              </a:spcBef>
              <a:spcAft>
                <a:spcPts val="0"/>
              </a:spcAft>
              <a:buClr>
                <a:schemeClr val="dk1"/>
              </a:buClr>
              <a:buSzPts val="1500"/>
              <a:buFont typeface="Noto Sans Symbols"/>
              <a:buNone/>
            </a:pPr>
            <a:endParaRPr/>
          </a:p>
        </p:txBody>
      </p:sp>
      <p:sp>
        <p:nvSpPr>
          <p:cNvPr id="188" name="Google Shape;188;p32"/>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6</a:t>
            </a:fld>
            <a:endParaRPr/>
          </a:p>
        </p:txBody>
      </p:sp>
      <p:sp>
        <p:nvSpPr>
          <p:cNvPr id="189" name="Google Shape;189;p32"/>
          <p:cNvSpPr/>
          <p:nvPr/>
        </p:nvSpPr>
        <p:spPr>
          <a:xfrm>
            <a:off x="4604173" y="2576696"/>
            <a:ext cx="3911177" cy="1612628"/>
          </a:xfrm>
          <a:prstGeom prst="rect">
            <a:avLst/>
          </a:prstGeom>
          <a:noFill/>
          <a:ln w="19050" cap="flat" cmpd="sng">
            <a:solidFill>
              <a:srgbClr val="20124D"/>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90" name="Google Shape;190;p32"/>
          <p:cNvSpPr/>
          <p:nvPr/>
        </p:nvSpPr>
        <p:spPr>
          <a:xfrm>
            <a:off x="4604173" y="1018657"/>
            <a:ext cx="3911177" cy="1476089"/>
          </a:xfrm>
          <a:prstGeom prst="rect">
            <a:avLst/>
          </a:prstGeom>
          <a:noFill/>
          <a:ln w="19050" cap="flat" cmpd="sng">
            <a:solidFill>
              <a:srgbClr val="20124D"/>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pic>
        <p:nvPicPr>
          <p:cNvPr id="191" name="Google Shape;191;p32"/>
          <p:cNvPicPr preferRelativeResize="0"/>
          <p:nvPr/>
        </p:nvPicPr>
        <p:blipFill rotWithShape="1">
          <a:blip r:embed="rId3">
            <a:alphaModFix/>
          </a:blip>
          <a:srcRect t="2550" r="3948" b="2654"/>
          <a:stretch/>
        </p:blipFill>
        <p:spPr>
          <a:xfrm>
            <a:off x="289362" y="1662396"/>
            <a:ext cx="4120292" cy="1926142"/>
          </a:xfrm>
          <a:prstGeom prst="rect">
            <a:avLst/>
          </a:prstGeom>
          <a:noFill/>
          <a:ln>
            <a:noFill/>
          </a:ln>
        </p:spPr>
      </p:pic>
      <p:sp>
        <p:nvSpPr>
          <p:cNvPr id="192" name="Google Shape;192;p32"/>
          <p:cNvSpPr/>
          <p:nvPr/>
        </p:nvSpPr>
        <p:spPr>
          <a:xfrm>
            <a:off x="257686" y="1522489"/>
            <a:ext cx="4151968" cy="2548065"/>
          </a:xfrm>
          <a:prstGeom prst="rect">
            <a:avLst/>
          </a:prstGeom>
          <a:noFill/>
          <a:ln w="19050" cap="flat" cmpd="sng">
            <a:solidFill>
              <a:srgbClr val="20124D"/>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93" name="Google Shape;193;p32"/>
          <p:cNvSpPr txBox="1"/>
          <p:nvPr/>
        </p:nvSpPr>
        <p:spPr>
          <a:xfrm>
            <a:off x="1523213" y="3659512"/>
            <a:ext cx="1503092" cy="353837"/>
          </a:xfrm>
          <a:prstGeom prst="rect">
            <a:avLst/>
          </a:prstGeom>
          <a:noFill/>
          <a:ln>
            <a:noFill/>
          </a:ln>
        </p:spPr>
        <p:txBody>
          <a:bodyPr spcFirstLastPara="1" wrap="square" lIns="68575" tIns="68575" rIns="68575" bIns="68575" anchor="ctr" anchorCtr="0">
            <a:noAutofit/>
          </a:bodyPr>
          <a:lstStyle/>
          <a:p>
            <a:pPr marL="0" marR="0" lvl="0" indent="0" algn="ctr" rtl="0">
              <a:spcBef>
                <a:spcPts val="0"/>
              </a:spcBef>
              <a:spcAft>
                <a:spcPts val="0"/>
              </a:spcAft>
              <a:buClr>
                <a:schemeClr val="dk1"/>
              </a:buClr>
              <a:buSzPts val="900"/>
              <a:buFont typeface="Arial"/>
              <a:buNone/>
            </a:pPr>
            <a:r>
              <a:rPr lang="en" sz="900" b="1" u="sng">
                <a:solidFill>
                  <a:schemeClr val="dk1"/>
                </a:solidFill>
                <a:latin typeface="Arial"/>
                <a:ea typeface="Arial"/>
                <a:cs typeface="Arial"/>
                <a:sym typeface="Arial"/>
              </a:rPr>
              <a:t>1st Integrator</a:t>
            </a:r>
            <a:endParaRPr sz="900" b="1" u="sng">
              <a:solidFill>
                <a:schemeClr val="dk1"/>
              </a:solidFill>
              <a:latin typeface="Arial"/>
              <a:ea typeface="Arial"/>
              <a:cs typeface="Arial"/>
              <a:sym typeface="Arial"/>
            </a:endParaRPr>
          </a:p>
        </p:txBody>
      </p:sp>
      <p:pic>
        <p:nvPicPr>
          <p:cNvPr id="194" name="Google Shape;194;p32"/>
          <p:cNvPicPr preferRelativeResize="0"/>
          <p:nvPr/>
        </p:nvPicPr>
        <p:blipFill rotWithShape="1">
          <a:blip r:embed="rId4">
            <a:alphaModFix/>
          </a:blip>
          <a:srcRect t="2549" b="6094"/>
          <a:stretch/>
        </p:blipFill>
        <p:spPr>
          <a:xfrm>
            <a:off x="4768243" y="1060832"/>
            <a:ext cx="3548533" cy="1380495"/>
          </a:xfrm>
          <a:prstGeom prst="rect">
            <a:avLst/>
          </a:prstGeom>
          <a:noFill/>
          <a:ln>
            <a:noFill/>
          </a:ln>
        </p:spPr>
      </p:pic>
      <p:pic>
        <p:nvPicPr>
          <p:cNvPr id="195" name="Google Shape;195;p32"/>
          <p:cNvPicPr preferRelativeResize="0"/>
          <p:nvPr/>
        </p:nvPicPr>
        <p:blipFill rotWithShape="1">
          <a:blip r:embed="rId5">
            <a:alphaModFix/>
          </a:blip>
          <a:srcRect t="2075" b="5700"/>
          <a:stretch/>
        </p:blipFill>
        <p:spPr>
          <a:xfrm>
            <a:off x="4934623" y="2621815"/>
            <a:ext cx="3215774" cy="1418078"/>
          </a:xfrm>
          <a:prstGeom prst="rect">
            <a:avLst/>
          </a:prstGeom>
          <a:noFill/>
          <a:ln>
            <a:noFill/>
          </a:ln>
        </p:spPr>
      </p:pic>
      <p:sp>
        <p:nvSpPr>
          <p:cNvPr id="196" name="Google Shape;196;p32"/>
          <p:cNvSpPr txBox="1"/>
          <p:nvPr/>
        </p:nvSpPr>
        <p:spPr>
          <a:xfrm>
            <a:off x="5670641" y="2208593"/>
            <a:ext cx="1503092" cy="353837"/>
          </a:xfrm>
          <a:prstGeom prst="rect">
            <a:avLst/>
          </a:prstGeom>
          <a:noFill/>
          <a:ln>
            <a:noFill/>
          </a:ln>
        </p:spPr>
        <p:txBody>
          <a:bodyPr spcFirstLastPara="1" wrap="square" lIns="68575" tIns="68575" rIns="68575" bIns="68575" anchor="ctr" anchorCtr="0">
            <a:noAutofit/>
          </a:bodyPr>
          <a:lstStyle/>
          <a:p>
            <a:pPr marL="0" marR="0" lvl="0" indent="0" algn="ctr" rtl="0">
              <a:spcBef>
                <a:spcPts val="0"/>
              </a:spcBef>
              <a:spcAft>
                <a:spcPts val="0"/>
              </a:spcAft>
              <a:buClr>
                <a:schemeClr val="dk1"/>
              </a:buClr>
              <a:buSzPts val="800"/>
              <a:buFont typeface="Arial"/>
              <a:buNone/>
            </a:pPr>
            <a:r>
              <a:rPr lang="en" sz="800" b="1" u="sng">
                <a:solidFill>
                  <a:schemeClr val="dk1"/>
                </a:solidFill>
                <a:latin typeface="Arial"/>
                <a:ea typeface="Arial"/>
                <a:cs typeface="Arial"/>
                <a:sym typeface="Arial"/>
              </a:rPr>
              <a:t>2nd Integrator</a:t>
            </a:r>
            <a:endParaRPr sz="800" b="1" u="sng">
              <a:solidFill>
                <a:schemeClr val="dk1"/>
              </a:solidFill>
              <a:latin typeface="Arial"/>
              <a:ea typeface="Arial"/>
              <a:cs typeface="Arial"/>
              <a:sym typeface="Arial"/>
            </a:endParaRPr>
          </a:p>
        </p:txBody>
      </p:sp>
      <p:sp>
        <p:nvSpPr>
          <p:cNvPr id="197" name="Google Shape;197;p32"/>
          <p:cNvSpPr txBox="1"/>
          <p:nvPr/>
        </p:nvSpPr>
        <p:spPr>
          <a:xfrm>
            <a:off x="5808215" y="3929207"/>
            <a:ext cx="1503092" cy="353837"/>
          </a:xfrm>
          <a:prstGeom prst="rect">
            <a:avLst/>
          </a:prstGeom>
          <a:noFill/>
          <a:ln>
            <a:noFill/>
          </a:ln>
        </p:spPr>
        <p:txBody>
          <a:bodyPr spcFirstLastPara="1" wrap="square" lIns="68575" tIns="68575" rIns="68575" bIns="68575" anchor="ctr" anchorCtr="0">
            <a:noAutofit/>
          </a:bodyPr>
          <a:lstStyle/>
          <a:p>
            <a:pPr marL="0" marR="0" lvl="0" indent="0" algn="ctr" rtl="0">
              <a:spcBef>
                <a:spcPts val="0"/>
              </a:spcBef>
              <a:spcAft>
                <a:spcPts val="0"/>
              </a:spcAft>
              <a:buClr>
                <a:schemeClr val="dk1"/>
              </a:buClr>
              <a:buSzPts val="800"/>
              <a:buFont typeface="Arial"/>
              <a:buNone/>
            </a:pPr>
            <a:r>
              <a:rPr lang="en" sz="800" b="1" u="sng">
                <a:solidFill>
                  <a:schemeClr val="dk1"/>
                </a:solidFill>
                <a:latin typeface="Arial"/>
                <a:ea typeface="Arial"/>
                <a:cs typeface="Arial"/>
                <a:sym typeface="Arial"/>
              </a:rPr>
              <a:t>3rd Integrator</a:t>
            </a:r>
            <a:endParaRPr sz="800" b="1" u="sng">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3"/>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solidFill>
                  <a:schemeClr val="dk1"/>
                </a:solidFill>
              </a:rPr>
              <a:t>ADC Schematics</a:t>
            </a:r>
            <a:endParaRPr/>
          </a:p>
        </p:txBody>
      </p:sp>
      <p:sp>
        <p:nvSpPr>
          <p:cNvPr id="203" name="Google Shape;203;p33"/>
          <p:cNvSpPr txBox="1">
            <a:spLocks noGrp="1"/>
          </p:cNvSpPr>
          <p:nvPr>
            <p:ph type="body" idx="1"/>
          </p:nvPr>
        </p:nvSpPr>
        <p:spPr>
          <a:xfrm>
            <a:off x="437746" y="4148585"/>
            <a:ext cx="8251487" cy="484136"/>
          </a:xfrm>
          <a:prstGeom prst="rect">
            <a:avLst/>
          </a:prstGeom>
          <a:noFill/>
          <a:ln w="28575" cap="flat" cmpd="sng">
            <a:solidFill>
              <a:schemeClr val="dk1"/>
            </a:solidFill>
            <a:prstDash val="solid"/>
            <a:round/>
            <a:headEnd type="none" w="sm" len="sm"/>
            <a:tailEnd type="none" w="sm" len="sm"/>
          </a:ln>
        </p:spPr>
        <p:txBody>
          <a:bodyPr spcFirstLastPara="1" wrap="square" lIns="68575" tIns="34275" rIns="68575" bIns="34275" anchor="t" anchorCtr="0">
            <a:normAutofit fontScale="92500" lnSpcReduction="20000"/>
          </a:bodyPr>
          <a:lstStyle/>
          <a:p>
            <a:pPr marL="254000" lvl="0" indent="-254159" algn="l" rtl="0">
              <a:lnSpc>
                <a:spcPct val="90000"/>
              </a:lnSpc>
              <a:spcBef>
                <a:spcPts val="0"/>
              </a:spcBef>
              <a:spcAft>
                <a:spcPts val="0"/>
              </a:spcAft>
              <a:buClr>
                <a:srgbClr val="000000"/>
              </a:buClr>
              <a:buSzPct val="86667"/>
              <a:buChar char="▪"/>
            </a:pPr>
            <a:r>
              <a:rPr lang="en"/>
              <a:t>Schematics of </a:t>
            </a:r>
            <a:r>
              <a:rPr lang="en">
                <a:solidFill>
                  <a:schemeClr val="dk1"/>
                </a:solidFill>
              </a:rPr>
              <a:t>the OTAs for designing integrators</a:t>
            </a:r>
            <a:endParaRPr/>
          </a:p>
          <a:p>
            <a:pPr marL="254000" lvl="0" indent="-254159" algn="l" rtl="0">
              <a:lnSpc>
                <a:spcPct val="90000"/>
              </a:lnSpc>
              <a:spcBef>
                <a:spcPts val="800"/>
              </a:spcBef>
              <a:spcAft>
                <a:spcPts val="0"/>
              </a:spcAft>
              <a:buClr>
                <a:schemeClr val="dk1"/>
              </a:buClr>
              <a:buSzPct val="86667"/>
              <a:buChar char="▪"/>
            </a:pPr>
            <a:r>
              <a:rPr lang="en">
                <a:solidFill>
                  <a:schemeClr val="dk1"/>
                </a:solidFill>
              </a:rPr>
              <a:t>Common Mode Feedback (CMFB) is reused for both OTAs</a:t>
            </a:r>
            <a:endParaRPr/>
          </a:p>
          <a:p>
            <a:pPr marL="254000" lvl="0" indent="-165100" algn="l" rtl="0">
              <a:lnSpc>
                <a:spcPct val="90000"/>
              </a:lnSpc>
              <a:spcBef>
                <a:spcPts val="800"/>
              </a:spcBef>
              <a:spcAft>
                <a:spcPts val="0"/>
              </a:spcAft>
              <a:buClr>
                <a:schemeClr val="dk1"/>
              </a:buClr>
              <a:buSzPct val="100000"/>
              <a:buFont typeface="Noto Sans Symbols"/>
              <a:buNone/>
            </a:pPr>
            <a:endParaRPr/>
          </a:p>
        </p:txBody>
      </p:sp>
      <p:sp>
        <p:nvSpPr>
          <p:cNvPr id="204" name="Google Shape;204;p33"/>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7</a:t>
            </a:fld>
            <a:endParaRPr/>
          </a:p>
        </p:txBody>
      </p:sp>
      <p:sp>
        <p:nvSpPr>
          <p:cNvPr id="205" name="Google Shape;205;p33"/>
          <p:cNvSpPr/>
          <p:nvPr/>
        </p:nvSpPr>
        <p:spPr>
          <a:xfrm>
            <a:off x="4704736" y="1023560"/>
            <a:ext cx="3584765" cy="1385951"/>
          </a:xfrm>
          <a:prstGeom prst="rect">
            <a:avLst/>
          </a:prstGeom>
          <a:noFill/>
          <a:ln w="19050" cap="flat" cmpd="sng">
            <a:solidFill>
              <a:srgbClr val="20124D"/>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pic>
        <p:nvPicPr>
          <p:cNvPr id="206" name="Google Shape;206;p33"/>
          <p:cNvPicPr preferRelativeResize="0"/>
          <p:nvPr/>
        </p:nvPicPr>
        <p:blipFill rotWithShape="1">
          <a:blip r:embed="rId3">
            <a:alphaModFix/>
          </a:blip>
          <a:srcRect t="4573" b="11520"/>
          <a:stretch/>
        </p:blipFill>
        <p:spPr>
          <a:xfrm>
            <a:off x="4854415" y="1099367"/>
            <a:ext cx="3353063" cy="1171884"/>
          </a:xfrm>
          <a:prstGeom prst="rect">
            <a:avLst/>
          </a:prstGeom>
          <a:noFill/>
          <a:ln>
            <a:noFill/>
          </a:ln>
        </p:spPr>
      </p:pic>
      <p:pic>
        <p:nvPicPr>
          <p:cNvPr id="207" name="Google Shape;207;p33"/>
          <p:cNvPicPr preferRelativeResize="0"/>
          <p:nvPr/>
        </p:nvPicPr>
        <p:blipFill rotWithShape="1">
          <a:blip r:embed="rId4">
            <a:alphaModFix/>
          </a:blip>
          <a:srcRect t="4195" b="16503"/>
          <a:stretch/>
        </p:blipFill>
        <p:spPr>
          <a:xfrm>
            <a:off x="437746" y="1408997"/>
            <a:ext cx="3709599" cy="1950701"/>
          </a:xfrm>
          <a:prstGeom prst="rect">
            <a:avLst/>
          </a:prstGeom>
          <a:noFill/>
          <a:ln>
            <a:noFill/>
          </a:ln>
        </p:spPr>
      </p:pic>
      <p:pic>
        <p:nvPicPr>
          <p:cNvPr id="208" name="Google Shape;208;p33"/>
          <p:cNvPicPr preferRelativeResize="0"/>
          <p:nvPr/>
        </p:nvPicPr>
        <p:blipFill rotWithShape="1">
          <a:blip r:embed="rId5">
            <a:alphaModFix/>
          </a:blip>
          <a:srcRect r="33897"/>
          <a:stretch/>
        </p:blipFill>
        <p:spPr>
          <a:xfrm>
            <a:off x="5117691" y="2642128"/>
            <a:ext cx="2772696" cy="1273838"/>
          </a:xfrm>
          <a:prstGeom prst="rect">
            <a:avLst/>
          </a:prstGeom>
          <a:noFill/>
          <a:ln>
            <a:noFill/>
          </a:ln>
        </p:spPr>
      </p:pic>
      <p:sp>
        <p:nvSpPr>
          <p:cNvPr id="209" name="Google Shape;209;p33"/>
          <p:cNvSpPr/>
          <p:nvPr/>
        </p:nvSpPr>
        <p:spPr>
          <a:xfrm>
            <a:off x="437746" y="1174735"/>
            <a:ext cx="3789632" cy="2634041"/>
          </a:xfrm>
          <a:prstGeom prst="rect">
            <a:avLst/>
          </a:prstGeom>
          <a:noFill/>
          <a:ln w="19050" cap="flat" cmpd="sng">
            <a:solidFill>
              <a:srgbClr val="20124D"/>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rtl="0">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210" name="Google Shape;210;p33"/>
          <p:cNvSpPr txBox="1"/>
          <p:nvPr/>
        </p:nvSpPr>
        <p:spPr>
          <a:xfrm>
            <a:off x="1547371" y="3310729"/>
            <a:ext cx="1490350" cy="437750"/>
          </a:xfrm>
          <a:prstGeom prst="rect">
            <a:avLst/>
          </a:prstGeom>
          <a:noFill/>
          <a:ln>
            <a:noFill/>
          </a:ln>
        </p:spPr>
        <p:txBody>
          <a:bodyPr spcFirstLastPara="1" wrap="square" lIns="68575" tIns="68575" rIns="68575" bIns="68575" anchor="ctr" anchorCtr="0">
            <a:noAutofit/>
          </a:bodyPr>
          <a:lstStyle/>
          <a:p>
            <a:pPr marL="0" marR="0" lvl="0" indent="0" algn="ctr" rtl="0">
              <a:spcBef>
                <a:spcPts val="0"/>
              </a:spcBef>
              <a:spcAft>
                <a:spcPts val="0"/>
              </a:spcAft>
              <a:buClr>
                <a:schemeClr val="dk1"/>
              </a:buClr>
              <a:buSzPts val="800"/>
              <a:buFont typeface="Arial"/>
              <a:buNone/>
            </a:pPr>
            <a:r>
              <a:rPr lang="en" sz="800" b="1" u="sng">
                <a:solidFill>
                  <a:schemeClr val="dk1"/>
                </a:solidFill>
                <a:latin typeface="Arial"/>
                <a:ea typeface="Arial"/>
                <a:cs typeface="Arial"/>
                <a:sym typeface="Arial"/>
              </a:rPr>
              <a:t>OTA for 1st Integrator</a:t>
            </a:r>
            <a:endParaRPr sz="800" b="1" u="sng">
              <a:solidFill>
                <a:schemeClr val="dk1"/>
              </a:solidFill>
              <a:latin typeface="Arial"/>
              <a:ea typeface="Arial"/>
              <a:cs typeface="Arial"/>
              <a:sym typeface="Arial"/>
            </a:endParaRPr>
          </a:p>
        </p:txBody>
      </p:sp>
      <p:sp>
        <p:nvSpPr>
          <p:cNvPr id="211" name="Google Shape;211;p33"/>
          <p:cNvSpPr txBox="1"/>
          <p:nvPr/>
        </p:nvSpPr>
        <p:spPr>
          <a:xfrm>
            <a:off x="5668687" y="2097428"/>
            <a:ext cx="2009423" cy="310994"/>
          </a:xfrm>
          <a:prstGeom prst="rect">
            <a:avLst/>
          </a:prstGeom>
          <a:noFill/>
          <a:ln>
            <a:noFill/>
          </a:ln>
        </p:spPr>
        <p:txBody>
          <a:bodyPr spcFirstLastPara="1" wrap="square" lIns="68575" tIns="68575" rIns="68575" bIns="68575" anchor="ctr" anchorCtr="0">
            <a:noAutofit/>
          </a:bodyPr>
          <a:lstStyle/>
          <a:p>
            <a:pPr marL="0" marR="0" lvl="0" indent="0" algn="ctr" rtl="0">
              <a:spcBef>
                <a:spcPts val="0"/>
              </a:spcBef>
              <a:spcAft>
                <a:spcPts val="0"/>
              </a:spcAft>
              <a:buClr>
                <a:schemeClr val="dk1"/>
              </a:buClr>
              <a:buSzPts val="800"/>
              <a:buFont typeface="Arial"/>
              <a:buNone/>
            </a:pPr>
            <a:r>
              <a:rPr lang="en" sz="800" b="1" u="sng">
                <a:solidFill>
                  <a:schemeClr val="dk1"/>
                </a:solidFill>
                <a:latin typeface="Arial"/>
                <a:ea typeface="Arial"/>
                <a:cs typeface="Arial"/>
                <a:sym typeface="Arial"/>
              </a:rPr>
              <a:t>OTA for 2nd Integrator</a:t>
            </a:r>
            <a:endParaRPr sz="800" b="1" u="sng">
              <a:solidFill>
                <a:schemeClr val="dk1"/>
              </a:solidFill>
              <a:latin typeface="Arial"/>
              <a:ea typeface="Arial"/>
              <a:cs typeface="Arial"/>
              <a:sym typeface="Arial"/>
            </a:endParaRPr>
          </a:p>
        </p:txBody>
      </p:sp>
      <p:sp>
        <p:nvSpPr>
          <p:cNvPr id="212" name="Google Shape;212;p33"/>
          <p:cNvSpPr/>
          <p:nvPr/>
        </p:nvSpPr>
        <p:spPr>
          <a:xfrm>
            <a:off x="4702061" y="2578313"/>
            <a:ext cx="3584765" cy="1465820"/>
          </a:xfrm>
          <a:prstGeom prst="rect">
            <a:avLst/>
          </a:prstGeom>
          <a:noFill/>
          <a:ln w="18550" cap="flat" cmpd="sng">
            <a:solidFill>
              <a:srgbClr val="20124D"/>
            </a:solidFill>
            <a:prstDash val="solid"/>
            <a:round/>
            <a:headEnd type="none" w="sm" len="sm"/>
            <a:tailEnd type="none" w="sm" len="sm"/>
          </a:ln>
        </p:spPr>
        <p:txBody>
          <a:bodyPr spcFirstLastPara="1" wrap="square" lIns="66750" tIns="66750" rIns="66750" bIns="66750" anchor="ctr" anchorCtr="0">
            <a:noAutofit/>
          </a:bodyPr>
          <a:lstStyle/>
          <a:p>
            <a:pPr marL="0" marR="0" lvl="0" indent="0" algn="ctr" rtl="0">
              <a:spcBef>
                <a:spcPts val="0"/>
              </a:spcBef>
              <a:spcAft>
                <a:spcPts val="0"/>
              </a:spcAft>
              <a:buClr>
                <a:schemeClr val="dk1"/>
              </a:buClr>
              <a:buSzPts val="1000"/>
              <a:buFont typeface="Arial"/>
              <a:buNone/>
            </a:pPr>
            <a:endParaRPr sz="1000">
              <a:solidFill>
                <a:schemeClr val="dk1"/>
              </a:solidFill>
              <a:latin typeface="Arial"/>
              <a:ea typeface="Arial"/>
              <a:cs typeface="Arial"/>
              <a:sym typeface="Arial"/>
            </a:endParaRPr>
          </a:p>
        </p:txBody>
      </p:sp>
      <p:sp>
        <p:nvSpPr>
          <p:cNvPr id="213" name="Google Shape;213;p33"/>
          <p:cNvSpPr txBox="1"/>
          <p:nvPr/>
        </p:nvSpPr>
        <p:spPr>
          <a:xfrm>
            <a:off x="5611604" y="3770616"/>
            <a:ext cx="1956152" cy="314346"/>
          </a:xfrm>
          <a:prstGeom prst="rect">
            <a:avLst/>
          </a:prstGeom>
          <a:noFill/>
          <a:ln>
            <a:noFill/>
          </a:ln>
        </p:spPr>
        <p:txBody>
          <a:bodyPr spcFirstLastPara="1" wrap="square" lIns="66750" tIns="66750" rIns="66750" bIns="66750" anchor="ctr" anchorCtr="0">
            <a:noAutofit/>
          </a:bodyPr>
          <a:lstStyle/>
          <a:p>
            <a:pPr marL="0" marR="0" lvl="0" indent="0" algn="ctr" rtl="0">
              <a:spcBef>
                <a:spcPts val="0"/>
              </a:spcBef>
              <a:spcAft>
                <a:spcPts val="0"/>
              </a:spcAft>
              <a:buClr>
                <a:schemeClr val="dk1"/>
              </a:buClr>
              <a:buSzPts val="800"/>
              <a:buFont typeface="Arial"/>
              <a:buNone/>
            </a:pPr>
            <a:r>
              <a:rPr lang="en" sz="800" b="1" u="sng">
                <a:solidFill>
                  <a:schemeClr val="dk1"/>
                </a:solidFill>
                <a:latin typeface="Arial"/>
                <a:ea typeface="Arial"/>
                <a:cs typeface="Arial"/>
                <a:sym typeface="Arial"/>
              </a:rPr>
              <a:t>CMFB circuit for both OTA</a:t>
            </a:r>
            <a:endParaRPr sz="800" b="1" u="sng">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422;p64"/>
          <p:cNvSpPr txBox="1">
            <a:spLocks noGrp="1"/>
          </p:cNvSpPr>
          <p:nvPr>
            <p:ph type="title"/>
          </p:nvPr>
        </p:nvSpPr>
        <p:spPr>
          <a:xfrm>
            <a:off x="311700" y="265001"/>
            <a:ext cx="8520600" cy="519574"/>
          </a:xfrm>
          <a:prstGeom prst="rect">
            <a:avLst/>
          </a:prstGeom>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en-GB" sz="2300" b="1">
                <a:solidFill>
                  <a:schemeClr val="dk1"/>
                </a:solidFill>
              </a:rPr>
              <a:t>ADC Simulation Results</a:t>
            </a:r>
            <a:endParaRPr sz="2300" b="1"/>
          </a:p>
        </p:txBody>
      </p:sp>
      <p:sp>
        <p:nvSpPr>
          <p:cNvPr id="5" name="Google Shape;423;p64"/>
          <p:cNvSpPr txBox="1"/>
          <p:nvPr/>
        </p:nvSpPr>
        <p:spPr>
          <a:xfrm>
            <a:off x="522150" y="3767300"/>
            <a:ext cx="8099700" cy="763500"/>
          </a:xfrm>
          <a:prstGeom prst="rect">
            <a:avLst/>
          </a:prstGeom>
          <a:noFill/>
          <a:ln w="190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457200" lvl="0" indent="-317500" algn="just" rtl="0">
              <a:lnSpc>
                <a:spcPct val="90000"/>
              </a:lnSpc>
              <a:spcBef>
                <a:spcPts val="1000"/>
              </a:spcBef>
              <a:spcAft>
                <a:spcPts val="0"/>
              </a:spcAft>
              <a:buClr>
                <a:srgbClr val="000000"/>
              </a:buClr>
              <a:buSzPts val="1400"/>
              <a:buFont typeface="Noto Sans Symbols"/>
              <a:buChar char="▪"/>
            </a:pPr>
            <a:r>
              <a:rPr lang="en-GB" b="1">
                <a:solidFill>
                  <a:schemeClr val="dk1"/>
                </a:solidFill>
              </a:rPr>
              <a:t>The integrator stage outputs exhibit stable bounded behaviour with progressively reduced signal swing across successive stages, indicating proper loop operation and effective higher-order noise shaping</a:t>
            </a:r>
            <a:endParaRPr b="1">
              <a:solidFill>
                <a:schemeClr val="dk1"/>
              </a:solidFill>
            </a:endParaRPr>
          </a:p>
        </p:txBody>
      </p:sp>
      <p:pic>
        <p:nvPicPr>
          <p:cNvPr id="6" name="Google Shape;425;p64"/>
          <p:cNvPicPr preferRelativeResize="0"/>
          <p:nvPr/>
        </p:nvPicPr>
        <p:blipFill rotWithShape="1">
          <a:blip r:embed="rId2">
            <a:alphaModFix/>
          </a:blip>
          <a:srcRect t="3340" r="8676" b="6391"/>
          <a:stretch/>
        </p:blipFill>
        <p:spPr>
          <a:xfrm>
            <a:off x="4618838" y="1229538"/>
            <a:ext cx="3898327" cy="2422351"/>
          </a:xfrm>
          <a:prstGeom prst="rect">
            <a:avLst/>
          </a:prstGeom>
          <a:noFill/>
          <a:ln>
            <a:noFill/>
          </a:ln>
        </p:spPr>
      </p:pic>
      <p:sp>
        <p:nvSpPr>
          <p:cNvPr id="7" name="Google Shape;426;p64"/>
          <p:cNvSpPr txBox="1"/>
          <p:nvPr/>
        </p:nvSpPr>
        <p:spPr>
          <a:xfrm>
            <a:off x="1211150" y="780045"/>
            <a:ext cx="2729700" cy="449505"/>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600" b="1" u="sng"/>
              <a:t>1st Integrator Output</a:t>
            </a:r>
            <a:endParaRPr sz="1600" b="1" u="sng"/>
          </a:p>
        </p:txBody>
      </p:sp>
      <p:sp>
        <p:nvSpPr>
          <p:cNvPr id="8" name="Google Shape;427;p64"/>
          <p:cNvSpPr txBox="1"/>
          <p:nvPr/>
        </p:nvSpPr>
        <p:spPr>
          <a:xfrm>
            <a:off x="5203138" y="780033"/>
            <a:ext cx="2729700" cy="449505"/>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600" b="1" u="sng" dirty="0"/>
              <a:t>2nd Integrator Output</a:t>
            </a:r>
            <a:endParaRPr sz="1600" b="1" u="sng" dirty="0"/>
          </a:p>
        </p:txBody>
      </p:sp>
      <p:pic>
        <p:nvPicPr>
          <p:cNvPr id="9" name="Google Shape;424;p64"/>
          <p:cNvPicPr preferRelativeResize="0"/>
          <p:nvPr/>
        </p:nvPicPr>
        <p:blipFill rotWithShape="1">
          <a:blip r:embed="rId3">
            <a:alphaModFix/>
          </a:blip>
          <a:srcRect t="3808" r="9132" b="5513"/>
          <a:stretch/>
        </p:blipFill>
        <p:spPr>
          <a:xfrm>
            <a:off x="626850" y="1229538"/>
            <a:ext cx="3898327" cy="2422363"/>
          </a:xfrm>
          <a:prstGeom prst="rect">
            <a:avLst/>
          </a:prstGeom>
          <a:noFill/>
          <a:ln>
            <a:noFill/>
          </a:ln>
        </p:spPr>
      </p:pic>
    </p:spTree>
    <p:extLst>
      <p:ext uri="{BB962C8B-B14F-4D97-AF65-F5344CB8AC3E}">
        <p14:creationId xmlns:p14="http://schemas.microsoft.com/office/powerpoint/2010/main" val="2922541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432;p65"/>
          <p:cNvSpPr txBox="1">
            <a:spLocks noGrp="1"/>
          </p:cNvSpPr>
          <p:nvPr>
            <p:ph type="title"/>
          </p:nvPr>
        </p:nvSpPr>
        <p:spPr>
          <a:xfrm>
            <a:off x="294227" y="423144"/>
            <a:ext cx="8520600" cy="498300"/>
          </a:xfrm>
          <a:prstGeom prst="rect">
            <a:avLst/>
          </a:prstGeom>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en-GB" sz="2300" b="1" dirty="0">
                <a:solidFill>
                  <a:schemeClr val="dk1"/>
                </a:solidFill>
              </a:rPr>
              <a:t>ADC Simulation Results</a:t>
            </a:r>
            <a:endParaRPr sz="2300" b="1" dirty="0"/>
          </a:p>
        </p:txBody>
      </p:sp>
      <p:sp>
        <p:nvSpPr>
          <p:cNvPr id="5" name="Google Shape;433;p65"/>
          <p:cNvSpPr txBox="1"/>
          <p:nvPr/>
        </p:nvSpPr>
        <p:spPr>
          <a:xfrm>
            <a:off x="1193677" y="841119"/>
            <a:ext cx="2729700" cy="431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600" b="1" u="sng" dirty="0"/>
              <a:t>3rd Integrator Output</a:t>
            </a:r>
            <a:endParaRPr sz="1600" b="1" u="sng" dirty="0"/>
          </a:p>
        </p:txBody>
      </p:sp>
      <p:sp>
        <p:nvSpPr>
          <p:cNvPr id="6" name="Google Shape;434;p65"/>
          <p:cNvSpPr txBox="1"/>
          <p:nvPr/>
        </p:nvSpPr>
        <p:spPr>
          <a:xfrm>
            <a:off x="5185665" y="841107"/>
            <a:ext cx="2729700" cy="431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600" b="1" u="sng"/>
              <a:t>Quantizer Output</a:t>
            </a:r>
            <a:endParaRPr sz="1600" b="1" u="sng"/>
          </a:p>
        </p:txBody>
      </p:sp>
      <p:pic>
        <p:nvPicPr>
          <p:cNvPr id="7" name="Google Shape;435;p65"/>
          <p:cNvPicPr preferRelativeResize="0"/>
          <p:nvPr/>
        </p:nvPicPr>
        <p:blipFill rotWithShape="1">
          <a:blip r:embed="rId2">
            <a:alphaModFix/>
          </a:blip>
          <a:srcRect t="3235" r="8215" b="6153"/>
          <a:stretch/>
        </p:blipFill>
        <p:spPr>
          <a:xfrm>
            <a:off x="532302" y="1286094"/>
            <a:ext cx="3945149" cy="2096800"/>
          </a:xfrm>
          <a:prstGeom prst="rect">
            <a:avLst/>
          </a:prstGeom>
          <a:noFill/>
          <a:ln>
            <a:noFill/>
          </a:ln>
        </p:spPr>
      </p:pic>
      <p:pic>
        <p:nvPicPr>
          <p:cNvPr id="8" name="Google Shape;436;p65"/>
          <p:cNvPicPr preferRelativeResize="0"/>
          <p:nvPr/>
        </p:nvPicPr>
        <p:blipFill rotWithShape="1">
          <a:blip r:embed="rId3">
            <a:alphaModFix/>
          </a:blip>
          <a:srcRect t="3440" r="8223" b="6502"/>
          <a:stretch/>
        </p:blipFill>
        <p:spPr>
          <a:xfrm>
            <a:off x="4644927" y="1383194"/>
            <a:ext cx="3931827" cy="2014125"/>
          </a:xfrm>
          <a:prstGeom prst="rect">
            <a:avLst/>
          </a:prstGeom>
          <a:noFill/>
          <a:ln>
            <a:noFill/>
          </a:ln>
        </p:spPr>
      </p:pic>
      <p:sp>
        <p:nvSpPr>
          <p:cNvPr id="9" name="Google Shape;437;p65"/>
          <p:cNvSpPr txBox="1"/>
          <p:nvPr/>
        </p:nvSpPr>
        <p:spPr>
          <a:xfrm>
            <a:off x="294227" y="3508294"/>
            <a:ext cx="8520600" cy="12621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457200" lvl="0" indent="-317500" algn="just" rtl="0">
              <a:lnSpc>
                <a:spcPct val="90000"/>
              </a:lnSpc>
              <a:spcBef>
                <a:spcPts val="1000"/>
              </a:spcBef>
              <a:spcAft>
                <a:spcPts val="0"/>
              </a:spcAft>
              <a:buClr>
                <a:schemeClr val="dk1"/>
              </a:buClr>
              <a:buSzPts val="1400"/>
              <a:buChar char="■"/>
            </a:pPr>
            <a:r>
              <a:rPr lang="en-GB" b="1">
                <a:solidFill>
                  <a:schemeClr val="dk1"/>
                </a:solidFill>
              </a:rPr>
              <a:t>The third integrator output remains bounded throughout the simulation, demonstrating stable third-order loop dynamics while accumulating and shaping the quantization error</a:t>
            </a:r>
            <a:endParaRPr b="1">
              <a:solidFill>
                <a:schemeClr val="dk1"/>
              </a:solidFill>
            </a:endParaRPr>
          </a:p>
          <a:p>
            <a:pPr marL="457200" lvl="0" indent="-317500" algn="just" rtl="0">
              <a:spcBef>
                <a:spcPts val="0"/>
              </a:spcBef>
              <a:spcAft>
                <a:spcPts val="0"/>
              </a:spcAft>
              <a:buClr>
                <a:schemeClr val="dk1"/>
              </a:buClr>
              <a:buSzPts val="1400"/>
              <a:buChar char="■"/>
            </a:pPr>
            <a:r>
              <a:rPr lang="en-GB" b="1">
                <a:solidFill>
                  <a:schemeClr val="dk1"/>
                </a:solidFill>
              </a:rPr>
              <a:t>The 1-bit quantizer produces a binary bitstream that switches between the two output levels according to the input signal amplitude. The varying pulse density encodes the analog input while enabling high-order noise shaping </a:t>
            </a:r>
            <a:endParaRPr b="1"/>
          </a:p>
        </p:txBody>
      </p:sp>
    </p:spTree>
    <p:extLst>
      <p:ext uri="{BB962C8B-B14F-4D97-AF65-F5344CB8AC3E}">
        <p14:creationId xmlns:p14="http://schemas.microsoft.com/office/powerpoint/2010/main" val="2001951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442;p66"/>
          <p:cNvSpPr txBox="1">
            <a:spLocks noGrp="1"/>
          </p:cNvSpPr>
          <p:nvPr>
            <p:ph type="title"/>
          </p:nvPr>
        </p:nvSpPr>
        <p:spPr>
          <a:xfrm>
            <a:off x="282579" y="239206"/>
            <a:ext cx="8520600" cy="498300"/>
          </a:xfrm>
          <a:prstGeom prst="rect">
            <a:avLst/>
          </a:prstGeom>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en-GB" sz="2300" b="1" dirty="0">
                <a:solidFill>
                  <a:schemeClr val="dk1"/>
                </a:solidFill>
              </a:rPr>
              <a:t>ADC Simulation Results</a:t>
            </a:r>
            <a:endParaRPr sz="2300" b="1" dirty="0"/>
          </a:p>
        </p:txBody>
      </p:sp>
      <p:sp>
        <p:nvSpPr>
          <p:cNvPr id="5" name="Google Shape;443;p66"/>
          <p:cNvSpPr txBox="1"/>
          <p:nvPr/>
        </p:nvSpPr>
        <p:spPr>
          <a:xfrm>
            <a:off x="261165" y="3282081"/>
            <a:ext cx="8520600" cy="1477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457200" lvl="0" indent="-317500" algn="just" rtl="0">
              <a:lnSpc>
                <a:spcPct val="98181"/>
              </a:lnSpc>
              <a:spcBef>
                <a:spcPts val="1000"/>
              </a:spcBef>
              <a:spcAft>
                <a:spcPts val="0"/>
              </a:spcAft>
              <a:buClr>
                <a:schemeClr val="dk1"/>
              </a:buClr>
              <a:buSzPts val="1400"/>
              <a:buChar char="■"/>
            </a:pPr>
            <a:r>
              <a:rPr lang="en-GB" b="1">
                <a:solidFill>
                  <a:schemeClr val="dk1"/>
                </a:solidFill>
              </a:rPr>
              <a:t>NMOS switches are used for the VCM and VREFN paths, while the PMOS switch is used for the VREFP path to provide lower ron and faster settling</a:t>
            </a:r>
            <a:endParaRPr b="1">
              <a:solidFill>
                <a:schemeClr val="dk1"/>
              </a:solidFill>
            </a:endParaRPr>
          </a:p>
          <a:p>
            <a:pPr marL="457200" lvl="0" indent="-317500" algn="just" rtl="0">
              <a:lnSpc>
                <a:spcPct val="98181"/>
              </a:lnSpc>
              <a:spcBef>
                <a:spcPts val="0"/>
              </a:spcBef>
              <a:spcAft>
                <a:spcPts val="0"/>
              </a:spcAft>
              <a:buClr>
                <a:schemeClr val="dk1"/>
              </a:buClr>
              <a:buSzPts val="1400"/>
              <a:buChar char="■"/>
            </a:pPr>
            <a:r>
              <a:rPr lang="en-GB" b="1">
                <a:solidFill>
                  <a:schemeClr val="dk1"/>
                </a:solidFill>
              </a:rPr>
              <a:t>Transmission Gate (TG) switches are employed in the signal path to achieve a nearly constant and low ON resistance over the full input voltage range</a:t>
            </a:r>
            <a:endParaRPr b="1">
              <a:solidFill>
                <a:schemeClr val="dk1"/>
              </a:solidFill>
            </a:endParaRPr>
          </a:p>
          <a:p>
            <a:pPr marL="457200" lvl="0" indent="-317500" algn="just" rtl="0">
              <a:lnSpc>
                <a:spcPct val="98181"/>
              </a:lnSpc>
              <a:spcBef>
                <a:spcPts val="0"/>
              </a:spcBef>
              <a:spcAft>
                <a:spcPts val="0"/>
              </a:spcAft>
              <a:buClr>
                <a:schemeClr val="dk1"/>
              </a:buClr>
              <a:buSzPts val="1400"/>
              <a:buChar char="■"/>
            </a:pPr>
            <a:r>
              <a:rPr lang="en-GB" b="1">
                <a:solidFill>
                  <a:schemeClr val="dk1"/>
                </a:solidFill>
              </a:rPr>
              <a:t>The simulated Ron characteristics shown above verify the appropriate switch selection, ensuring low resistance, improved linearity, and accurate switched-capacitor operation</a:t>
            </a:r>
            <a:endParaRPr b="1"/>
          </a:p>
        </p:txBody>
      </p:sp>
      <p:pic>
        <p:nvPicPr>
          <p:cNvPr id="6" name="Google Shape;444;p66"/>
          <p:cNvPicPr preferRelativeResize="0"/>
          <p:nvPr/>
        </p:nvPicPr>
        <p:blipFill>
          <a:blip r:embed="rId2">
            <a:alphaModFix/>
          </a:blip>
          <a:stretch>
            <a:fillRect/>
          </a:stretch>
        </p:blipFill>
        <p:spPr>
          <a:xfrm>
            <a:off x="769515" y="829506"/>
            <a:ext cx="7635825" cy="2360575"/>
          </a:xfrm>
          <a:prstGeom prst="rect">
            <a:avLst/>
          </a:prstGeom>
          <a:noFill/>
          <a:ln>
            <a:noFill/>
          </a:ln>
        </p:spPr>
      </p:pic>
    </p:spTree>
    <p:extLst>
      <p:ext uri="{BB962C8B-B14F-4D97-AF65-F5344CB8AC3E}">
        <p14:creationId xmlns:p14="http://schemas.microsoft.com/office/powerpoint/2010/main" val="35957583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449;p67"/>
          <p:cNvSpPr txBox="1">
            <a:spLocks noGrp="1"/>
          </p:cNvSpPr>
          <p:nvPr>
            <p:ph type="title"/>
          </p:nvPr>
        </p:nvSpPr>
        <p:spPr>
          <a:xfrm>
            <a:off x="387101" y="339611"/>
            <a:ext cx="8139427" cy="439139"/>
          </a:xfrm>
          <a:prstGeom prst="rect">
            <a:avLst/>
          </a:prstGeom>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en-GB" sz="2300" b="1">
                <a:solidFill>
                  <a:schemeClr val="dk1"/>
                </a:solidFill>
              </a:rPr>
              <a:t>ADC Simulation Results</a:t>
            </a:r>
            <a:endParaRPr sz="2300" b="1"/>
          </a:p>
        </p:txBody>
      </p:sp>
      <p:pic>
        <p:nvPicPr>
          <p:cNvPr id="5" name="Google Shape;450;p67"/>
          <p:cNvPicPr preferRelativeResize="0"/>
          <p:nvPr/>
        </p:nvPicPr>
        <p:blipFill rotWithShape="1">
          <a:blip r:embed="rId2">
            <a:alphaModFix/>
          </a:blip>
          <a:srcRect t="5366"/>
          <a:stretch/>
        </p:blipFill>
        <p:spPr>
          <a:xfrm>
            <a:off x="2601581" y="1331453"/>
            <a:ext cx="3710466" cy="2246743"/>
          </a:xfrm>
          <a:prstGeom prst="rect">
            <a:avLst/>
          </a:prstGeom>
          <a:noFill/>
          <a:ln>
            <a:noFill/>
          </a:ln>
        </p:spPr>
      </p:pic>
      <p:sp>
        <p:nvSpPr>
          <p:cNvPr id="6" name="Google Shape;451;p67"/>
          <p:cNvSpPr txBox="1"/>
          <p:nvPr/>
        </p:nvSpPr>
        <p:spPr>
          <a:xfrm>
            <a:off x="3058492" y="894458"/>
            <a:ext cx="2607585" cy="379918"/>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600" b="1" u="sng" dirty="0"/>
              <a:t>ADC Output Spectrum</a:t>
            </a:r>
            <a:endParaRPr sz="1600" b="1" u="sng" dirty="0"/>
          </a:p>
        </p:txBody>
      </p:sp>
      <p:sp>
        <p:nvSpPr>
          <p:cNvPr id="7" name="Google Shape;452;p67"/>
          <p:cNvSpPr txBox="1"/>
          <p:nvPr/>
        </p:nvSpPr>
        <p:spPr>
          <a:xfrm>
            <a:off x="469390" y="3635273"/>
            <a:ext cx="7785788" cy="1088473"/>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457200" lvl="0" indent="-317500" algn="l" rtl="0">
              <a:lnSpc>
                <a:spcPct val="90000"/>
              </a:lnSpc>
              <a:spcBef>
                <a:spcPts val="1000"/>
              </a:spcBef>
              <a:spcAft>
                <a:spcPts val="0"/>
              </a:spcAft>
              <a:buClr>
                <a:schemeClr val="dk1"/>
              </a:buClr>
              <a:buSzPts val="1400"/>
              <a:buChar char="■"/>
            </a:pPr>
            <a:r>
              <a:rPr lang="en-GB" b="1" dirty="0">
                <a:solidFill>
                  <a:schemeClr val="dk1"/>
                </a:solidFill>
              </a:rPr>
              <a:t>The FFT spectrum shows a prominent fundamental component at the input frequency and effective high-frequency quantization noise shaping characteristic of a third-order ΔΣ modulator. The achieved SNR of 107.49 dB and SNDR of 103.74 dB validate the proposed ADC architecture.</a:t>
            </a:r>
            <a:endParaRPr b="1" dirty="0">
              <a:solidFill>
                <a:schemeClr val="dk1"/>
              </a:solidFill>
            </a:endParaRPr>
          </a:p>
        </p:txBody>
      </p:sp>
    </p:spTree>
    <p:extLst>
      <p:ext uri="{BB962C8B-B14F-4D97-AF65-F5344CB8AC3E}">
        <p14:creationId xmlns:p14="http://schemas.microsoft.com/office/powerpoint/2010/main" val="843602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4"/>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t>CCIA Specification</a:t>
            </a:r>
            <a:r>
              <a:rPr lang="en" b="0"/>
              <a:t> </a:t>
            </a:r>
            <a:endParaRPr/>
          </a:p>
        </p:txBody>
      </p:sp>
      <p:sp>
        <p:nvSpPr>
          <p:cNvPr id="219" name="Google Shape;219;p34"/>
          <p:cNvSpPr txBox="1">
            <a:spLocks noGrp="1"/>
          </p:cNvSpPr>
          <p:nvPr>
            <p:ph type="body" idx="1"/>
          </p:nvPr>
        </p:nvSpPr>
        <p:spPr>
          <a:xfrm>
            <a:off x="437746" y="3815674"/>
            <a:ext cx="8251487" cy="817048"/>
          </a:xfrm>
          <a:prstGeom prst="rect">
            <a:avLst/>
          </a:prstGeom>
          <a:noFill/>
          <a:ln w="2857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254000" lvl="0" indent="-247650" algn="l" rtl="0">
              <a:lnSpc>
                <a:spcPct val="90000"/>
              </a:lnSpc>
              <a:spcBef>
                <a:spcPts val="0"/>
              </a:spcBef>
              <a:spcAft>
                <a:spcPts val="0"/>
              </a:spcAft>
              <a:buClr>
                <a:schemeClr val="dk1"/>
              </a:buClr>
              <a:buSzPts val="1500"/>
              <a:buChar char="▪"/>
            </a:pPr>
            <a:r>
              <a:rPr lang="en"/>
              <a:t>Capacitive coupling for blocking large DC common mode (CM), high common mode rejection ratio (CMRR), and accurate closed-loop gain</a:t>
            </a:r>
            <a:endParaRPr/>
          </a:p>
          <a:p>
            <a:pPr marL="254000" lvl="0" indent="-247650" algn="l" rtl="0">
              <a:lnSpc>
                <a:spcPct val="90000"/>
              </a:lnSpc>
              <a:spcBef>
                <a:spcPts val="800"/>
              </a:spcBef>
              <a:spcAft>
                <a:spcPts val="0"/>
              </a:spcAft>
              <a:buClr>
                <a:schemeClr val="dk1"/>
              </a:buClr>
              <a:buSzPts val="1500"/>
              <a:buChar char="▪"/>
            </a:pPr>
            <a:r>
              <a:rPr lang="en"/>
              <a:t>Chopper stabilized for offset and noise cancellation</a:t>
            </a:r>
            <a:endParaRPr/>
          </a:p>
          <a:p>
            <a:pPr marL="254000" lvl="0" indent="-152400" algn="l" rtl="0">
              <a:lnSpc>
                <a:spcPct val="90000"/>
              </a:lnSpc>
              <a:spcBef>
                <a:spcPts val="800"/>
              </a:spcBef>
              <a:spcAft>
                <a:spcPts val="0"/>
              </a:spcAft>
              <a:buClr>
                <a:schemeClr val="dk1"/>
              </a:buClr>
              <a:buSzPts val="1500"/>
              <a:buFont typeface="Noto Sans Symbols"/>
              <a:buNone/>
            </a:pPr>
            <a:endParaRPr/>
          </a:p>
        </p:txBody>
      </p:sp>
      <p:sp>
        <p:nvSpPr>
          <p:cNvPr id="220" name="Google Shape;220;p34"/>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12</a:t>
            </a:fld>
            <a:endParaRPr/>
          </a:p>
        </p:txBody>
      </p:sp>
      <p:pic>
        <p:nvPicPr>
          <p:cNvPr id="221" name="Google Shape;221;p34"/>
          <p:cNvPicPr preferRelativeResize="0"/>
          <p:nvPr/>
        </p:nvPicPr>
        <p:blipFill rotWithShape="1">
          <a:blip r:embed="rId3">
            <a:alphaModFix/>
          </a:blip>
          <a:srcRect/>
          <a:stretch/>
        </p:blipFill>
        <p:spPr>
          <a:xfrm>
            <a:off x="437746" y="1200150"/>
            <a:ext cx="4099084" cy="2171700"/>
          </a:xfrm>
          <a:prstGeom prst="rect">
            <a:avLst/>
          </a:prstGeom>
          <a:noFill/>
          <a:ln>
            <a:noFill/>
          </a:ln>
        </p:spPr>
      </p:pic>
      <p:graphicFrame>
        <p:nvGraphicFramePr>
          <p:cNvPr id="222" name="Google Shape;222;p34"/>
          <p:cNvGraphicFramePr/>
          <p:nvPr/>
        </p:nvGraphicFramePr>
        <p:xfrm>
          <a:off x="4859383" y="1155502"/>
          <a:ext cx="3231400" cy="2532825"/>
        </p:xfrm>
        <a:graphic>
          <a:graphicData uri="http://schemas.openxmlformats.org/drawingml/2006/table">
            <a:tbl>
              <a:tblPr>
                <a:noFill/>
                <a:tableStyleId>{5F26710F-4515-495F-8A12-3B80EE6E18C5}</a:tableStyleId>
              </a:tblPr>
              <a:tblGrid>
                <a:gridCol w="1764975">
                  <a:extLst>
                    <a:ext uri="{9D8B030D-6E8A-4147-A177-3AD203B41FA5}">
                      <a16:colId xmlns:a16="http://schemas.microsoft.com/office/drawing/2014/main" val="20000"/>
                    </a:ext>
                  </a:extLst>
                </a:gridCol>
                <a:gridCol w="1466425">
                  <a:extLst>
                    <a:ext uri="{9D8B030D-6E8A-4147-A177-3AD203B41FA5}">
                      <a16:colId xmlns:a16="http://schemas.microsoft.com/office/drawing/2014/main" val="20001"/>
                    </a:ext>
                  </a:extLst>
                </a:gridCol>
              </a:tblGrid>
              <a:tr h="281425">
                <a:tc>
                  <a:txBody>
                    <a:bodyPr/>
                    <a:lstStyle/>
                    <a:p>
                      <a:pPr marL="0" marR="0" lvl="0" indent="0" algn="ctr" rtl="0">
                        <a:spcBef>
                          <a:spcPts val="0"/>
                        </a:spcBef>
                        <a:spcAft>
                          <a:spcPts val="0"/>
                        </a:spcAft>
                        <a:buClr>
                          <a:schemeClr val="dk1"/>
                        </a:buClr>
                        <a:buSzPts val="1400"/>
                        <a:buFont typeface="Arial"/>
                        <a:buNone/>
                      </a:pPr>
                      <a:r>
                        <a:rPr lang="en" sz="1400" b="1" u="none" strike="noStrike" cap="none"/>
                        <a:t>Parameter</a:t>
                      </a:r>
                      <a:endParaRPr sz="2100" b="1" u="none" strike="noStrike" cap="none"/>
                    </a:p>
                  </a:txBody>
                  <a:tcPr marL="57150" marR="57150" marT="28575" marB="28575"/>
                </a:tc>
                <a:tc>
                  <a:txBody>
                    <a:bodyPr/>
                    <a:lstStyle/>
                    <a:p>
                      <a:pPr marL="0" marR="0" lvl="0" indent="0" algn="ctr" rtl="0">
                        <a:spcBef>
                          <a:spcPts val="0"/>
                        </a:spcBef>
                        <a:spcAft>
                          <a:spcPts val="0"/>
                        </a:spcAft>
                        <a:buClr>
                          <a:schemeClr val="dk1"/>
                        </a:buClr>
                        <a:buSzPts val="1400"/>
                        <a:buFont typeface="Arial"/>
                        <a:buNone/>
                      </a:pPr>
                      <a:r>
                        <a:rPr lang="en" sz="1400" b="1" u="none" strike="noStrike" cap="none"/>
                        <a:t>Details</a:t>
                      </a:r>
                      <a:endParaRPr sz="2100" b="1" u="none" strike="noStrike" cap="none"/>
                    </a:p>
                  </a:txBody>
                  <a:tcPr marL="57150" marR="57150" marT="28575" marB="28575"/>
                </a:tc>
                <a:extLst>
                  <a:ext uri="{0D108BD9-81ED-4DB2-BD59-A6C34878D82A}">
                    <a16:rowId xmlns:a16="http://schemas.microsoft.com/office/drawing/2014/main" val="10000"/>
                  </a:ext>
                </a:extLst>
              </a:tr>
              <a:tr h="281425">
                <a:tc>
                  <a:txBody>
                    <a:bodyPr/>
                    <a:lstStyle/>
                    <a:p>
                      <a:pPr marL="0" marR="0" lvl="0" indent="0" algn="l" rtl="0">
                        <a:spcBef>
                          <a:spcPts val="0"/>
                        </a:spcBef>
                        <a:spcAft>
                          <a:spcPts val="0"/>
                        </a:spcAft>
                        <a:buClr>
                          <a:schemeClr val="dk1"/>
                        </a:buClr>
                        <a:buSzPts val="1400"/>
                        <a:buFont typeface="Arial"/>
                        <a:buNone/>
                      </a:pPr>
                      <a:r>
                        <a:rPr lang="en" sz="1400" u="none" strike="noStrike" cap="none"/>
                        <a:t>Current</a:t>
                      </a:r>
                      <a:endParaRPr sz="2100" u="none" strike="noStrike" cap="none"/>
                    </a:p>
                  </a:txBody>
                  <a:tcPr marL="57150" marR="57150" marT="28575" marB="28575"/>
                </a:tc>
                <a:tc>
                  <a:txBody>
                    <a:bodyPr/>
                    <a:lstStyle/>
                    <a:p>
                      <a:pPr marL="0" marR="0" lvl="0" indent="0" algn="l" rtl="0">
                        <a:spcBef>
                          <a:spcPts val="0"/>
                        </a:spcBef>
                        <a:spcAft>
                          <a:spcPts val="0"/>
                        </a:spcAft>
                        <a:buClr>
                          <a:schemeClr val="dk1"/>
                        </a:buClr>
                        <a:buSzPts val="1400"/>
                        <a:buFont typeface="Arial"/>
                        <a:buNone/>
                      </a:pPr>
                      <a:r>
                        <a:rPr lang="en" sz="1400" u="none" strike="noStrike" cap="none"/>
                        <a:t>100uA</a:t>
                      </a:r>
                      <a:endParaRPr sz="2100" u="none" strike="noStrike" cap="none"/>
                    </a:p>
                  </a:txBody>
                  <a:tcPr marL="57150" marR="57150" marT="28575" marB="28575"/>
                </a:tc>
                <a:extLst>
                  <a:ext uri="{0D108BD9-81ED-4DB2-BD59-A6C34878D82A}">
                    <a16:rowId xmlns:a16="http://schemas.microsoft.com/office/drawing/2014/main" val="10001"/>
                  </a:ext>
                </a:extLst>
              </a:tr>
              <a:tr h="281425">
                <a:tc>
                  <a:txBody>
                    <a:bodyPr/>
                    <a:lstStyle/>
                    <a:p>
                      <a:pPr marL="0" marR="0" lvl="0" indent="0" algn="l" rtl="0">
                        <a:spcBef>
                          <a:spcPts val="0"/>
                        </a:spcBef>
                        <a:spcAft>
                          <a:spcPts val="0"/>
                        </a:spcAft>
                        <a:buClr>
                          <a:schemeClr val="dk1"/>
                        </a:buClr>
                        <a:buSzPts val="1400"/>
                        <a:buFont typeface="Arial"/>
                        <a:buNone/>
                      </a:pPr>
                      <a:r>
                        <a:rPr lang="en" sz="1400" u="none" strike="noStrike" cap="none"/>
                        <a:t>OCV/EIS Gain</a:t>
                      </a:r>
                      <a:endParaRPr sz="2100" u="none" strike="noStrike" cap="none"/>
                    </a:p>
                  </a:txBody>
                  <a:tcPr marL="57150" marR="57150" marT="28575" marB="28575"/>
                </a:tc>
                <a:tc>
                  <a:txBody>
                    <a:bodyPr/>
                    <a:lstStyle/>
                    <a:p>
                      <a:pPr marL="0" marR="0" lvl="0" indent="0" algn="l" rtl="0">
                        <a:spcBef>
                          <a:spcPts val="0"/>
                        </a:spcBef>
                        <a:spcAft>
                          <a:spcPts val="0"/>
                        </a:spcAft>
                        <a:buClr>
                          <a:schemeClr val="dk1"/>
                        </a:buClr>
                        <a:buSzPts val="1400"/>
                        <a:buFont typeface="Arial"/>
                        <a:buNone/>
                      </a:pPr>
                      <a:r>
                        <a:rPr lang="en" sz="1400" u="none" strike="noStrike" cap="none"/>
                        <a:t>1/100 V/V</a:t>
                      </a:r>
                      <a:endParaRPr sz="2100" u="none" strike="noStrike" cap="none"/>
                    </a:p>
                  </a:txBody>
                  <a:tcPr marL="57150" marR="57150" marT="28575" marB="28575"/>
                </a:tc>
                <a:extLst>
                  <a:ext uri="{0D108BD9-81ED-4DB2-BD59-A6C34878D82A}">
                    <a16:rowId xmlns:a16="http://schemas.microsoft.com/office/drawing/2014/main" val="10002"/>
                  </a:ext>
                </a:extLst>
              </a:tr>
              <a:tr h="281425">
                <a:tc>
                  <a:txBody>
                    <a:bodyPr/>
                    <a:lstStyle/>
                    <a:p>
                      <a:pPr marL="0" marR="0" lvl="0" indent="0" algn="l" rtl="0">
                        <a:spcBef>
                          <a:spcPts val="0"/>
                        </a:spcBef>
                        <a:spcAft>
                          <a:spcPts val="0"/>
                        </a:spcAft>
                        <a:buClr>
                          <a:schemeClr val="dk1"/>
                        </a:buClr>
                        <a:buSzPts val="1400"/>
                        <a:buFont typeface="Arial"/>
                        <a:buNone/>
                      </a:pPr>
                      <a:r>
                        <a:rPr lang="en" sz="1400" u="none" strike="noStrike" cap="none"/>
                        <a:t>Chopping Frequency</a:t>
                      </a:r>
                      <a:endParaRPr sz="2100" u="none" strike="noStrike" cap="none"/>
                    </a:p>
                  </a:txBody>
                  <a:tcPr marL="57150" marR="57150" marT="28575" marB="28575"/>
                </a:tc>
                <a:tc>
                  <a:txBody>
                    <a:bodyPr/>
                    <a:lstStyle/>
                    <a:p>
                      <a:pPr marL="0" marR="0" lvl="0" indent="0" algn="l" rtl="0">
                        <a:spcBef>
                          <a:spcPts val="0"/>
                        </a:spcBef>
                        <a:spcAft>
                          <a:spcPts val="0"/>
                        </a:spcAft>
                        <a:buClr>
                          <a:schemeClr val="dk1"/>
                        </a:buClr>
                        <a:buSzPts val="1400"/>
                        <a:buFont typeface="Arial"/>
                        <a:buNone/>
                      </a:pPr>
                      <a:r>
                        <a:rPr lang="en" sz="1400" u="none" strike="noStrike" cap="none"/>
                        <a:t>5kHz</a:t>
                      </a:r>
                      <a:endParaRPr sz="2100" u="none" strike="noStrike" cap="none"/>
                    </a:p>
                  </a:txBody>
                  <a:tcPr marL="57150" marR="57150" marT="28575" marB="28575"/>
                </a:tc>
                <a:extLst>
                  <a:ext uri="{0D108BD9-81ED-4DB2-BD59-A6C34878D82A}">
                    <a16:rowId xmlns:a16="http://schemas.microsoft.com/office/drawing/2014/main" val="10003"/>
                  </a:ext>
                </a:extLst>
              </a:tr>
              <a:tr h="281425">
                <a:tc>
                  <a:txBody>
                    <a:bodyPr/>
                    <a:lstStyle/>
                    <a:p>
                      <a:pPr marL="0" marR="0" lvl="0" indent="0" algn="l" rtl="0">
                        <a:spcBef>
                          <a:spcPts val="0"/>
                        </a:spcBef>
                        <a:spcAft>
                          <a:spcPts val="0"/>
                        </a:spcAft>
                        <a:buClr>
                          <a:schemeClr val="dk1"/>
                        </a:buClr>
                        <a:buSzPts val="1400"/>
                        <a:buFont typeface="Arial"/>
                        <a:buNone/>
                      </a:pPr>
                      <a:r>
                        <a:rPr lang="en" sz="1400" u="none" strike="noStrike" cap="none"/>
                        <a:t>Zin</a:t>
                      </a:r>
                      <a:endParaRPr sz="2100" u="none" strike="noStrike" cap="none"/>
                    </a:p>
                  </a:txBody>
                  <a:tcPr marL="57150" marR="57150" marT="28575" marB="28575"/>
                </a:tc>
                <a:tc>
                  <a:txBody>
                    <a:bodyPr/>
                    <a:lstStyle/>
                    <a:p>
                      <a:pPr marL="0" marR="0" lvl="0" indent="0" algn="l" rtl="0">
                        <a:spcBef>
                          <a:spcPts val="0"/>
                        </a:spcBef>
                        <a:spcAft>
                          <a:spcPts val="0"/>
                        </a:spcAft>
                        <a:buClr>
                          <a:schemeClr val="dk1"/>
                        </a:buClr>
                        <a:buSzPts val="1400"/>
                        <a:buFont typeface="Arial"/>
                        <a:buNone/>
                      </a:pPr>
                      <a:r>
                        <a:rPr lang="en" sz="1400" u="none" strike="noStrike" cap="none"/>
                        <a:t>30MΩ</a:t>
                      </a:r>
                      <a:endParaRPr sz="2100" u="none" strike="noStrike" cap="none"/>
                    </a:p>
                  </a:txBody>
                  <a:tcPr marL="57150" marR="57150" marT="28575" marB="28575"/>
                </a:tc>
                <a:extLst>
                  <a:ext uri="{0D108BD9-81ED-4DB2-BD59-A6C34878D82A}">
                    <a16:rowId xmlns:a16="http://schemas.microsoft.com/office/drawing/2014/main" val="10004"/>
                  </a:ext>
                </a:extLst>
              </a:tr>
              <a:tr h="281425">
                <a:tc>
                  <a:txBody>
                    <a:bodyPr/>
                    <a:lstStyle/>
                    <a:p>
                      <a:pPr marL="0" marR="0" lvl="0" indent="0" algn="l" rtl="0">
                        <a:spcBef>
                          <a:spcPts val="0"/>
                        </a:spcBef>
                        <a:spcAft>
                          <a:spcPts val="0"/>
                        </a:spcAft>
                        <a:buClr>
                          <a:schemeClr val="dk1"/>
                        </a:buClr>
                        <a:buSzPts val="1400"/>
                        <a:buFont typeface="Arial"/>
                        <a:buNone/>
                      </a:pPr>
                      <a:r>
                        <a:rPr lang="en" sz="1400" u="none" strike="noStrike" cap="none"/>
                        <a:t>Offset Voltage</a:t>
                      </a:r>
                      <a:endParaRPr sz="2100" u="none" strike="noStrike" cap="none"/>
                    </a:p>
                  </a:txBody>
                  <a:tcPr marL="57150" marR="57150" marT="28575" marB="28575"/>
                </a:tc>
                <a:tc>
                  <a:txBody>
                    <a:bodyPr/>
                    <a:lstStyle/>
                    <a:p>
                      <a:pPr marL="0" marR="0" lvl="0" indent="0" algn="l" rtl="0">
                        <a:spcBef>
                          <a:spcPts val="0"/>
                        </a:spcBef>
                        <a:spcAft>
                          <a:spcPts val="0"/>
                        </a:spcAft>
                        <a:buClr>
                          <a:schemeClr val="dk1"/>
                        </a:buClr>
                        <a:buSzPts val="1400"/>
                        <a:buFont typeface="Arial"/>
                        <a:buNone/>
                      </a:pPr>
                      <a:r>
                        <a:rPr lang="en" sz="1400" u="none" strike="noStrike" cap="none"/>
                        <a:t>1uV</a:t>
                      </a:r>
                      <a:endParaRPr sz="2100" u="none" strike="noStrike" cap="none"/>
                    </a:p>
                  </a:txBody>
                  <a:tcPr marL="57150" marR="57150" marT="28575" marB="28575"/>
                </a:tc>
                <a:extLst>
                  <a:ext uri="{0D108BD9-81ED-4DB2-BD59-A6C34878D82A}">
                    <a16:rowId xmlns:a16="http://schemas.microsoft.com/office/drawing/2014/main" val="10005"/>
                  </a:ext>
                </a:extLst>
              </a:tr>
              <a:tr h="281425">
                <a:tc>
                  <a:txBody>
                    <a:bodyPr/>
                    <a:lstStyle/>
                    <a:p>
                      <a:pPr marL="0" marR="0" lvl="0" indent="0" algn="l" rtl="0">
                        <a:spcBef>
                          <a:spcPts val="0"/>
                        </a:spcBef>
                        <a:spcAft>
                          <a:spcPts val="0"/>
                        </a:spcAft>
                        <a:buClr>
                          <a:schemeClr val="dk1"/>
                        </a:buClr>
                        <a:buSzPts val="1400"/>
                        <a:buFont typeface="Arial"/>
                        <a:buNone/>
                      </a:pPr>
                      <a:r>
                        <a:rPr lang="en" sz="1400" u="none" strike="noStrike" cap="none"/>
                        <a:t>Noise (0.1-10 Hz)</a:t>
                      </a:r>
                      <a:endParaRPr sz="2100" u="none" strike="noStrike" cap="none"/>
                    </a:p>
                  </a:txBody>
                  <a:tcPr marL="57150" marR="57150" marT="28575" marB="28575"/>
                </a:tc>
                <a:tc>
                  <a:txBody>
                    <a:bodyPr/>
                    <a:lstStyle/>
                    <a:p>
                      <a:pPr marL="0" marR="0" lvl="0" indent="0" algn="l" rtl="0">
                        <a:spcBef>
                          <a:spcPts val="0"/>
                        </a:spcBef>
                        <a:spcAft>
                          <a:spcPts val="0"/>
                        </a:spcAft>
                        <a:buClr>
                          <a:schemeClr val="dk1"/>
                        </a:buClr>
                        <a:buSzPts val="1400"/>
                        <a:buFont typeface="Arial"/>
                        <a:buNone/>
                      </a:pPr>
                      <a:r>
                        <a:rPr lang="en" sz="1400" u="none" strike="noStrike" cap="none"/>
                        <a:t>10uVrms</a:t>
                      </a:r>
                      <a:endParaRPr sz="2100" u="none" strike="noStrike" cap="none"/>
                    </a:p>
                  </a:txBody>
                  <a:tcPr marL="57150" marR="57150" marT="28575" marB="28575"/>
                </a:tc>
                <a:extLst>
                  <a:ext uri="{0D108BD9-81ED-4DB2-BD59-A6C34878D82A}">
                    <a16:rowId xmlns:a16="http://schemas.microsoft.com/office/drawing/2014/main" val="10006"/>
                  </a:ext>
                </a:extLst>
              </a:tr>
              <a:tr h="281425">
                <a:tc>
                  <a:txBody>
                    <a:bodyPr/>
                    <a:lstStyle/>
                    <a:p>
                      <a:pPr marL="0" marR="0" lvl="0" indent="0" algn="l" rtl="0">
                        <a:spcBef>
                          <a:spcPts val="0"/>
                        </a:spcBef>
                        <a:spcAft>
                          <a:spcPts val="0"/>
                        </a:spcAft>
                        <a:buClr>
                          <a:schemeClr val="dk1"/>
                        </a:buClr>
                        <a:buSzPts val="1400"/>
                        <a:buFont typeface="Arial"/>
                        <a:buNone/>
                      </a:pPr>
                      <a:r>
                        <a:rPr lang="en" sz="1400" u="none" strike="noStrike" cap="none"/>
                        <a:t>CMRR</a:t>
                      </a:r>
                      <a:endParaRPr sz="2100" u="none" strike="noStrike" cap="none"/>
                    </a:p>
                  </a:txBody>
                  <a:tcPr marL="57150" marR="57150" marT="28575" marB="28575"/>
                </a:tc>
                <a:tc>
                  <a:txBody>
                    <a:bodyPr/>
                    <a:lstStyle/>
                    <a:p>
                      <a:pPr marL="0" marR="0" lvl="0" indent="0" algn="l" rtl="0">
                        <a:spcBef>
                          <a:spcPts val="0"/>
                        </a:spcBef>
                        <a:spcAft>
                          <a:spcPts val="0"/>
                        </a:spcAft>
                        <a:buClr>
                          <a:schemeClr val="dk1"/>
                        </a:buClr>
                        <a:buSzPts val="1400"/>
                        <a:buFont typeface="Arial"/>
                        <a:buNone/>
                      </a:pPr>
                      <a:r>
                        <a:rPr lang="en" sz="1400" u="none" strike="noStrike" cap="none"/>
                        <a:t>&gt;100dB</a:t>
                      </a:r>
                      <a:endParaRPr sz="2100" u="none" strike="noStrike" cap="none"/>
                    </a:p>
                  </a:txBody>
                  <a:tcPr marL="57150" marR="57150" marT="28575" marB="28575"/>
                </a:tc>
                <a:extLst>
                  <a:ext uri="{0D108BD9-81ED-4DB2-BD59-A6C34878D82A}">
                    <a16:rowId xmlns:a16="http://schemas.microsoft.com/office/drawing/2014/main" val="10007"/>
                  </a:ext>
                </a:extLst>
              </a:tr>
              <a:tr h="281425">
                <a:tc>
                  <a:txBody>
                    <a:bodyPr/>
                    <a:lstStyle/>
                    <a:p>
                      <a:pPr marL="0" marR="0" lvl="0" indent="0" algn="l" rtl="0">
                        <a:spcBef>
                          <a:spcPts val="0"/>
                        </a:spcBef>
                        <a:spcAft>
                          <a:spcPts val="0"/>
                        </a:spcAft>
                        <a:buClr>
                          <a:schemeClr val="dk1"/>
                        </a:buClr>
                        <a:buSzPts val="1400"/>
                        <a:buFont typeface="Arial"/>
                        <a:buNone/>
                      </a:pPr>
                      <a:r>
                        <a:rPr lang="en" sz="1400" u="none" strike="noStrike" cap="none"/>
                        <a:t>PSRR</a:t>
                      </a:r>
                      <a:endParaRPr sz="2100" u="none" strike="noStrike" cap="none"/>
                    </a:p>
                  </a:txBody>
                  <a:tcPr marL="57150" marR="57150" marT="28575" marB="28575"/>
                </a:tc>
                <a:tc>
                  <a:txBody>
                    <a:bodyPr/>
                    <a:lstStyle/>
                    <a:p>
                      <a:pPr marL="0" marR="0" lvl="0" indent="0" algn="l" rtl="0">
                        <a:spcBef>
                          <a:spcPts val="0"/>
                        </a:spcBef>
                        <a:spcAft>
                          <a:spcPts val="0"/>
                        </a:spcAft>
                        <a:buClr>
                          <a:schemeClr val="dk1"/>
                        </a:buClr>
                        <a:buSzPts val="1400"/>
                        <a:buFont typeface="Arial"/>
                        <a:buNone/>
                      </a:pPr>
                      <a:r>
                        <a:rPr lang="en" sz="1400" u="none" strike="noStrike" cap="none"/>
                        <a:t>&gt;90dB</a:t>
                      </a:r>
                      <a:endParaRPr sz="2100" u="none" strike="noStrike" cap="none"/>
                    </a:p>
                  </a:txBody>
                  <a:tcPr marL="57150" marR="57150" marT="28575" marB="28575"/>
                </a:tc>
                <a:extLst>
                  <a:ext uri="{0D108BD9-81ED-4DB2-BD59-A6C34878D82A}">
                    <a16:rowId xmlns:a16="http://schemas.microsoft.com/office/drawing/2014/main" val="10008"/>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5"/>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t>CCIA Schematics</a:t>
            </a:r>
            <a:endParaRPr/>
          </a:p>
        </p:txBody>
      </p:sp>
      <p:sp>
        <p:nvSpPr>
          <p:cNvPr id="228" name="Google Shape;228;p35"/>
          <p:cNvSpPr txBox="1">
            <a:spLocks noGrp="1"/>
          </p:cNvSpPr>
          <p:nvPr>
            <p:ph type="body" idx="1"/>
          </p:nvPr>
        </p:nvSpPr>
        <p:spPr>
          <a:xfrm>
            <a:off x="437746" y="4237265"/>
            <a:ext cx="8251487" cy="395457"/>
          </a:xfrm>
          <a:prstGeom prst="rect">
            <a:avLst/>
          </a:prstGeom>
          <a:noFill/>
          <a:ln w="2857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254000" lvl="0" indent="-247650" algn="l" rtl="0">
              <a:lnSpc>
                <a:spcPct val="90000"/>
              </a:lnSpc>
              <a:spcBef>
                <a:spcPts val="0"/>
              </a:spcBef>
              <a:spcAft>
                <a:spcPts val="0"/>
              </a:spcAft>
              <a:buClr>
                <a:schemeClr val="dk1"/>
              </a:buClr>
              <a:buSzPts val="1500"/>
              <a:buFont typeface="Noto Sans Symbols"/>
              <a:buChar char="▪"/>
            </a:pPr>
            <a:r>
              <a:rPr lang="en"/>
              <a:t>Top level schematic of CCIA</a:t>
            </a:r>
            <a:endParaRPr/>
          </a:p>
        </p:txBody>
      </p:sp>
      <p:sp>
        <p:nvSpPr>
          <p:cNvPr id="229" name="Google Shape;229;p35"/>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13</a:t>
            </a:fld>
            <a:endParaRPr/>
          </a:p>
        </p:txBody>
      </p:sp>
      <p:pic>
        <p:nvPicPr>
          <p:cNvPr id="230" name="Google Shape;230;p35"/>
          <p:cNvPicPr preferRelativeResize="0"/>
          <p:nvPr/>
        </p:nvPicPr>
        <p:blipFill rotWithShape="1">
          <a:blip r:embed="rId3">
            <a:alphaModFix/>
          </a:blip>
          <a:srcRect/>
          <a:stretch/>
        </p:blipFill>
        <p:spPr>
          <a:xfrm>
            <a:off x="2563586" y="1051218"/>
            <a:ext cx="3306536" cy="304106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t>CCIA Schematics</a:t>
            </a:r>
            <a:endParaRPr/>
          </a:p>
        </p:txBody>
      </p:sp>
      <p:sp>
        <p:nvSpPr>
          <p:cNvPr id="236" name="Google Shape;236;p36"/>
          <p:cNvSpPr txBox="1">
            <a:spLocks noGrp="1"/>
          </p:cNvSpPr>
          <p:nvPr>
            <p:ph type="body" idx="1"/>
          </p:nvPr>
        </p:nvSpPr>
        <p:spPr>
          <a:xfrm>
            <a:off x="437746" y="3815674"/>
            <a:ext cx="8251487" cy="817048"/>
          </a:xfrm>
          <a:prstGeom prst="rect">
            <a:avLst/>
          </a:prstGeom>
          <a:noFill/>
          <a:ln w="2857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254000" lvl="0" indent="-247650" algn="l" rtl="0">
              <a:lnSpc>
                <a:spcPct val="90000"/>
              </a:lnSpc>
              <a:spcBef>
                <a:spcPts val="0"/>
              </a:spcBef>
              <a:spcAft>
                <a:spcPts val="0"/>
              </a:spcAft>
              <a:buClr>
                <a:schemeClr val="dk1"/>
              </a:buClr>
              <a:buSzPts val="1500"/>
              <a:buFont typeface="Noto Sans Symbols"/>
              <a:buChar char="▪"/>
            </a:pPr>
            <a:r>
              <a:rPr lang="en"/>
              <a:t>Schematic of instrumentation amplifier  </a:t>
            </a:r>
            <a:endParaRPr/>
          </a:p>
        </p:txBody>
      </p:sp>
      <p:sp>
        <p:nvSpPr>
          <p:cNvPr id="237" name="Google Shape;237;p36"/>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14</a:t>
            </a:fld>
            <a:endParaRPr/>
          </a:p>
        </p:txBody>
      </p:sp>
      <p:pic>
        <p:nvPicPr>
          <p:cNvPr id="238" name="Google Shape;238;p36"/>
          <p:cNvPicPr preferRelativeResize="0"/>
          <p:nvPr/>
        </p:nvPicPr>
        <p:blipFill rotWithShape="1">
          <a:blip r:embed="rId3">
            <a:alphaModFix/>
          </a:blip>
          <a:srcRect/>
          <a:stretch/>
        </p:blipFill>
        <p:spPr>
          <a:xfrm>
            <a:off x="2776935" y="1045686"/>
            <a:ext cx="4147400" cy="2618147"/>
          </a:xfrm>
          <a:prstGeom prst="rect">
            <a:avLst/>
          </a:prstGeom>
          <a:noFill/>
          <a:ln>
            <a:noFill/>
          </a:ln>
        </p:spPr>
      </p:pic>
      <p:pic>
        <p:nvPicPr>
          <p:cNvPr id="239" name="Google Shape;239;p36"/>
          <p:cNvPicPr preferRelativeResize="0"/>
          <p:nvPr/>
        </p:nvPicPr>
        <p:blipFill rotWithShape="1">
          <a:blip r:embed="rId4">
            <a:alphaModFix/>
          </a:blip>
          <a:srcRect/>
          <a:stretch/>
        </p:blipFill>
        <p:spPr>
          <a:xfrm>
            <a:off x="492382" y="1095673"/>
            <a:ext cx="2005919" cy="2336006"/>
          </a:xfrm>
          <a:prstGeom prst="rect">
            <a:avLst/>
          </a:prstGeom>
          <a:noFill/>
          <a:ln>
            <a:noFill/>
          </a:ln>
        </p:spPr>
      </p:pic>
      <p:sp>
        <p:nvSpPr>
          <p:cNvPr id="240" name="Google Shape;240;p36"/>
          <p:cNvSpPr/>
          <p:nvPr/>
        </p:nvSpPr>
        <p:spPr>
          <a:xfrm>
            <a:off x="831736" y="1265464"/>
            <a:ext cx="1387929" cy="996044"/>
          </a:xfrm>
          <a:prstGeom prst="rect">
            <a:avLst/>
          </a:prstGeom>
          <a:noFill/>
          <a:ln w="19050"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7"/>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t>CCIA Schematics</a:t>
            </a:r>
            <a:endParaRPr/>
          </a:p>
        </p:txBody>
      </p:sp>
      <p:sp>
        <p:nvSpPr>
          <p:cNvPr id="246" name="Google Shape;246;p37"/>
          <p:cNvSpPr txBox="1">
            <a:spLocks noGrp="1"/>
          </p:cNvSpPr>
          <p:nvPr>
            <p:ph type="body" idx="1"/>
          </p:nvPr>
        </p:nvSpPr>
        <p:spPr>
          <a:xfrm>
            <a:off x="437746" y="4120385"/>
            <a:ext cx="8251487" cy="512337"/>
          </a:xfrm>
          <a:prstGeom prst="rect">
            <a:avLst/>
          </a:prstGeom>
          <a:noFill/>
          <a:ln w="2857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254000" lvl="0" indent="-247650" algn="l" rtl="0">
              <a:lnSpc>
                <a:spcPct val="90000"/>
              </a:lnSpc>
              <a:spcBef>
                <a:spcPts val="0"/>
              </a:spcBef>
              <a:spcAft>
                <a:spcPts val="0"/>
              </a:spcAft>
              <a:buClr>
                <a:schemeClr val="dk1"/>
              </a:buClr>
              <a:buSzPts val="1500"/>
              <a:buFont typeface="Noto Sans Symbols"/>
              <a:buChar char="▪"/>
            </a:pPr>
            <a:r>
              <a:rPr lang="en"/>
              <a:t>Differential opamp with chopper and CMFB circuit</a:t>
            </a:r>
            <a:endParaRPr/>
          </a:p>
        </p:txBody>
      </p:sp>
      <p:sp>
        <p:nvSpPr>
          <p:cNvPr id="247" name="Google Shape;247;p37"/>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15</a:t>
            </a:fld>
            <a:endParaRPr/>
          </a:p>
        </p:txBody>
      </p:sp>
      <p:pic>
        <p:nvPicPr>
          <p:cNvPr id="248" name="Google Shape;248;p37"/>
          <p:cNvPicPr preferRelativeResize="0"/>
          <p:nvPr/>
        </p:nvPicPr>
        <p:blipFill rotWithShape="1">
          <a:blip r:embed="rId3">
            <a:alphaModFix/>
          </a:blip>
          <a:srcRect/>
          <a:stretch/>
        </p:blipFill>
        <p:spPr>
          <a:xfrm>
            <a:off x="4303889" y="1164151"/>
            <a:ext cx="3405429" cy="2828989"/>
          </a:xfrm>
          <a:prstGeom prst="rect">
            <a:avLst/>
          </a:prstGeom>
          <a:noFill/>
          <a:ln>
            <a:noFill/>
          </a:ln>
        </p:spPr>
      </p:pic>
      <p:pic>
        <p:nvPicPr>
          <p:cNvPr id="249" name="Google Shape;249;p37"/>
          <p:cNvPicPr preferRelativeResize="0"/>
          <p:nvPr/>
        </p:nvPicPr>
        <p:blipFill rotWithShape="1">
          <a:blip r:embed="rId4">
            <a:alphaModFix/>
          </a:blip>
          <a:srcRect/>
          <a:stretch/>
        </p:blipFill>
        <p:spPr>
          <a:xfrm>
            <a:off x="706210" y="1593056"/>
            <a:ext cx="3384296" cy="2132811"/>
          </a:xfrm>
          <a:prstGeom prst="rect">
            <a:avLst/>
          </a:prstGeom>
          <a:noFill/>
          <a:ln>
            <a:noFill/>
          </a:ln>
        </p:spPr>
      </p:pic>
      <p:sp>
        <p:nvSpPr>
          <p:cNvPr id="250" name="Google Shape;250;p37"/>
          <p:cNvSpPr/>
          <p:nvPr/>
        </p:nvSpPr>
        <p:spPr>
          <a:xfrm>
            <a:off x="2196193" y="2562697"/>
            <a:ext cx="800100" cy="996043"/>
          </a:xfrm>
          <a:prstGeom prst="rect">
            <a:avLst/>
          </a:prstGeom>
          <a:noFill/>
          <a:ln w="19050"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8"/>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t>CCIA Schematics</a:t>
            </a:r>
            <a:endParaRPr/>
          </a:p>
        </p:txBody>
      </p:sp>
      <p:sp>
        <p:nvSpPr>
          <p:cNvPr id="256" name="Google Shape;256;p38"/>
          <p:cNvSpPr txBox="1">
            <a:spLocks noGrp="1"/>
          </p:cNvSpPr>
          <p:nvPr>
            <p:ph type="body" idx="1"/>
          </p:nvPr>
        </p:nvSpPr>
        <p:spPr>
          <a:xfrm>
            <a:off x="437746" y="4113645"/>
            <a:ext cx="8251487" cy="519076"/>
          </a:xfrm>
          <a:prstGeom prst="rect">
            <a:avLst/>
          </a:prstGeom>
          <a:noFill/>
          <a:ln w="2857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254000" lvl="0" indent="-247650" algn="l" rtl="0">
              <a:lnSpc>
                <a:spcPct val="90000"/>
              </a:lnSpc>
              <a:spcBef>
                <a:spcPts val="0"/>
              </a:spcBef>
              <a:spcAft>
                <a:spcPts val="0"/>
              </a:spcAft>
              <a:buClr>
                <a:schemeClr val="dk1"/>
              </a:buClr>
              <a:buSzPts val="1500"/>
              <a:buFont typeface="Noto Sans Symbols"/>
              <a:buChar char="▪"/>
            </a:pPr>
            <a:r>
              <a:rPr lang="en"/>
              <a:t>Transistor level schematic of g</a:t>
            </a:r>
            <a:r>
              <a:rPr lang="en" baseline="-25000"/>
              <a:t>m1</a:t>
            </a:r>
            <a:r>
              <a:rPr lang="en"/>
              <a:t>, g</a:t>
            </a:r>
            <a:r>
              <a:rPr lang="en" baseline="-25000"/>
              <a:t>m2</a:t>
            </a:r>
            <a:r>
              <a:rPr lang="en"/>
              <a:t> and CMFB stages for the instrumentation amplifier  </a:t>
            </a:r>
            <a:endParaRPr/>
          </a:p>
        </p:txBody>
      </p:sp>
      <p:sp>
        <p:nvSpPr>
          <p:cNvPr id="257" name="Google Shape;257;p38"/>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16</a:t>
            </a:fld>
            <a:endParaRPr/>
          </a:p>
        </p:txBody>
      </p:sp>
      <p:pic>
        <p:nvPicPr>
          <p:cNvPr id="258" name="Google Shape;258;p38"/>
          <p:cNvPicPr preferRelativeResize="0"/>
          <p:nvPr/>
        </p:nvPicPr>
        <p:blipFill rotWithShape="1">
          <a:blip r:embed="rId3">
            <a:alphaModFix/>
          </a:blip>
          <a:srcRect/>
          <a:stretch/>
        </p:blipFill>
        <p:spPr>
          <a:xfrm>
            <a:off x="5890023" y="1439325"/>
            <a:ext cx="2341191" cy="2264848"/>
          </a:xfrm>
          <a:prstGeom prst="rect">
            <a:avLst/>
          </a:prstGeom>
          <a:noFill/>
          <a:ln>
            <a:noFill/>
          </a:ln>
        </p:spPr>
      </p:pic>
      <p:pic>
        <p:nvPicPr>
          <p:cNvPr id="259" name="Google Shape;259;p38"/>
          <p:cNvPicPr preferRelativeResize="0"/>
          <p:nvPr/>
        </p:nvPicPr>
        <p:blipFill rotWithShape="1">
          <a:blip r:embed="rId4">
            <a:alphaModFix/>
          </a:blip>
          <a:srcRect/>
          <a:stretch/>
        </p:blipFill>
        <p:spPr>
          <a:xfrm>
            <a:off x="3262142" y="1439325"/>
            <a:ext cx="2341191" cy="2264848"/>
          </a:xfrm>
          <a:prstGeom prst="rect">
            <a:avLst/>
          </a:prstGeom>
          <a:noFill/>
          <a:ln>
            <a:noFill/>
          </a:ln>
        </p:spPr>
      </p:pic>
      <p:pic>
        <p:nvPicPr>
          <p:cNvPr id="260" name="Google Shape;260;p38"/>
          <p:cNvPicPr preferRelativeResize="0"/>
          <p:nvPr/>
        </p:nvPicPr>
        <p:blipFill rotWithShape="1">
          <a:blip r:embed="rId5">
            <a:alphaModFix/>
          </a:blip>
          <a:srcRect/>
          <a:stretch/>
        </p:blipFill>
        <p:spPr>
          <a:xfrm>
            <a:off x="434156" y="1439326"/>
            <a:ext cx="2341191" cy="2264848"/>
          </a:xfrm>
          <a:prstGeom prst="rect">
            <a:avLst/>
          </a:prstGeom>
          <a:noFill/>
          <a:ln>
            <a:noFill/>
          </a:ln>
        </p:spPr>
      </p:pic>
      <p:sp>
        <p:nvSpPr>
          <p:cNvPr id="261" name="Google Shape;261;p38"/>
          <p:cNvSpPr txBox="1"/>
          <p:nvPr/>
        </p:nvSpPr>
        <p:spPr>
          <a:xfrm>
            <a:off x="1256749" y="1121150"/>
            <a:ext cx="696005" cy="276999"/>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Clr>
                <a:schemeClr val="dk1"/>
              </a:buClr>
              <a:buSzPts val="1400"/>
              <a:buFont typeface="Arial"/>
              <a:buNone/>
            </a:pPr>
            <a:r>
              <a:rPr lang="en" sz="1400" b="1" i="0" u="sng">
                <a:solidFill>
                  <a:schemeClr val="dk1"/>
                </a:solidFill>
                <a:latin typeface="Arial"/>
                <a:ea typeface="Arial"/>
                <a:cs typeface="Arial"/>
                <a:sym typeface="Arial"/>
              </a:rPr>
              <a:t>g</a:t>
            </a:r>
            <a:r>
              <a:rPr lang="en" sz="1400" b="1" i="0" u="none" strike="noStrike" baseline="-25000">
                <a:solidFill>
                  <a:schemeClr val="dk1"/>
                </a:solidFill>
                <a:latin typeface="Arial"/>
                <a:ea typeface="Arial"/>
                <a:cs typeface="Arial"/>
                <a:sym typeface="Arial"/>
              </a:rPr>
              <a:t>m1</a:t>
            </a:r>
            <a:endParaRPr sz="1400">
              <a:solidFill>
                <a:schemeClr val="dk1"/>
              </a:solidFill>
              <a:latin typeface="Arial"/>
              <a:ea typeface="Arial"/>
              <a:cs typeface="Arial"/>
              <a:sym typeface="Arial"/>
            </a:endParaRPr>
          </a:p>
        </p:txBody>
      </p:sp>
      <p:sp>
        <p:nvSpPr>
          <p:cNvPr id="262" name="Google Shape;262;p38"/>
          <p:cNvSpPr txBox="1"/>
          <p:nvPr/>
        </p:nvSpPr>
        <p:spPr>
          <a:xfrm>
            <a:off x="4008113" y="1121150"/>
            <a:ext cx="696005" cy="276999"/>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Clr>
                <a:schemeClr val="dk1"/>
              </a:buClr>
              <a:buSzPts val="1400"/>
              <a:buFont typeface="Arial"/>
              <a:buNone/>
            </a:pPr>
            <a:r>
              <a:rPr lang="en" sz="1400" b="1" i="0" u="sng">
                <a:solidFill>
                  <a:schemeClr val="dk1"/>
                </a:solidFill>
                <a:latin typeface="Arial"/>
                <a:ea typeface="Arial"/>
                <a:cs typeface="Arial"/>
                <a:sym typeface="Arial"/>
              </a:rPr>
              <a:t>g</a:t>
            </a:r>
            <a:r>
              <a:rPr lang="en" sz="1400" b="1" i="0" u="none" strike="noStrike" baseline="-25000">
                <a:solidFill>
                  <a:schemeClr val="dk1"/>
                </a:solidFill>
                <a:latin typeface="Arial"/>
                <a:ea typeface="Arial"/>
                <a:cs typeface="Arial"/>
                <a:sym typeface="Arial"/>
              </a:rPr>
              <a:t>m2</a:t>
            </a:r>
            <a:endParaRPr sz="1400">
              <a:solidFill>
                <a:schemeClr val="dk1"/>
              </a:solidFill>
              <a:latin typeface="Arial"/>
              <a:ea typeface="Arial"/>
              <a:cs typeface="Arial"/>
              <a:sym typeface="Arial"/>
            </a:endParaRPr>
          </a:p>
        </p:txBody>
      </p:sp>
      <p:sp>
        <p:nvSpPr>
          <p:cNvPr id="263" name="Google Shape;263;p38"/>
          <p:cNvSpPr txBox="1"/>
          <p:nvPr/>
        </p:nvSpPr>
        <p:spPr>
          <a:xfrm>
            <a:off x="6906435" y="1121150"/>
            <a:ext cx="696005" cy="276999"/>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Clr>
                <a:schemeClr val="dk1"/>
              </a:buClr>
              <a:buSzPts val="1400"/>
              <a:buFont typeface="Arial"/>
              <a:buNone/>
            </a:pPr>
            <a:r>
              <a:rPr lang="en" sz="1400" b="1" u="sng">
                <a:solidFill>
                  <a:schemeClr val="dk1"/>
                </a:solidFill>
                <a:latin typeface="Arial"/>
                <a:ea typeface="Arial"/>
                <a:cs typeface="Arial"/>
                <a:sym typeface="Arial"/>
              </a:rPr>
              <a:t>CMFB</a:t>
            </a:r>
            <a:endParaRPr sz="140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9"/>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t>CCIA Schematics</a:t>
            </a:r>
            <a:endParaRPr/>
          </a:p>
        </p:txBody>
      </p:sp>
      <p:sp>
        <p:nvSpPr>
          <p:cNvPr id="269" name="Google Shape;269;p39"/>
          <p:cNvSpPr txBox="1">
            <a:spLocks noGrp="1"/>
          </p:cNvSpPr>
          <p:nvPr>
            <p:ph type="body" idx="1"/>
          </p:nvPr>
        </p:nvSpPr>
        <p:spPr>
          <a:xfrm>
            <a:off x="437746" y="4224468"/>
            <a:ext cx="8251487" cy="408253"/>
          </a:xfrm>
          <a:prstGeom prst="rect">
            <a:avLst/>
          </a:prstGeom>
          <a:noFill/>
          <a:ln w="2857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254000" lvl="0" indent="-247650" algn="l" rtl="0">
              <a:lnSpc>
                <a:spcPct val="90000"/>
              </a:lnSpc>
              <a:spcBef>
                <a:spcPts val="0"/>
              </a:spcBef>
              <a:spcAft>
                <a:spcPts val="0"/>
              </a:spcAft>
              <a:buClr>
                <a:schemeClr val="dk1"/>
              </a:buClr>
              <a:buSzPts val="1500"/>
              <a:buFont typeface="Noto Sans Symbols"/>
              <a:buChar char="▪"/>
            </a:pPr>
            <a:r>
              <a:rPr lang="en"/>
              <a:t>Top level schematic of DC servo loop </a:t>
            </a:r>
            <a:endParaRPr/>
          </a:p>
        </p:txBody>
      </p:sp>
      <p:sp>
        <p:nvSpPr>
          <p:cNvPr id="270" name="Google Shape;270;p39"/>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17</a:t>
            </a:fld>
            <a:endParaRPr/>
          </a:p>
        </p:txBody>
      </p:sp>
      <p:pic>
        <p:nvPicPr>
          <p:cNvPr id="271" name="Google Shape;271;p39"/>
          <p:cNvPicPr preferRelativeResize="0"/>
          <p:nvPr/>
        </p:nvPicPr>
        <p:blipFill rotWithShape="1">
          <a:blip r:embed="rId3">
            <a:alphaModFix/>
          </a:blip>
          <a:srcRect/>
          <a:stretch/>
        </p:blipFill>
        <p:spPr>
          <a:xfrm>
            <a:off x="3494688" y="1209365"/>
            <a:ext cx="4955348" cy="2733985"/>
          </a:xfrm>
          <a:prstGeom prst="rect">
            <a:avLst/>
          </a:prstGeom>
          <a:noFill/>
          <a:ln>
            <a:noFill/>
          </a:ln>
        </p:spPr>
      </p:pic>
      <p:pic>
        <p:nvPicPr>
          <p:cNvPr id="272" name="Google Shape;272;p39"/>
          <p:cNvPicPr preferRelativeResize="0"/>
          <p:nvPr/>
        </p:nvPicPr>
        <p:blipFill rotWithShape="1">
          <a:blip r:embed="rId4">
            <a:alphaModFix/>
          </a:blip>
          <a:srcRect/>
          <a:stretch/>
        </p:blipFill>
        <p:spPr>
          <a:xfrm>
            <a:off x="835282" y="1209365"/>
            <a:ext cx="2005919" cy="2336006"/>
          </a:xfrm>
          <a:prstGeom prst="rect">
            <a:avLst/>
          </a:prstGeom>
          <a:noFill/>
          <a:ln>
            <a:noFill/>
          </a:ln>
        </p:spPr>
      </p:pic>
      <p:sp>
        <p:nvSpPr>
          <p:cNvPr id="273" name="Google Shape;273;p39"/>
          <p:cNvSpPr/>
          <p:nvPr/>
        </p:nvSpPr>
        <p:spPr>
          <a:xfrm>
            <a:off x="1332565" y="2483234"/>
            <a:ext cx="1011350" cy="750507"/>
          </a:xfrm>
          <a:prstGeom prst="rect">
            <a:avLst/>
          </a:prstGeom>
          <a:noFill/>
          <a:ln w="19050"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40"/>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p>
            <a:pPr marL="0" lvl="0" indent="0" algn="ctr" rtl="0">
              <a:spcBef>
                <a:spcPts val="0"/>
              </a:spcBef>
              <a:spcAft>
                <a:spcPts val="0"/>
              </a:spcAft>
              <a:buClr>
                <a:schemeClr val="dk1"/>
              </a:buClr>
              <a:buSzPts val="2400"/>
              <a:buFont typeface="Arial"/>
              <a:buNone/>
            </a:pPr>
            <a:r>
              <a:rPr lang="en"/>
              <a:t>CCIA Schematics</a:t>
            </a:r>
            <a:endParaRPr/>
          </a:p>
        </p:txBody>
      </p:sp>
      <p:sp>
        <p:nvSpPr>
          <p:cNvPr id="279" name="Google Shape;279;p40"/>
          <p:cNvSpPr txBox="1">
            <a:spLocks noGrp="1"/>
          </p:cNvSpPr>
          <p:nvPr>
            <p:ph type="body" idx="1"/>
          </p:nvPr>
        </p:nvSpPr>
        <p:spPr>
          <a:xfrm>
            <a:off x="437746" y="4171950"/>
            <a:ext cx="8251487" cy="460771"/>
          </a:xfrm>
          <a:prstGeom prst="rect">
            <a:avLst/>
          </a:prstGeom>
          <a:noFill/>
          <a:ln w="2857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254000" lvl="0" indent="-247650" algn="l" rtl="0">
              <a:lnSpc>
                <a:spcPct val="90000"/>
              </a:lnSpc>
              <a:spcBef>
                <a:spcPts val="0"/>
              </a:spcBef>
              <a:spcAft>
                <a:spcPts val="0"/>
              </a:spcAft>
              <a:buClr>
                <a:schemeClr val="dk1"/>
              </a:buClr>
              <a:buSzPts val="1500"/>
              <a:buFont typeface="Noto Sans Symbols"/>
              <a:buChar char="▪"/>
            </a:pPr>
            <a:r>
              <a:rPr lang="en"/>
              <a:t>Schematic of the OTA used for the DSL integrator </a:t>
            </a:r>
            <a:endParaRPr/>
          </a:p>
        </p:txBody>
      </p:sp>
      <p:sp>
        <p:nvSpPr>
          <p:cNvPr id="280" name="Google Shape;280;p40"/>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18</a:t>
            </a:fld>
            <a:endParaRPr/>
          </a:p>
        </p:txBody>
      </p:sp>
      <p:pic>
        <p:nvPicPr>
          <p:cNvPr id="281" name="Google Shape;281;p40"/>
          <p:cNvPicPr preferRelativeResize="0"/>
          <p:nvPr/>
        </p:nvPicPr>
        <p:blipFill rotWithShape="1">
          <a:blip r:embed="rId3">
            <a:alphaModFix/>
          </a:blip>
          <a:srcRect/>
          <a:stretch/>
        </p:blipFill>
        <p:spPr>
          <a:xfrm>
            <a:off x="437746" y="1508674"/>
            <a:ext cx="3448454" cy="2124595"/>
          </a:xfrm>
          <a:prstGeom prst="rect">
            <a:avLst/>
          </a:prstGeom>
          <a:noFill/>
          <a:ln>
            <a:noFill/>
          </a:ln>
        </p:spPr>
      </p:pic>
      <p:pic>
        <p:nvPicPr>
          <p:cNvPr id="282" name="Google Shape;282;p40"/>
          <p:cNvPicPr preferRelativeResize="0"/>
          <p:nvPr/>
        </p:nvPicPr>
        <p:blipFill rotWithShape="1">
          <a:blip r:embed="rId4">
            <a:alphaModFix/>
          </a:blip>
          <a:srcRect/>
          <a:stretch/>
        </p:blipFill>
        <p:spPr>
          <a:xfrm>
            <a:off x="4261757" y="1296480"/>
            <a:ext cx="4313174" cy="2550540"/>
          </a:xfrm>
          <a:prstGeom prst="rect">
            <a:avLst/>
          </a:prstGeom>
          <a:noFill/>
          <a:ln>
            <a:noFill/>
          </a:ln>
        </p:spPr>
      </p:pic>
      <p:sp>
        <p:nvSpPr>
          <p:cNvPr id="283" name="Google Shape;283;p40"/>
          <p:cNvSpPr/>
          <p:nvPr/>
        </p:nvSpPr>
        <p:spPr>
          <a:xfrm>
            <a:off x="1381551" y="2205647"/>
            <a:ext cx="1108556" cy="986588"/>
          </a:xfrm>
          <a:prstGeom prst="rect">
            <a:avLst/>
          </a:prstGeom>
          <a:noFill/>
          <a:ln w="19050"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1"/>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t>CCIA Schematics</a:t>
            </a:r>
            <a:endParaRPr/>
          </a:p>
        </p:txBody>
      </p:sp>
      <p:sp>
        <p:nvSpPr>
          <p:cNvPr id="289" name="Google Shape;289;p41"/>
          <p:cNvSpPr txBox="1">
            <a:spLocks noGrp="1"/>
          </p:cNvSpPr>
          <p:nvPr>
            <p:ph type="body" idx="1"/>
          </p:nvPr>
        </p:nvSpPr>
        <p:spPr>
          <a:xfrm>
            <a:off x="437746" y="4180115"/>
            <a:ext cx="8251487" cy="452607"/>
          </a:xfrm>
          <a:prstGeom prst="rect">
            <a:avLst/>
          </a:prstGeom>
          <a:noFill/>
          <a:ln w="2857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254000" lvl="0" indent="-247650" algn="l" rtl="0">
              <a:lnSpc>
                <a:spcPct val="90000"/>
              </a:lnSpc>
              <a:spcBef>
                <a:spcPts val="0"/>
              </a:spcBef>
              <a:spcAft>
                <a:spcPts val="0"/>
              </a:spcAft>
              <a:buClr>
                <a:schemeClr val="dk1"/>
              </a:buClr>
              <a:buSzPts val="1500"/>
              <a:buFont typeface="Noto Sans Symbols"/>
              <a:buChar char="▪"/>
            </a:pPr>
            <a:r>
              <a:rPr lang="en"/>
              <a:t>Transistor level schematic of the OTA and CMFB </a:t>
            </a:r>
            <a:endParaRPr/>
          </a:p>
        </p:txBody>
      </p:sp>
      <p:sp>
        <p:nvSpPr>
          <p:cNvPr id="290" name="Google Shape;290;p41"/>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19</a:t>
            </a:fld>
            <a:endParaRPr/>
          </a:p>
        </p:txBody>
      </p:sp>
      <p:pic>
        <p:nvPicPr>
          <p:cNvPr id="291" name="Google Shape;291;p41"/>
          <p:cNvPicPr preferRelativeResize="0"/>
          <p:nvPr/>
        </p:nvPicPr>
        <p:blipFill rotWithShape="1">
          <a:blip r:embed="rId3">
            <a:alphaModFix/>
          </a:blip>
          <a:srcRect/>
          <a:stretch/>
        </p:blipFill>
        <p:spPr>
          <a:xfrm>
            <a:off x="978184" y="1361059"/>
            <a:ext cx="3236662" cy="2421382"/>
          </a:xfrm>
          <a:prstGeom prst="rect">
            <a:avLst/>
          </a:prstGeom>
          <a:noFill/>
          <a:ln>
            <a:noFill/>
          </a:ln>
        </p:spPr>
      </p:pic>
      <p:pic>
        <p:nvPicPr>
          <p:cNvPr id="292" name="Google Shape;292;p41"/>
          <p:cNvPicPr preferRelativeResize="0"/>
          <p:nvPr/>
        </p:nvPicPr>
        <p:blipFill rotWithShape="1">
          <a:blip r:embed="rId4">
            <a:alphaModFix/>
          </a:blip>
          <a:srcRect/>
          <a:stretch/>
        </p:blipFill>
        <p:spPr>
          <a:xfrm>
            <a:off x="4929156" y="1361059"/>
            <a:ext cx="2889699" cy="2421382"/>
          </a:xfrm>
          <a:prstGeom prst="rect">
            <a:avLst/>
          </a:prstGeom>
          <a:noFill/>
          <a:ln>
            <a:noFill/>
          </a:ln>
        </p:spPr>
      </p:pic>
      <p:pic>
        <p:nvPicPr>
          <p:cNvPr id="293" name="Google Shape;293;p41"/>
          <p:cNvPicPr preferRelativeResize="0"/>
          <p:nvPr/>
        </p:nvPicPr>
        <p:blipFill rotWithShape="1">
          <a:blip r:embed="rId5">
            <a:alphaModFix/>
          </a:blip>
          <a:srcRect/>
          <a:stretch/>
        </p:blipFill>
        <p:spPr>
          <a:xfrm>
            <a:off x="6027533" y="963385"/>
            <a:ext cx="692944" cy="371475"/>
          </a:xfrm>
          <a:prstGeom prst="rect">
            <a:avLst/>
          </a:prstGeom>
          <a:noFill/>
          <a:ln>
            <a:noFill/>
          </a:ln>
        </p:spPr>
      </p:pic>
      <p:sp>
        <p:nvSpPr>
          <p:cNvPr id="294" name="Google Shape;294;p41"/>
          <p:cNvSpPr txBox="1"/>
          <p:nvPr/>
        </p:nvSpPr>
        <p:spPr>
          <a:xfrm>
            <a:off x="2248511" y="1029509"/>
            <a:ext cx="696005" cy="276999"/>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Clr>
                <a:schemeClr val="dk1"/>
              </a:buClr>
              <a:buSzPts val="1400"/>
              <a:buFont typeface="Arial"/>
              <a:buNone/>
            </a:pPr>
            <a:r>
              <a:rPr lang="en" sz="1400" b="1" i="0" u="sng">
                <a:solidFill>
                  <a:schemeClr val="dk1"/>
                </a:solidFill>
                <a:latin typeface="Arial"/>
                <a:ea typeface="Arial"/>
                <a:cs typeface="Arial"/>
                <a:sym typeface="Arial"/>
              </a:rPr>
              <a:t>g</a:t>
            </a:r>
            <a:r>
              <a:rPr lang="en" sz="1400" b="1" i="0" u="none" strike="noStrike" baseline="-25000">
                <a:solidFill>
                  <a:schemeClr val="dk1"/>
                </a:solidFill>
                <a:latin typeface="Arial"/>
                <a:ea typeface="Arial"/>
                <a:cs typeface="Arial"/>
                <a:sym typeface="Arial"/>
              </a:rPr>
              <a:t>m1</a:t>
            </a:r>
            <a:endParaRPr sz="1400">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2"/>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t>CCIA AC response </a:t>
            </a:r>
            <a:endParaRPr/>
          </a:p>
        </p:txBody>
      </p:sp>
      <p:sp>
        <p:nvSpPr>
          <p:cNvPr id="300" name="Google Shape;300;p42"/>
          <p:cNvSpPr txBox="1">
            <a:spLocks noGrp="1"/>
          </p:cNvSpPr>
          <p:nvPr>
            <p:ph type="body" idx="1"/>
          </p:nvPr>
        </p:nvSpPr>
        <p:spPr>
          <a:xfrm>
            <a:off x="437746" y="4294415"/>
            <a:ext cx="8251487" cy="338307"/>
          </a:xfrm>
          <a:prstGeom prst="rect">
            <a:avLst/>
          </a:prstGeom>
          <a:noFill/>
          <a:ln w="2857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254000" lvl="0" indent="-247650" algn="l" rtl="0">
              <a:lnSpc>
                <a:spcPct val="90000"/>
              </a:lnSpc>
              <a:spcBef>
                <a:spcPts val="0"/>
              </a:spcBef>
              <a:spcAft>
                <a:spcPts val="0"/>
              </a:spcAft>
              <a:buClr>
                <a:schemeClr val="dk1"/>
              </a:buClr>
              <a:buSzPts val="1500"/>
              <a:buFont typeface="Noto Sans Symbols"/>
              <a:buChar char="▪"/>
            </a:pPr>
            <a:r>
              <a:rPr lang="en"/>
              <a:t>Achieved EIS mode gain of 30dB and OCV mode gain of 0dB</a:t>
            </a:r>
            <a:endParaRPr/>
          </a:p>
        </p:txBody>
      </p:sp>
      <p:sp>
        <p:nvSpPr>
          <p:cNvPr id="301" name="Google Shape;301;p42"/>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20</a:t>
            </a:fld>
            <a:endParaRPr/>
          </a:p>
        </p:txBody>
      </p:sp>
      <p:pic>
        <p:nvPicPr>
          <p:cNvPr id="302" name="Google Shape;302;p42"/>
          <p:cNvPicPr preferRelativeResize="0"/>
          <p:nvPr/>
        </p:nvPicPr>
        <p:blipFill rotWithShape="1">
          <a:blip r:embed="rId3">
            <a:alphaModFix/>
          </a:blip>
          <a:srcRect/>
          <a:stretch/>
        </p:blipFill>
        <p:spPr>
          <a:xfrm>
            <a:off x="330797" y="1502228"/>
            <a:ext cx="4172236" cy="2617252"/>
          </a:xfrm>
          <a:prstGeom prst="rect">
            <a:avLst/>
          </a:prstGeom>
          <a:noFill/>
          <a:ln>
            <a:noFill/>
          </a:ln>
        </p:spPr>
      </p:pic>
      <p:pic>
        <p:nvPicPr>
          <p:cNvPr id="303" name="Google Shape;303;p42"/>
          <p:cNvPicPr preferRelativeResize="0"/>
          <p:nvPr/>
        </p:nvPicPr>
        <p:blipFill rotWithShape="1">
          <a:blip r:embed="rId4">
            <a:alphaModFix/>
          </a:blip>
          <a:srcRect/>
          <a:stretch/>
        </p:blipFill>
        <p:spPr>
          <a:xfrm>
            <a:off x="4716292" y="1502228"/>
            <a:ext cx="4172237" cy="2617252"/>
          </a:xfrm>
          <a:prstGeom prst="rect">
            <a:avLst/>
          </a:prstGeom>
          <a:noFill/>
          <a:ln>
            <a:noFill/>
          </a:ln>
        </p:spPr>
      </p:pic>
      <p:sp>
        <p:nvSpPr>
          <p:cNvPr id="304" name="Google Shape;304;p42"/>
          <p:cNvSpPr txBox="1"/>
          <p:nvPr/>
        </p:nvSpPr>
        <p:spPr>
          <a:xfrm>
            <a:off x="2248511" y="1029509"/>
            <a:ext cx="976382" cy="276999"/>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Clr>
                <a:schemeClr val="dk1"/>
              </a:buClr>
              <a:buSzPts val="1400"/>
              <a:buFont typeface="Arial"/>
              <a:buNone/>
            </a:pPr>
            <a:r>
              <a:rPr lang="en" sz="1400" b="1" u="sng">
                <a:solidFill>
                  <a:schemeClr val="dk1"/>
                </a:solidFill>
                <a:latin typeface="Arial"/>
                <a:ea typeface="Arial"/>
                <a:cs typeface="Arial"/>
                <a:sym typeface="Arial"/>
              </a:rPr>
              <a:t>EIS mode</a:t>
            </a:r>
            <a:endParaRPr sz="1400">
              <a:solidFill>
                <a:schemeClr val="dk1"/>
              </a:solidFill>
              <a:latin typeface="Arial"/>
              <a:ea typeface="Arial"/>
              <a:cs typeface="Arial"/>
              <a:sym typeface="Arial"/>
            </a:endParaRPr>
          </a:p>
        </p:txBody>
      </p:sp>
      <p:sp>
        <p:nvSpPr>
          <p:cNvPr id="305" name="Google Shape;305;p42"/>
          <p:cNvSpPr txBox="1"/>
          <p:nvPr/>
        </p:nvSpPr>
        <p:spPr>
          <a:xfrm>
            <a:off x="6493940" y="1029509"/>
            <a:ext cx="976382" cy="276999"/>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Clr>
                <a:schemeClr val="dk1"/>
              </a:buClr>
              <a:buSzPts val="1400"/>
              <a:buFont typeface="Arial"/>
              <a:buNone/>
            </a:pPr>
            <a:r>
              <a:rPr lang="en" sz="1400" b="1" u="sng">
                <a:solidFill>
                  <a:schemeClr val="dk1"/>
                </a:solidFill>
                <a:latin typeface="Arial"/>
                <a:ea typeface="Arial"/>
                <a:cs typeface="Arial"/>
                <a:sym typeface="Arial"/>
              </a:rPr>
              <a:t>OCV mode</a:t>
            </a:r>
            <a:endParaRPr sz="1400">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43"/>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t>CCIA CMRR analysis</a:t>
            </a:r>
            <a:endParaRPr/>
          </a:p>
        </p:txBody>
      </p:sp>
      <p:sp>
        <p:nvSpPr>
          <p:cNvPr id="311" name="Google Shape;311;p43"/>
          <p:cNvSpPr txBox="1">
            <a:spLocks noGrp="1"/>
          </p:cNvSpPr>
          <p:nvPr>
            <p:ph type="body" idx="1"/>
          </p:nvPr>
        </p:nvSpPr>
        <p:spPr>
          <a:xfrm>
            <a:off x="437746" y="4278086"/>
            <a:ext cx="8251487" cy="354636"/>
          </a:xfrm>
          <a:prstGeom prst="rect">
            <a:avLst/>
          </a:prstGeom>
          <a:noFill/>
          <a:ln w="2857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254000" lvl="0" indent="-247650" algn="l" rtl="0">
              <a:lnSpc>
                <a:spcPct val="90000"/>
              </a:lnSpc>
              <a:spcBef>
                <a:spcPts val="0"/>
              </a:spcBef>
              <a:spcAft>
                <a:spcPts val="0"/>
              </a:spcAft>
              <a:buClr>
                <a:schemeClr val="dk1"/>
              </a:buClr>
              <a:buSzPts val="1500"/>
              <a:buFont typeface="Noto Sans Symbols"/>
              <a:buChar char="▪"/>
            </a:pPr>
            <a:r>
              <a:rPr lang="en"/>
              <a:t>Achieved CMRR above 112dB at 100Hz</a:t>
            </a:r>
            <a:endParaRPr/>
          </a:p>
        </p:txBody>
      </p:sp>
      <p:sp>
        <p:nvSpPr>
          <p:cNvPr id="312" name="Google Shape;312;p43"/>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21</a:t>
            </a:fld>
            <a:endParaRPr/>
          </a:p>
        </p:txBody>
      </p:sp>
      <p:pic>
        <p:nvPicPr>
          <p:cNvPr id="313" name="Google Shape;313;p43"/>
          <p:cNvPicPr preferRelativeResize="0"/>
          <p:nvPr/>
        </p:nvPicPr>
        <p:blipFill rotWithShape="1">
          <a:blip r:embed="rId3">
            <a:alphaModFix/>
          </a:blip>
          <a:srcRect/>
          <a:stretch/>
        </p:blipFill>
        <p:spPr>
          <a:xfrm>
            <a:off x="1897140" y="925900"/>
            <a:ext cx="5349719" cy="322494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4"/>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t>CCIA PSRR analysis</a:t>
            </a:r>
            <a:endParaRPr/>
          </a:p>
        </p:txBody>
      </p:sp>
      <p:sp>
        <p:nvSpPr>
          <p:cNvPr id="319" name="Google Shape;319;p44"/>
          <p:cNvSpPr txBox="1">
            <a:spLocks noGrp="1"/>
          </p:cNvSpPr>
          <p:nvPr>
            <p:ph type="body" idx="1"/>
          </p:nvPr>
        </p:nvSpPr>
        <p:spPr>
          <a:xfrm>
            <a:off x="437746" y="4278086"/>
            <a:ext cx="8251487" cy="354636"/>
          </a:xfrm>
          <a:prstGeom prst="rect">
            <a:avLst/>
          </a:prstGeom>
          <a:noFill/>
          <a:ln w="2857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254000" lvl="0" indent="-247650" algn="l" rtl="0">
              <a:lnSpc>
                <a:spcPct val="90000"/>
              </a:lnSpc>
              <a:spcBef>
                <a:spcPts val="0"/>
              </a:spcBef>
              <a:spcAft>
                <a:spcPts val="0"/>
              </a:spcAft>
              <a:buClr>
                <a:schemeClr val="dk1"/>
              </a:buClr>
              <a:buSzPts val="1500"/>
              <a:buFont typeface="Noto Sans Symbols"/>
              <a:buChar char="▪"/>
            </a:pPr>
            <a:r>
              <a:rPr lang="en"/>
              <a:t>Achieved PSRR above 164dB at 100Hz</a:t>
            </a:r>
            <a:endParaRPr/>
          </a:p>
        </p:txBody>
      </p:sp>
      <p:sp>
        <p:nvSpPr>
          <p:cNvPr id="320" name="Google Shape;320;p44"/>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22</a:t>
            </a:fld>
            <a:endParaRPr/>
          </a:p>
        </p:txBody>
      </p:sp>
      <p:pic>
        <p:nvPicPr>
          <p:cNvPr id="321" name="Google Shape;321;p44"/>
          <p:cNvPicPr preferRelativeResize="0"/>
          <p:nvPr/>
        </p:nvPicPr>
        <p:blipFill rotWithShape="1">
          <a:blip r:embed="rId3">
            <a:alphaModFix/>
          </a:blip>
          <a:srcRect/>
          <a:stretch/>
        </p:blipFill>
        <p:spPr>
          <a:xfrm>
            <a:off x="1721939" y="933833"/>
            <a:ext cx="5700121" cy="312209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45"/>
          <p:cNvSpPr txBox="1"/>
          <p:nvPr/>
        </p:nvSpPr>
        <p:spPr>
          <a:xfrm>
            <a:off x="417421" y="458603"/>
            <a:ext cx="7966800" cy="481500"/>
          </a:xfrm>
          <a:prstGeom prst="rect">
            <a:avLst/>
          </a:prstGeom>
          <a:noFill/>
          <a:ln>
            <a:noFill/>
          </a:ln>
        </p:spPr>
        <p:txBody>
          <a:bodyPr spcFirstLastPara="1" wrap="square" lIns="65300" tIns="32625" rIns="65300" bIns="32625" anchor="t" anchorCtr="0">
            <a:spAutoFit/>
          </a:bodyPr>
          <a:lstStyle/>
          <a:p>
            <a:pPr marL="0" marR="0" lvl="0" indent="0" algn="ctr" rtl="0">
              <a:spcBef>
                <a:spcPts val="0"/>
              </a:spcBef>
              <a:spcAft>
                <a:spcPts val="0"/>
              </a:spcAft>
              <a:buNone/>
            </a:pPr>
            <a:r>
              <a:rPr lang="en" sz="2700" b="1">
                <a:solidFill>
                  <a:schemeClr val="dk1"/>
                </a:solidFill>
                <a:latin typeface="Calibri"/>
                <a:ea typeface="Calibri"/>
                <a:cs typeface="Calibri"/>
                <a:sym typeface="Calibri"/>
              </a:rPr>
              <a:t>EIS Architecture</a:t>
            </a:r>
            <a:endParaRPr sz="2700" b="1">
              <a:solidFill>
                <a:schemeClr val="dk1"/>
              </a:solidFill>
              <a:highlight>
                <a:schemeClr val="lt1"/>
              </a:highlight>
              <a:latin typeface="Calibri"/>
              <a:ea typeface="Calibri"/>
              <a:cs typeface="Calibri"/>
              <a:sym typeface="Calibri"/>
            </a:endParaRPr>
          </a:p>
        </p:txBody>
      </p:sp>
      <p:pic>
        <p:nvPicPr>
          <p:cNvPr id="328" name="Google Shape;328;p45"/>
          <p:cNvPicPr preferRelativeResize="0"/>
          <p:nvPr/>
        </p:nvPicPr>
        <p:blipFill rotWithShape="1">
          <a:blip r:embed="rId3">
            <a:alphaModFix/>
          </a:blip>
          <a:srcRect/>
          <a:stretch/>
        </p:blipFill>
        <p:spPr>
          <a:xfrm>
            <a:off x="1652107" y="1535731"/>
            <a:ext cx="6054179" cy="2439233"/>
          </a:xfrm>
          <a:prstGeom prst="rect">
            <a:avLst/>
          </a:prstGeom>
          <a:noFill/>
          <a:ln>
            <a:noFill/>
          </a:ln>
          <a:effectLst>
            <a:outerShdw blurRad="57150" dist="19050" dir="5400000" algn="bl" rotWithShape="0">
              <a:srgbClr val="000000">
                <a:alpha val="50196"/>
              </a:srgbClr>
            </a:outerShdw>
          </a:effectLst>
        </p:spPr>
      </p:pic>
      <p:sp>
        <p:nvSpPr>
          <p:cNvPr id="329" name="Google Shape;329;p45"/>
          <p:cNvSpPr txBox="1">
            <a:spLocks noGrp="1"/>
          </p:cNvSpPr>
          <p:nvPr>
            <p:ph type="body" idx="1"/>
          </p:nvPr>
        </p:nvSpPr>
        <p:spPr>
          <a:xfrm>
            <a:off x="437746" y="4180115"/>
            <a:ext cx="8251500" cy="452700"/>
          </a:xfrm>
          <a:prstGeom prst="rect">
            <a:avLst/>
          </a:prstGeom>
          <a:noFill/>
          <a:ln w="2857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254000" lvl="0" indent="-247650" algn="l" rtl="0">
              <a:lnSpc>
                <a:spcPct val="90000"/>
              </a:lnSpc>
              <a:spcBef>
                <a:spcPts val="0"/>
              </a:spcBef>
              <a:spcAft>
                <a:spcPts val="0"/>
              </a:spcAft>
              <a:buClr>
                <a:schemeClr val="dk1"/>
              </a:buClr>
              <a:buSzPts val="1500"/>
              <a:buFont typeface="Noto Sans Symbols"/>
              <a:buChar char="▪"/>
            </a:pPr>
            <a:r>
              <a:rPr lang="en"/>
              <a:t>The DAC generates smooth, precise analog sine waves to inject controlled AC excitation signals into biological or battery tissue.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46"/>
          <p:cNvSpPr txBox="1">
            <a:spLocks noGrp="1"/>
          </p:cNvSpPr>
          <p:nvPr>
            <p:ph type="sldNum" idx="12"/>
          </p:nvPr>
        </p:nvSpPr>
        <p:spPr>
          <a:xfrm>
            <a:off x="6631832" y="4655767"/>
            <a:ext cx="2057357" cy="260785"/>
          </a:xfrm>
          <a:prstGeom prst="rect">
            <a:avLst/>
          </a:prstGeom>
          <a:noFill/>
          <a:ln>
            <a:noFill/>
          </a:ln>
        </p:spPr>
        <p:txBody>
          <a:bodyPr spcFirstLastPara="1" wrap="square" lIns="65300" tIns="32625" rIns="65300" bIns="32625" anchor="ctr"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
              <a:t>24</a:t>
            </a:fld>
            <a:endParaRPr/>
          </a:p>
        </p:txBody>
      </p:sp>
      <p:sp>
        <p:nvSpPr>
          <p:cNvPr id="336" name="Google Shape;336;p46"/>
          <p:cNvSpPr txBox="1">
            <a:spLocks noGrp="1"/>
          </p:cNvSpPr>
          <p:nvPr>
            <p:ph type="title"/>
          </p:nvPr>
        </p:nvSpPr>
        <p:spPr>
          <a:xfrm>
            <a:off x="628650" y="305895"/>
            <a:ext cx="7886786" cy="494357"/>
          </a:xfrm>
          <a:prstGeom prst="rect">
            <a:avLst/>
          </a:prstGeom>
          <a:noFill/>
          <a:ln>
            <a:noFill/>
          </a:ln>
        </p:spPr>
        <p:txBody>
          <a:bodyPr spcFirstLastPara="1" wrap="square" lIns="65300" tIns="32625" rIns="65300" bIns="3262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t>EIS TestBench Schematic</a:t>
            </a:r>
            <a:endParaRPr/>
          </a:p>
        </p:txBody>
      </p:sp>
      <p:pic>
        <p:nvPicPr>
          <p:cNvPr id="337" name="Google Shape;337;p46" title="WhatsApp Image 2026-10-09 at 13.32.48.jpeg"/>
          <p:cNvPicPr preferRelativeResize="0"/>
          <p:nvPr/>
        </p:nvPicPr>
        <p:blipFill>
          <a:blip r:embed="rId3">
            <a:alphaModFix/>
          </a:blip>
          <a:stretch>
            <a:fillRect/>
          </a:stretch>
        </p:blipFill>
        <p:spPr>
          <a:xfrm>
            <a:off x="502850" y="959027"/>
            <a:ext cx="6327030" cy="3864761"/>
          </a:xfrm>
          <a:prstGeom prst="rect">
            <a:avLst/>
          </a:prstGeom>
          <a:noFill/>
          <a:ln>
            <a:noFill/>
          </a:ln>
          <a:effectLst>
            <a:outerShdw blurRad="57150" dist="19050" dir="5400000" algn="bl" rotWithShape="0">
              <a:srgbClr val="000000">
                <a:alpha val="50000"/>
              </a:srgbClr>
            </a:outerShdw>
          </a:effectLst>
        </p:spPr>
      </p:pic>
      <p:sp>
        <p:nvSpPr>
          <p:cNvPr id="338" name="Google Shape;338;p46"/>
          <p:cNvSpPr txBox="1"/>
          <p:nvPr/>
        </p:nvSpPr>
        <p:spPr>
          <a:xfrm>
            <a:off x="6829875" y="1347575"/>
            <a:ext cx="2188500" cy="80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dk1"/>
                </a:solidFill>
              </a:rPr>
              <a:t>Vref = 4.2V</a:t>
            </a:r>
            <a:endParaRPr sz="1300" b="1">
              <a:solidFill>
                <a:schemeClr val="dk1"/>
              </a:solidFill>
            </a:endParaRPr>
          </a:p>
          <a:p>
            <a:pPr marL="0" lvl="0" indent="0" algn="l" rtl="0">
              <a:spcBef>
                <a:spcPts val="0"/>
              </a:spcBef>
              <a:spcAft>
                <a:spcPts val="0"/>
              </a:spcAft>
              <a:buNone/>
            </a:pPr>
            <a:r>
              <a:rPr lang="en" sz="1300" b="1">
                <a:solidFill>
                  <a:schemeClr val="dk1"/>
                </a:solidFill>
              </a:rPr>
              <a:t>Clk period = 100us</a:t>
            </a:r>
            <a:br>
              <a:rPr lang="en" sz="1300" b="1">
                <a:solidFill>
                  <a:schemeClr val="dk1"/>
                </a:solidFill>
              </a:rPr>
            </a:br>
            <a:r>
              <a:rPr lang="en" sz="1300" b="1">
                <a:solidFill>
                  <a:schemeClr val="dk1"/>
                </a:solidFill>
              </a:rPr>
              <a:t/>
            </a:r>
            <a:br>
              <a:rPr lang="en" sz="1300" b="1">
                <a:solidFill>
                  <a:schemeClr val="dk1"/>
                </a:solidFill>
              </a:rPr>
            </a:br>
            <a:r>
              <a:rPr lang="en" sz="1300" b="1">
                <a:solidFill>
                  <a:schemeClr val="dk1"/>
                </a:solidFill>
              </a:rPr>
              <a:t>Li battery is connected across VB+ and VB-</a:t>
            </a:r>
            <a:endParaRPr sz="1300" b="1">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7"/>
          <p:cNvSpPr txBox="1">
            <a:spLocks noGrp="1"/>
          </p:cNvSpPr>
          <p:nvPr>
            <p:ph type="sldNum" idx="12"/>
          </p:nvPr>
        </p:nvSpPr>
        <p:spPr>
          <a:xfrm>
            <a:off x="6631832" y="4655767"/>
            <a:ext cx="2057357" cy="260785"/>
          </a:xfrm>
          <a:prstGeom prst="rect">
            <a:avLst/>
          </a:prstGeom>
          <a:noFill/>
          <a:ln>
            <a:noFill/>
          </a:ln>
        </p:spPr>
        <p:txBody>
          <a:bodyPr spcFirstLastPara="1" wrap="square" lIns="65300" tIns="32625" rIns="65300" bIns="32625" anchor="ctr"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
              <a:t>25</a:t>
            </a:fld>
            <a:endParaRPr/>
          </a:p>
        </p:txBody>
      </p:sp>
      <p:sp>
        <p:nvSpPr>
          <p:cNvPr id="345" name="Google Shape;345;p47"/>
          <p:cNvSpPr txBox="1">
            <a:spLocks noGrp="1"/>
          </p:cNvSpPr>
          <p:nvPr>
            <p:ph type="title"/>
          </p:nvPr>
        </p:nvSpPr>
        <p:spPr>
          <a:xfrm>
            <a:off x="628650" y="305895"/>
            <a:ext cx="7886786" cy="494357"/>
          </a:xfrm>
          <a:prstGeom prst="rect">
            <a:avLst/>
          </a:prstGeom>
          <a:noFill/>
          <a:ln>
            <a:noFill/>
          </a:ln>
        </p:spPr>
        <p:txBody>
          <a:bodyPr spcFirstLastPara="1" wrap="square" lIns="65300" tIns="32625" rIns="65300" bIns="3262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t>Top level schematic of EIS</a:t>
            </a:r>
            <a:endParaRPr/>
          </a:p>
        </p:txBody>
      </p:sp>
      <p:pic>
        <p:nvPicPr>
          <p:cNvPr id="346" name="Google Shape;346;p47"/>
          <p:cNvPicPr preferRelativeResize="0"/>
          <p:nvPr/>
        </p:nvPicPr>
        <p:blipFill rotWithShape="1">
          <a:blip r:embed="rId3">
            <a:alphaModFix/>
          </a:blip>
          <a:srcRect/>
          <a:stretch/>
        </p:blipFill>
        <p:spPr>
          <a:xfrm>
            <a:off x="144623" y="1039786"/>
            <a:ext cx="2150339" cy="1527518"/>
          </a:xfrm>
          <a:prstGeom prst="rect">
            <a:avLst/>
          </a:prstGeom>
          <a:noFill/>
          <a:ln>
            <a:noFill/>
          </a:ln>
          <a:effectLst>
            <a:outerShdw blurRad="57150" dist="19050" dir="5400000" algn="bl" rotWithShape="0">
              <a:srgbClr val="000000">
                <a:alpha val="50196"/>
              </a:srgbClr>
            </a:outerShdw>
          </a:effectLst>
        </p:spPr>
      </p:pic>
      <p:pic>
        <p:nvPicPr>
          <p:cNvPr id="347" name="Google Shape;347;p47" title="WhatsApp Image 2026-10-09 at 12.13.51.jpeg"/>
          <p:cNvPicPr preferRelativeResize="0"/>
          <p:nvPr/>
        </p:nvPicPr>
        <p:blipFill rotWithShape="1">
          <a:blip r:embed="rId4">
            <a:alphaModFix/>
          </a:blip>
          <a:srcRect/>
          <a:stretch/>
        </p:blipFill>
        <p:spPr>
          <a:xfrm>
            <a:off x="2393998" y="1175860"/>
            <a:ext cx="6631324" cy="3104297"/>
          </a:xfrm>
          <a:prstGeom prst="rect">
            <a:avLst/>
          </a:prstGeom>
          <a:noFill/>
          <a:ln>
            <a:noFill/>
          </a:ln>
          <a:effectLst>
            <a:outerShdw blurRad="57150" dist="19050" dir="5400000" algn="bl" rotWithShape="0">
              <a:srgbClr val="000000">
                <a:alpha val="50196"/>
              </a:srgbClr>
            </a:outerShdw>
          </a:effectLst>
        </p:spPr>
      </p:pic>
      <p:sp>
        <p:nvSpPr>
          <p:cNvPr id="348" name="Google Shape;348;p47"/>
          <p:cNvSpPr txBox="1"/>
          <p:nvPr/>
        </p:nvSpPr>
        <p:spPr>
          <a:xfrm>
            <a:off x="4988200" y="4280150"/>
            <a:ext cx="2463600" cy="81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1"/>
                </a:solidFill>
              </a:rPr>
              <a:t>Excitation current = 10 - 15 mA</a:t>
            </a:r>
            <a:endParaRPr sz="1200" b="1">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8"/>
          <p:cNvSpPr txBox="1"/>
          <p:nvPr/>
        </p:nvSpPr>
        <p:spPr>
          <a:xfrm>
            <a:off x="688882" y="286181"/>
            <a:ext cx="7313357" cy="568928"/>
          </a:xfrm>
          <a:prstGeom prst="rect">
            <a:avLst/>
          </a:prstGeom>
          <a:noFill/>
          <a:ln>
            <a:noFill/>
          </a:ln>
        </p:spPr>
        <p:txBody>
          <a:bodyPr spcFirstLastPara="1" wrap="square" lIns="81250" tIns="40600" rIns="81250" bIns="40600" anchor="ctr" anchorCtr="0">
            <a:noAutofit/>
          </a:bodyPr>
          <a:lstStyle/>
          <a:p>
            <a:pPr marL="0" marR="0" lvl="0" indent="0" algn="ctr" rtl="0">
              <a:spcBef>
                <a:spcPts val="0"/>
              </a:spcBef>
              <a:spcAft>
                <a:spcPts val="0"/>
              </a:spcAft>
              <a:buNone/>
            </a:pPr>
            <a:r>
              <a:rPr lang="en" sz="2300" b="1">
                <a:solidFill>
                  <a:schemeClr val="dk1"/>
                </a:solidFill>
                <a:latin typeface="Calibri"/>
                <a:ea typeface="Calibri"/>
                <a:cs typeface="Calibri"/>
                <a:sym typeface="Calibri"/>
              </a:rPr>
              <a:t>2C - DAC Schematics</a:t>
            </a:r>
            <a:endParaRPr sz="2300">
              <a:solidFill>
                <a:schemeClr val="dk1"/>
              </a:solidFill>
              <a:latin typeface="Calibri"/>
              <a:ea typeface="Calibri"/>
              <a:cs typeface="Calibri"/>
              <a:sym typeface="Calibri"/>
            </a:endParaRPr>
          </a:p>
        </p:txBody>
      </p:sp>
      <p:pic>
        <p:nvPicPr>
          <p:cNvPr id="354" name="Google Shape;354;p48"/>
          <p:cNvPicPr preferRelativeResize="0"/>
          <p:nvPr/>
        </p:nvPicPr>
        <p:blipFill rotWithShape="1">
          <a:blip r:embed="rId3">
            <a:alphaModFix/>
          </a:blip>
          <a:srcRect/>
          <a:stretch/>
        </p:blipFill>
        <p:spPr>
          <a:xfrm>
            <a:off x="806464" y="1133036"/>
            <a:ext cx="7492233" cy="3354125"/>
          </a:xfrm>
          <a:prstGeom prst="rect">
            <a:avLst/>
          </a:prstGeom>
          <a:noFill/>
          <a:ln>
            <a:noFill/>
          </a:ln>
          <a:effectLst>
            <a:outerShdw blurRad="57150" dist="19050" dir="5400000" algn="bl" rotWithShape="0">
              <a:srgbClr val="000000">
                <a:alpha val="50196"/>
              </a:srgbClr>
            </a:outerShdw>
          </a:effectLst>
        </p:spPr>
      </p:pic>
      <p:sp>
        <p:nvSpPr>
          <p:cNvPr id="355" name="Google Shape;355;p48"/>
          <p:cNvSpPr txBox="1"/>
          <p:nvPr/>
        </p:nvSpPr>
        <p:spPr>
          <a:xfrm>
            <a:off x="3040050" y="4594425"/>
            <a:ext cx="1996800" cy="81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1"/>
                </a:solidFill>
              </a:rPr>
              <a:t>C1 = C2 = 1pF</a:t>
            </a:r>
            <a:endParaRPr sz="1200" b="1">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9"/>
          <p:cNvSpPr txBox="1"/>
          <p:nvPr/>
        </p:nvSpPr>
        <p:spPr>
          <a:xfrm>
            <a:off x="1725071" y="377011"/>
            <a:ext cx="5878286" cy="457285"/>
          </a:xfrm>
          <a:prstGeom prst="rect">
            <a:avLst/>
          </a:prstGeom>
          <a:noFill/>
          <a:ln>
            <a:noFill/>
          </a:ln>
        </p:spPr>
        <p:txBody>
          <a:bodyPr spcFirstLastPara="1" wrap="square" lIns="65300" tIns="32625" rIns="65300" bIns="32625" anchor="ctr" anchorCtr="0">
            <a:noAutofit/>
          </a:bodyPr>
          <a:lstStyle/>
          <a:p>
            <a:pPr marL="0" marR="0" lvl="0" indent="0" algn="ctr" rtl="0">
              <a:spcBef>
                <a:spcPts val="0"/>
              </a:spcBef>
              <a:spcAft>
                <a:spcPts val="0"/>
              </a:spcAft>
              <a:buNone/>
            </a:pPr>
            <a:r>
              <a:rPr lang="en" sz="2400" b="1">
                <a:solidFill>
                  <a:schemeClr val="dk1"/>
                </a:solidFill>
                <a:latin typeface="Calibri"/>
                <a:ea typeface="Calibri"/>
                <a:cs typeface="Calibri"/>
                <a:sym typeface="Calibri"/>
              </a:rPr>
              <a:t>Buffer schematic</a:t>
            </a:r>
            <a:endParaRPr sz="2400">
              <a:solidFill>
                <a:schemeClr val="dk1"/>
              </a:solidFill>
              <a:latin typeface="Calibri"/>
              <a:ea typeface="Calibri"/>
              <a:cs typeface="Calibri"/>
              <a:sym typeface="Calibri"/>
            </a:endParaRPr>
          </a:p>
        </p:txBody>
      </p:sp>
      <p:pic>
        <p:nvPicPr>
          <p:cNvPr id="361" name="Google Shape;361;p49"/>
          <p:cNvPicPr preferRelativeResize="0"/>
          <p:nvPr/>
        </p:nvPicPr>
        <p:blipFill rotWithShape="1">
          <a:blip r:embed="rId3">
            <a:alphaModFix/>
          </a:blip>
          <a:srcRect b="17546"/>
          <a:stretch/>
        </p:blipFill>
        <p:spPr>
          <a:xfrm>
            <a:off x="2396715" y="1674965"/>
            <a:ext cx="6537071" cy="2489803"/>
          </a:xfrm>
          <a:prstGeom prst="rect">
            <a:avLst/>
          </a:prstGeom>
          <a:noFill/>
          <a:ln>
            <a:noFill/>
          </a:ln>
          <a:effectLst>
            <a:outerShdw blurRad="57150" dist="19050" dir="5400000" algn="bl" rotWithShape="0">
              <a:srgbClr val="000000">
                <a:alpha val="50196"/>
              </a:srgbClr>
            </a:outerShdw>
          </a:effectLst>
        </p:spPr>
      </p:pic>
      <p:pic>
        <p:nvPicPr>
          <p:cNvPr id="362" name="Google Shape;362;p49"/>
          <p:cNvPicPr preferRelativeResize="0"/>
          <p:nvPr/>
        </p:nvPicPr>
        <p:blipFill rotWithShape="1">
          <a:blip r:embed="rId4">
            <a:alphaModFix/>
          </a:blip>
          <a:srcRect l="28262" t="33198" r="33995" b="1451"/>
          <a:stretch/>
        </p:blipFill>
        <p:spPr>
          <a:xfrm>
            <a:off x="467964" y="1083286"/>
            <a:ext cx="1435910" cy="1368946"/>
          </a:xfrm>
          <a:prstGeom prst="rect">
            <a:avLst/>
          </a:prstGeom>
          <a:noFill/>
          <a:ln>
            <a:noFill/>
          </a:ln>
          <a:effectLst>
            <a:outerShdw blurRad="57150" dist="19050" dir="5400000" algn="bl" rotWithShape="0">
              <a:srgbClr val="000000">
                <a:alpha val="47059"/>
              </a:srgbClr>
            </a:outerShdw>
          </a:effectLst>
        </p:spPr>
      </p:pic>
      <p:sp>
        <p:nvSpPr>
          <p:cNvPr id="363" name="Google Shape;363;p49"/>
          <p:cNvSpPr txBox="1"/>
          <p:nvPr/>
        </p:nvSpPr>
        <p:spPr>
          <a:xfrm>
            <a:off x="298225" y="3017375"/>
            <a:ext cx="1996800" cy="81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1"/>
                </a:solidFill>
              </a:rPr>
              <a:t>Intrinsic gain = 50db</a:t>
            </a:r>
            <a:br>
              <a:rPr lang="en" sz="1200" b="1">
                <a:solidFill>
                  <a:schemeClr val="dk1"/>
                </a:solidFill>
              </a:rPr>
            </a:br>
            <a:r>
              <a:rPr lang="en" sz="1200" b="1">
                <a:solidFill>
                  <a:schemeClr val="dk1"/>
                </a:solidFill>
              </a:rPr>
              <a:t>UGB = 2.5MHz</a:t>
            </a:r>
            <a:endParaRPr sz="1200" b="1">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50"/>
          <p:cNvSpPr txBox="1">
            <a:spLocks noGrp="1"/>
          </p:cNvSpPr>
          <p:nvPr>
            <p:ph type="sldNum" idx="12"/>
          </p:nvPr>
        </p:nvSpPr>
        <p:spPr>
          <a:xfrm>
            <a:off x="6631832" y="4655767"/>
            <a:ext cx="2057357" cy="260785"/>
          </a:xfrm>
          <a:prstGeom prst="rect">
            <a:avLst/>
          </a:prstGeom>
          <a:noFill/>
          <a:ln>
            <a:noFill/>
          </a:ln>
        </p:spPr>
        <p:txBody>
          <a:bodyPr spcFirstLastPara="1" wrap="square" lIns="65300" tIns="32625" rIns="65300" bIns="32625" anchor="ctr"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
              <a:t>28</a:t>
            </a:fld>
            <a:endParaRPr/>
          </a:p>
        </p:txBody>
      </p:sp>
      <p:sp>
        <p:nvSpPr>
          <p:cNvPr id="370" name="Google Shape;370;p50"/>
          <p:cNvSpPr txBox="1">
            <a:spLocks noGrp="1"/>
          </p:cNvSpPr>
          <p:nvPr>
            <p:ph type="title"/>
          </p:nvPr>
        </p:nvSpPr>
        <p:spPr>
          <a:xfrm>
            <a:off x="628650" y="305895"/>
            <a:ext cx="7886786" cy="494357"/>
          </a:xfrm>
          <a:prstGeom prst="rect">
            <a:avLst/>
          </a:prstGeom>
          <a:noFill/>
          <a:ln>
            <a:noFill/>
          </a:ln>
        </p:spPr>
        <p:txBody>
          <a:bodyPr spcFirstLastPara="1" wrap="square" lIns="65300" tIns="32625" rIns="65300" bIns="3262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t>Simulation result</a:t>
            </a:r>
            <a:endParaRPr/>
          </a:p>
        </p:txBody>
      </p:sp>
      <p:graphicFrame>
        <p:nvGraphicFramePr>
          <p:cNvPr id="371" name="Google Shape;371;p50"/>
          <p:cNvGraphicFramePr/>
          <p:nvPr/>
        </p:nvGraphicFramePr>
        <p:xfrm>
          <a:off x="258232" y="1096232"/>
          <a:ext cx="3000000" cy="3000000"/>
        </p:xfrm>
        <a:graphic>
          <a:graphicData uri="http://schemas.openxmlformats.org/drawingml/2006/table">
            <a:tbl>
              <a:tblPr>
                <a:noFill/>
                <a:tableStyleId>{6C566C97-2404-4030-9C2A-5C24EAB035B3}</a:tableStyleId>
              </a:tblPr>
              <a:tblGrid>
                <a:gridCol w="1945800">
                  <a:extLst>
                    <a:ext uri="{9D8B030D-6E8A-4147-A177-3AD203B41FA5}">
                      <a16:colId xmlns:a16="http://schemas.microsoft.com/office/drawing/2014/main" val="20000"/>
                    </a:ext>
                  </a:extLst>
                </a:gridCol>
                <a:gridCol w="1945800">
                  <a:extLst>
                    <a:ext uri="{9D8B030D-6E8A-4147-A177-3AD203B41FA5}">
                      <a16:colId xmlns:a16="http://schemas.microsoft.com/office/drawing/2014/main" val="20001"/>
                    </a:ext>
                  </a:extLst>
                </a:gridCol>
                <a:gridCol w="1945800">
                  <a:extLst>
                    <a:ext uri="{9D8B030D-6E8A-4147-A177-3AD203B41FA5}">
                      <a16:colId xmlns:a16="http://schemas.microsoft.com/office/drawing/2014/main" val="20002"/>
                    </a:ext>
                  </a:extLst>
                </a:gridCol>
                <a:gridCol w="1945800">
                  <a:extLst>
                    <a:ext uri="{9D8B030D-6E8A-4147-A177-3AD203B41FA5}">
                      <a16:colId xmlns:a16="http://schemas.microsoft.com/office/drawing/2014/main" val="20003"/>
                    </a:ext>
                  </a:extLst>
                </a:gridCol>
              </a:tblGrid>
              <a:tr h="348300">
                <a:tc>
                  <a:txBody>
                    <a:bodyPr/>
                    <a:lstStyle/>
                    <a:p>
                      <a:pPr marL="0" marR="0" lvl="0" indent="0" algn="l" rtl="0">
                        <a:lnSpc>
                          <a:spcPct val="100000"/>
                        </a:lnSpc>
                        <a:spcBef>
                          <a:spcPts val="0"/>
                        </a:spcBef>
                        <a:spcAft>
                          <a:spcPts val="0"/>
                        </a:spcAft>
                        <a:buClr>
                          <a:srgbClr val="000000"/>
                        </a:buClr>
                        <a:buSzPts val="1500"/>
                        <a:buFont typeface="Arial"/>
                        <a:buNone/>
                      </a:pPr>
                      <a:r>
                        <a:rPr lang="en" sz="1300" b="1" u="none" strike="noStrike" cap="none" spc="0"/>
                        <a:t>Code </a:t>
                      </a:r>
                      <a:r>
                        <a:rPr lang="en" sz="1300" b="1" u="none" strike="noStrike" cap="none"/>
                        <a:t>(LSB-MSB)</a:t>
                      </a:r>
                      <a:endParaRPr sz="1300" b="1" u="none" strike="noStrike" cap="none" spc="0"/>
                    </a:p>
                  </a:txBody>
                  <a:tcPr marL="65300" marR="65300" marT="65300" marB="65300">
                    <a:lnL w="9525" cap="flat" cmpd="sng">
                      <a:solidFill>
                        <a:srgbClr val="A4C2F4"/>
                      </a:solidFill>
                      <a:prstDash val="solid"/>
                      <a:round/>
                      <a:headEnd type="none" w="sm" len="sm"/>
                      <a:tailEnd type="none" w="sm" len="sm"/>
                    </a:lnL>
                    <a:lnR w="9525" cap="flat" cmpd="sng">
                      <a:solidFill>
                        <a:srgbClr val="A4C2F4"/>
                      </a:solidFill>
                      <a:prstDash val="solid"/>
                      <a:round/>
                      <a:headEnd type="none" w="sm" len="sm"/>
                      <a:tailEnd type="none" w="sm" len="sm"/>
                    </a:lnR>
                    <a:lnT w="9525" cap="flat" cmpd="sng">
                      <a:solidFill>
                        <a:srgbClr val="A4C2F4"/>
                      </a:solidFill>
                      <a:prstDash val="solid"/>
                      <a:round/>
                      <a:headEnd type="none" w="sm" len="sm"/>
                      <a:tailEnd type="none" w="sm" len="sm"/>
                    </a:lnT>
                    <a:lnB w="9525" cap="flat" cmpd="sng">
                      <a:solidFill>
                        <a:srgbClr val="A4C2F4"/>
                      </a:solidFill>
                      <a:prstDash val="solid"/>
                      <a:round/>
                      <a:headEnd type="none" w="sm" len="sm"/>
                      <a:tailEnd type="none" w="sm" len="sm"/>
                    </a:lnB>
                    <a:solidFill>
                      <a:srgbClr val="A4C2F4"/>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 sz="1300" b="1" u="none" strike="noStrike" cap="none" spc="0"/>
                        <a:t>Expected value (V)</a:t>
                      </a:r>
                      <a:endParaRPr sz="1300" b="1" u="none" strike="noStrike" cap="none" spc="0"/>
                    </a:p>
                  </a:txBody>
                  <a:tcPr marL="65300" marR="65300" marT="65300" marB="65300">
                    <a:lnL w="9525" cap="flat" cmpd="sng">
                      <a:solidFill>
                        <a:srgbClr val="A4C2F4"/>
                      </a:solidFill>
                      <a:prstDash val="solid"/>
                      <a:round/>
                      <a:headEnd type="none" w="sm" len="sm"/>
                      <a:tailEnd type="none" w="sm" len="sm"/>
                    </a:lnL>
                    <a:lnR w="9525" cap="flat" cmpd="sng">
                      <a:solidFill>
                        <a:srgbClr val="A4C2F4"/>
                      </a:solidFill>
                      <a:prstDash val="solid"/>
                      <a:round/>
                      <a:headEnd type="none" w="sm" len="sm"/>
                      <a:tailEnd type="none" w="sm" len="sm"/>
                    </a:lnR>
                    <a:lnT w="9525" cap="flat" cmpd="sng">
                      <a:solidFill>
                        <a:srgbClr val="A4C2F4"/>
                      </a:solidFill>
                      <a:prstDash val="solid"/>
                      <a:round/>
                      <a:headEnd type="none" w="sm" len="sm"/>
                      <a:tailEnd type="none" w="sm" len="sm"/>
                    </a:lnT>
                    <a:lnB w="9525" cap="flat" cmpd="sng">
                      <a:solidFill>
                        <a:srgbClr val="A4C2F4"/>
                      </a:solidFill>
                      <a:prstDash val="solid"/>
                      <a:round/>
                      <a:headEnd type="none" w="sm" len="sm"/>
                      <a:tailEnd type="none" w="sm" len="sm"/>
                    </a:lnB>
                    <a:solidFill>
                      <a:srgbClr val="A4C2F4"/>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 sz="1300" b="1" u="none" strike="noStrike" cap="none" spc="0"/>
                        <a:t>simulated Value (V)</a:t>
                      </a:r>
                      <a:endParaRPr sz="1300" b="1" u="none" strike="noStrike" cap="none" spc="0"/>
                    </a:p>
                  </a:txBody>
                  <a:tcPr marL="65300" marR="65300" marT="65300" marB="65300">
                    <a:lnL w="9525" cap="flat" cmpd="sng">
                      <a:solidFill>
                        <a:srgbClr val="A4C2F4"/>
                      </a:solidFill>
                      <a:prstDash val="solid"/>
                      <a:round/>
                      <a:headEnd type="none" w="sm" len="sm"/>
                      <a:tailEnd type="none" w="sm" len="sm"/>
                    </a:lnL>
                    <a:lnR w="9525" cap="flat" cmpd="sng">
                      <a:solidFill>
                        <a:srgbClr val="A4C2F4"/>
                      </a:solidFill>
                      <a:prstDash val="solid"/>
                      <a:round/>
                      <a:headEnd type="none" w="sm" len="sm"/>
                      <a:tailEnd type="none" w="sm" len="sm"/>
                    </a:lnR>
                    <a:lnT w="9525" cap="flat" cmpd="sng">
                      <a:solidFill>
                        <a:srgbClr val="A4C2F4"/>
                      </a:solidFill>
                      <a:prstDash val="solid"/>
                      <a:round/>
                      <a:headEnd type="none" w="sm" len="sm"/>
                      <a:tailEnd type="none" w="sm" len="sm"/>
                    </a:lnT>
                    <a:lnB w="9525" cap="flat" cmpd="sng">
                      <a:solidFill>
                        <a:srgbClr val="A4C2F4"/>
                      </a:solidFill>
                      <a:prstDash val="solid"/>
                      <a:round/>
                      <a:headEnd type="none" w="sm" len="sm"/>
                      <a:tailEnd type="none" w="sm" len="sm"/>
                    </a:lnB>
                    <a:solidFill>
                      <a:srgbClr val="A4C2F4"/>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 sz="1300" b="1" u="none" strike="noStrike" cap="none" spc="0"/>
                        <a:t>Error (V)</a:t>
                      </a:r>
                      <a:endParaRPr sz="1300" b="1" u="none" strike="noStrike" cap="none" spc="0"/>
                    </a:p>
                  </a:txBody>
                  <a:tcPr marL="65300" marR="65300" marT="65300" marB="65300">
                    <a:lnL w="9525" cap="flat" cmpd="sng">
                      <a:solidFill>
                        <a:srgbClr val="A4C2F4"/>
                      </a:solidFill>
                      <a:prstDash val="solid"/>
                      <a:round/>
                      <a:headEnd type="none" w="sm" len="sm"/>
                      <a:tailEnd type="none" w="sm" len="sm"/>
                    </a:lnL>
                    <a:lnR w="9525" cap="flat" cmpd="sng">
                      <a:solidFill>
                        <a:srgbClr val="A4C2F4"/>
                      </a:solidFill>
                      <a:prstDash val="solid"/>
                      <a:round/>
                      <a:headEnd type="none" w="sm" len="sm"/>
                      <a:tailEnd type="none" w="sm" len="sm"/>
                    </a:lnR>
                    <a:lnT w="9525" cap="flat" cmpd="sng">
                      <a:solidFill>
                        <a:srgbClr val="A4C2F4"/>
                      </a:solidFill>
                      <a:prstDash val="solid"/>
                      <a:round/>
                      <a:headEnd type="none" w="sm" len="sm"/>
                      <a:tailEnd type="none" w="sm" len="sm"/>
                    </a:lnT>
                    <a:lnB w="9525" cap="flat" cmpd="sng">
                      <a:solidFill>
                        <a:srgbClr val="A4C2F4"/>
                      </a:solidFill>
                      <a:prstDash val="solid"/>
                      <a:round/>
                      <a:headEnd type="none" w="sm" len="sm"/>
                      <a:tailEnd type="none" w="sm" len="sm"/>
                    </a:lnB>
                    <a:solidFill>
                      <a:srgbClr val="A4C2F4"/>
                    </a:solidFill>
                  </a:tcPr>
                </a:tc>
                <a:extLst>
                  <a:ext uri="{0D108BD9-81ED-4DB2-BD59-A6C34878D82A}">
                    <a16:rowId xmlns:a16="http://schemas.microsoft.com/office/drawing/2014/main" val="10000"/>
                  </a:ext>
                </a:extLst>
              </a:tr>
              <a:tr h="283000">
                <a:tc>
                  <a:txBody>
                    <a:bodyPr/>
                    <a:lstStyle/>
                    <a:p>
                      <a:pPr marL="0" marR="0" lvl="0" indent="0" algn="l" rtl="0">
                        <a:lnSpc>
                          <a:spcPct val="100000"/>
                        </a:lnSpc>
                        <a:spcBef>
                          <a:spcPts val="0"/>
                        </a:spcBef>
                        <a:spcAft>
                          <a:spcPts val="0"/>
                        </a:spcAft>
                        <a:buClr>
                          <a:srgbClr val="000000"/>
                        </a:buClr>
                        <a:buSzPts val="1100"/>
                        <a:buFont typeface="Arial"/>
                        <a:buNone/>
                      </a:pPr>
                      <a:r>
                        <a:rPr lang="en" sz="1300" u="none" strike="noStrike" cap="none" spc="0"/>
                        <a:t>00000000</a:t>
                      </a:r>
                      <a:endParaRPr sz="1300" u="none" strike="noStrike" cap="none" spc="0"/>
                    </a:p>
                  </a:txBody>
                  <a:tcPr marL="65300" marR="65300" marT="65300" marB="653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A4C2F4"/>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300" u="none" strike="noStrike" cap="none" spc="0"/>
                        <a:t>0</a:t>
                      </a:r>
                      <a:endParaRPr sz="1300" u="none" strike="noStrike" cap="none" spc="0"/>
                    </a:p>
                  </a:txBody>
                  <a:tcPr marL="65300" marR="65300" marT="65300" marB="653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A4C2F4"/>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300" u="none" strike="noStrike" cap="none" spc="0"/>
                        <a:t>0.1</a:t>
                      </a:r>
                      <a:endParaRPr sz="1300" u="none" strike="noStrike" cap="none" spc="0"/>
                    </a:p>
                  </a:txBody>
                  <a:tcPr marL="65300" marR="65300" marT="65300" marB="653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A4C2F4"/>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300" u="none" strike="noStrike" cap="none" spc="0"/>
                        <a:t>+0.1</a:t>
                      </a:r>
                      <a:endParaRPr sz="1300" u="none" strike="noStrike" cap="none" spc="0"/>
                    </a:p>
                  </a:txBody>
                  <a:tcPr marL="65300" marR="65300" marT="65300" marB="653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A4C2F4"/>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283000">
                <a:tc>
                  <a:txBody>
                    <a:bodyPr/>
                    <a:lstStyle/>
                    <a:p>
                      <a:pPr marL="0" marR="0" lvl="0" indent="0" algn="l" rtl="0">
                        <a:lnSpc>
                          <a:spcPct val="100000"/>
                        </a:lnSpc>
                        <a:spcBef>
                          <a:spcPts val="0"/>
                        </a:spcBef>
                        <a:spcAft>
                          <a:spcPts val="0"/>
                        </a:spcAft>
                        <a:buClr>
                          <a:srgbClr val="000000"/>
                        </a:buClr>
                        <a:buSzPts val="1100"/>
                        <a:buFont typeface="Arial"/>
                        <a:buNone/>
                      </a:pPr>
                      <a:r>
                        <a:rPr lang="en" sz="1300" u="none" strike="noStrike" cap="none" spc="0"/>
                        <a:t>11111111</a:t>
                      </a:r>
                      <a:endParaRPr sz="1300" u="none" strike="noStrike" cap="none" spc="0"/>
                    </a:p>
                  </a:txBody>
                  <a:tcPr marL="65300" marR="65300" marT="65300" marB="653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300" u="none" strike="noStrike" cap="none" spc="0"/>
                        <a:t>4.2</a:t>
                      </a:r>
                      <a:endParaRPr sz="1300" u="none" strike="noStrike" cap="none" spc="0"/>
                    </a:p>
                  </a:txBody>
                  <a:tcPr marL="65300" marR="65300" marT="65300" marB="653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300" u="none" strike="noStrike" cap="none" spc="0"/>
                        <a:t>4.192</a:t>
                      </a:r>
                      <a:endParaRPr sz="1300" u="none" strike="noStrike" cap="none" spc="0"/>
                    </a:p>
                  </a:txBody>
                  <a:tcPr marL="65300" marR="65300" marT="65300" marB="653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300" u="none" strike="noStrike" cap="none" spc="0"/>
                        <a:t>-0.008</a:t>
                      </a:r>
                      <a:endParaRPr sz="1300" u="none" strike="noStrike" cap="none" spc="0"/>
                    </a:p>
                  </a:txBody>
                  <a:tcPr marL="65300" marR="65300" marT="65300" marB="653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26550">
                <a:tc>
                  <a:txBody>
                    <a:bodyPr/>
                    <a:lstStyle/>
                    <a:p>
                      <a:pPr marL="0" marR="0" lvl="0" indent="0" algn="l" rtl="0">
                        <a:lnSpc>
                          <a:spcPct val="100000"/>
                        </a:lnSpc>
                        <a:spcBef>
                          <a:spcPts val="0"/>
                        </a:spcBef>
                        <a:spcAft>
                          <a:spcPts val="0"/>
                        </a:spcAft>
                        <a:buClr>
                          <a:srgbClr val="000000"/>
                        </a:buClr>
                        <a:buSzPts val="1100"/>
                        <a:buFont typeface="Arial"/>
                        <a:buNone/>
                      </a:pPr>
                      <a:r>
                        <a:rPr lang="en" sz="1300" u="none" strike="noStrike" cap="none"/>
                        <a:t>00000001</a:t>
                      </a:r>
                      <a:endParaRPr sz="1300" u="none" strike="noStrike" cap="none" spc="0"/>
                    </a:p>
                  </a:txBody>
                  <a:tcPr marL="65300" marR="65300" marT="65300" marB="653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300" u="none" strike="noStrike" cap="none" spc="0"/>
                        <a:t>2.1</a:t>
                      </a:r>
                      <a:endParaRPr sz="1300" u="none" strike="noStrike" cap="none" spc="0"/>
                    </a:p>
                  </a:txBody>
                  <a:tcPr marL="65300" marR="65300" marT="65300" marB="653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300" u="none" strike="noStrike" cap="none" spc="0"/>
                        <a:t>2.1</a:t>
                      </a:r>
                      <a:r>
                        <a:rPr lang="en" sz="1300" u="none" strike="noStrike" cap="none"/>
                        <a:t>15</a:t>
                      </a:r>
                      <a:endParaRPr sz="1300" u="none" strike="noStrike" cap="none" spc="0"/>
                    </a:p>
                  </a:txBody>
                  <a:tcPr marL="65300" marR="65300" marT="65300" marB="653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300" u="none" strike="noStrike" cap="none"/>
                        <a:t>+0.015</a:t>
                      </a:r>
                      <a:endParaRPr sz="1300" u="none" strike="noStrike" cap="none" spc="0"/>
                    </a:p>
                  </a:txBody>
                  <a:tcPr marL="65300" marR="65300" marT="65300" marB="653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283000">
                <a:tc>
                  <a:txBody>
                    <a:bodyPr/>
                    <a:lstStyle/>
                    <a:p>
                      <a:pPr marL="0" marR="0" lvl="0" indent="0" algn="l" rtl="0">
                        <a:lnSpc>
                          <a:spcPct val="100000"/>
                        </a:lnSpc>
                        <a:spcBef>
                          <a:spcPts val="0"/>
                        </a:spcBef>
                        <a:spcAft>
                          <a:spcPts val="0"/>
                        </a:spcAft>
                        <a:buClr>
                          <a:srgbClr val="000000"/>
                        </a:buClr>
                        <a:buSzPts val="1100"/>
                        <a:buFont typeface="Arial"/>
                        <a:buNone/>
                      </a:pPr>
                      <a:r>
                        <a:rPr lang="en" sz="1300" u="none" strike="noStrike" cap="none" spc="0"/>
                        <a:t>10101010</a:t>
                      </a:r>
                      <a:endParaRPr sz="1300" u="none" strike="noStrike" cap="none" spc="0"/>
                    </a:p>
                  </a:txBody>
                  <a:tcPr marL="65300" marR="65300" marT="65300" marB="653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300" u="none" strike="noStrike" cap="none" spc="0"/>
                        <a:t>1.395</a:t>
                      </a:r>
                      <a:endParaRPr sz="1300" u="none" strike="noStrike" cap="none" spc="0"/>
                    </a:p>
                  </a:txBody>
                  <a:tcPr marL="65300" marR="65300" marT="65300" marB="653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300" u="none" strike="noStrike" cap="none" spc="0"/>
                        <a:t>1.41</a:t>
                      </a:r>
                      <a:endParaRPr sz="1300" u="none" strike="noStrike" cap="none" spc="0"/>
                    </a:p>
                  </a:txBody>
                  <a:tcPr marL="65300" marR="65300" marT="65300" marB="653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300" u="none" strike="noStrike" cap="none" spc="0"/>
                        <a:t>-0.015</a:t>
                      </a:r>
                      <a:endParaRPr sz="1300" u="none" strike="noStrike" cap="none" spc="0"/>
                    </a:p>
                  </a:txBody>
                  <a:tcPr marL="65300" marR="65300" marT="65300" marB="653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326550">
                <a:tc>
                  <a:txBody>
                    <a:bodyPr/>
                    <a:lstStyle/>
                    <a:p>
                      <a:pPr marL="0" marR="0" lvl="0" indent="0" algn="l" rtl="0">
                        <a:lnSpc>
                          <a:spcPct val="100000"/>
                        </a:lnSpc>
                        <a:spcBef>
                          <a:spcPts val="0"/>
                        </a:spcBef>
                        <a:spcAft>
                          <a:spcPts val="0"/>
                        </a:spcAft>
                        <a:buClr>
                          <a:schemeClr val="dk1"/>
                        </a:buClr>
                        <a:buSzPts val="1300"/>
                        <a:buFont typeface="Arial"/>
                        <a:buNone/>
                      </a:pPr>
                      <a:r>
                        <a:rPr lang="en" sz="1300" u="none" strike="noStrike" cap="none"/>
                        <a:t>01010101</a:t>
                      </a:r>
                      <a:endParaRPr sz="1300" u="none" strike="noStrike" cap="none" spc="0"/>
                    </a:p>
                  </a:txBody>
                  <a:tcPr marL="65300" marR="65300" marT="65300" marB="653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300"/>
                        <a:buFont typeface="Arial"/>
                        <a:buNone/>
                      </a:pPr>
                      <a:r>
                        <a:rPr lang="en" sz="1300" u="none" strike="noStrike" cap="none"/>
                        <a:t>2.789</a:t>
                      </a:r>
                      <a:endParaRPr sz="1300" u="none" strike="noStrike" cap="none" spc="0"/>
                    </a:p>
                  </a:txBody>
                  <a:tcPr marL="65300" marR="65300" marT="65300" marB="653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300"/>
                        <a:buFont typeface="Arial"/>
                        <a:buNone/>
                      </a:pPr>
                      <a:r>
                        <a:rPr lang="en" sz="1300" u="none" strike="noStrike" cap="none"/>
                        <a:t>2.807</a:t>
                      </a:r>
                      <a:endParaRPr sz="1300" u="none" strike="noStrike" cap="none" spc="0"/>
                    </a:p>
                  </a:txBody>
                  <a:tcPr marL="65300" marR="65300" marT="65300" marB="653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300"/>
                        <a:buFont typeface="Arial"/>
                        <a:buNone/>
                      </a:pPr>
                      <a:r>
                        <a:rPr lang="en" sz="1300" u="none" strike="noStrike" cap="none"/>
                        <a:t>+0.018</a:t>
                      </a:r>
                      <a:endParaRPr sz="1300" u="none" strike="noStrike" cap="none" spc="0"/>
                    </a:p>
                  </a:txBody>
                  <a:tcPr marL="65300" marR="65300" marT="65300" marB="653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326550">
                <a:tc>
                  <a:txBody>
                    <a:bodyPr/>
                    <a:lstStyle/>
                    <a:p>
                      <a:pPr marL="0" marR="0" lvl="0" indent="0" algn="l" rtl="0">
                        <a:lnSpc>
                          <a:spcPct val="100000"/>
                        </a:lnSpc>
                        <a:spcBef>
                          <a:spcPts val="0"/>
                        </a:spcBef>
                        <a:spcAft>
                          <a:spcPts val="0"/>
                        </a:spcAft>
                        <a:buClr>
                          <a:schemeClr val="dk1"/>
                        </a:buClr>
                        <a:buSzPts val="1300"/>
                        <a:buFont typeface="Arial"/>
                        <a:buNone/>
                      </a:pPr>
                      <a:r>
                        <a:rPr lang="en" sz="1300" u="none" strike="noStrike" cap="none"/>
                        <a:t>00001111</a:t>
                      </a:r>
                      <a:endParaRPr sz="1300" u="none" strike="noStrike" cap="none" spc="0"/>
                    </a:p>
                  </a:txBody>
                  <a:tcPr marL="65300" marR="65300" marT="65300" marB="653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300"/>
                        <a:buFont typeface="Arial"/>
                        <a:buNone/>
                      </a:pPr>
                      <a:r>
                        <a:rPr lang="en" sz="1300" u="none" strike="noStrike" cap="none"/>
                        <a:t>3.938</a:t>
                      </a:r>
                      <a:endParaRPr sz="1300" u="none" strike="noStrike" cap="none" spc="0"/>
                    </a:p>
                  </a:txBody>
                  <a:tcPr marL="65300" marR="65300" marT="65300" marB="653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300"/>
                        <a:buFont typeface="Arial"/>
                        <a:buNone/>
                      </a:pPr>
                      <a:r>
                        <a:rPr lang="en" sz="1300" u="none" strike="noStrike" cap="none"/>
                        <a:t>3.949</a:t>
                      </a:r>
                      <a:endParaRPr sz="1300" u="none" strike="noStrike" cap="none" spc="0"/>
                    </a:p>
                  </a:txBody>
                  <a:tcPr marL="65300" marR="65300" marT="65300" marB="653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300"/>
                        <a:buFont typeface="Arial"/>
                        <a:buNone/>
                      </a:pPr>
                      <a:r>
                        <a:rPr lang="en" sz="1300" u="none" strike="noStrike" cap="none"/>
                        <a:t>+0.011</a:t>
                      </a:r>
                      <a:endParaRPr sz="1300" u="none" strike="noStrike" cap="none" spc="0"/>
                    </a:p>
                  </a:txBody>
                  <a:tcPr marL="65300" marR="65300" marT="65300" marB="653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372" name="Google Shape;372;p50"/>
          <p:cNvSpPr txBox="1"/>
          <p:nvPr/>
        </p:nvSpPr>
        <p:spPr>
          <a:xfrm>
            <a:off x="5336546" y="4041411"/>
            <a:ext cx="2875800" cy="756000"/>
          </a:xfrm>
          <a:prstGeom prst="rect">
            <a:avLst/>
          </a:prstGeom>
          <a:noFill/>
          <a:ln>
            <a:noFill/>
          </a:ln>
        </p:spPr>
        <p:txBody>
          <a:bodyPr spcFirstLastPara="1" wrap="square" lIns="65300" tIns="65300" rIns="65300" bIns="65300" anchor="t" anchorCtr="0">
            <a:noAutofit/>
          </a:bodyPr>
          <a:lstStyle/>
          <a:p>
            <a:pPr marL="0" marR="0" lvl="0" indent="0" algn="l" rtl="0">
              <a:spcBef>
                <a:spcPts val="0"/>
              </a:spcBef>
              <a:spcAft>
                <a:spcPts val="0"/>
              </a:spcAft>
              <a:buNone/>
            </a:pPr>
            <a:r>
              <a:rPr lang="en" sz="1500" b="1">
                <a:solidFill>
                  <a:schemeClr val="dk1"/>
                </a:solidFill>
                <a:latin typeface="Arial"/>
                <a:ea typeface="Arial"/>
                <a:cs typeface="Arial"/>
                <a:sym typeface="Arial"/>
              </a:rPr>
              <a:t>VLSB =  </a:t>
            </a:r>
            <a:r>
              <a:rPr lang="en" sz="1500" b="1" u="sng">
                <a:solidFill>
                  <a:schemeClr val="dk1"/>
                </a:solidFill>
                <a:latin typeface="Arial"/>
                <a:ea typeface="Arial"/>
                <a:cs typeface="Arial"/>
                <a:sym typeface="Arial"/>
              </a:rPr>
              <a:t>Vref </a:t>
            </a:r>
            <a:r>
              <a:rPr lang="en" sz="1500" b="1">
                <a:solidFill>
                  <a:schemeClr val="dk1"/>
                </a:solidFill>
                <a:latin typeface="Arial"/>
                <a:ea typeface="Arial"/>
                <a:cs typeface="Arial"/>
                <a:sym typeface="Arial"/>
              </a:rPr>
              <a:t>=  </a:t>
            </a:r>
            <a:r>
              <a:rPr lang="en" sz="1500" b="1" u="sng">
                <a:solidFill>
                  <a:schemeClr val="dk1"/>
                </a:solidFill>
                <a:latin typeface="Arial"/>
                <a:ea typeface="Arial"/>
                <a:cs typeface="Arial"/>
                <a:sym typeface="Arial"/>
              </a:rPr>
              <a:t> 4.2</a:t>
            </a:r>
            <a:r>
              <a:rPr lang="en" sz="1500" b="1">
                <a:solidFill>
                  <a:schemeClr val="dk1"/>
                </a:solidFill>
                <a:latin typeface="Arial"/>
                <a:ea typeface="Arial"/>
                <a:cs typeface="Arial"/>
                <a:sym typeface="Arial"/>
              </a:rPr>
              <a:t>  = 0.0164V</a:t>
            </a:r>
            <a:br>
              <a:rPr lang="en" sz="1500" b="1">
                <a:solidFill>
                  <a:schemeClr val="dk1"/>
                </a:solidFill>
                <a:latin typeface="Arial"/>
                <a:ea typeface="Arial"/>
                <a:cs typeface="Arial"/>
                <a:sym typeface="Arial"/>
              </a:rPr>
            </a:br>
            <a:r>
              <a:rPr lang="en" sz="1500" b="1">
                <a:solidFill>
                  <a:schemeClr val="dk1"/>
                </a:solidFill>
                <a:latin typeface="Arial"/>
                <a:ea typeface="Arial"/>
                <a:cs typeface="Arial"/>
                <a:sym typeface="Arial"/>
              </a:rPr>
              <a:t>               2^N     2^8</a:t>
            </a:r>
            <a:endParaRPr sz="1500" b="1">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1"/>
          <p:cNvSpPr txBox="1"/>
          <p:nvPr/>
        </p:nvSpPr>
        <p:spPr>
          <a:xfrm>
            <a:off x="371260" y="458602"/>
            <a:ext cx="7966714" cy="417703"/>
          </a:xfrm>
          <a:prstGeom prst="rect">
            <a:avLst/>
          </a:prstGeom>
          <a:noFill/>
          <a:ln>
            <a:noFill/>
          </a:ln>
        </p:spPr>
        <p:txBody>
          <a:bodyPr spcFirstLastPara="1" wrap="square" lIns="65300" tIns="32625" rIns="65300" bIns="32625" anchor="t" anchorCtr="0">
            <a:spAutoFit/>
          </a:bodyPr>
          <a:lstStyle/>
          <a:p>
            <a:pPr marL="0" marR="0" lvl="0" indent="0" algn="ctr" rtl="0">
              <a:spcBef>
                <a:spcPts val="0"/>
              </a:spcBef>
              <a:spcAft>
                <a:spcPts val="0"/>
              </a:spcAft>
              <a:buNone/>
            </a:pPr>
            <a:r>
              <a:rPr lang="en" sz="2300" b="1">
                <a:solidFill>
                  <a:schemeClr val="dk1"/>
                </a:solidFill>
                <a:latin typeface="Arial"/>
                <a:ea typeface="Arial"/>
                <a:cs typeface="Arial"/>
                <a:sym typeface="Arial"/>
              </a:rPr>
              <a:t>Simulation plots</a:t>
            </a:r>
            <a:endParaRPr sz="2300" b="1">
              <a:solidFill>
                <a:schemeClr val="dk1"/>
              </a:solidFill>
              <a:latin typeface="Calibri"/>
              <a:ea typeface="Calibri"/>
              <a:cs typeface="Calibri"/>
              <a:sym typeface="Calibri"/>
            </a:endParaRPr>
          </a:p>
        </p:txBody>
      </p:sp>
      <p:pic>
        <p:nvPicPr>
          <p:cNvPr id="379" name="Google Shape;379;p51"/>
          <p:cNvPicPr preferRelativeResize="0"/>
          <p:nvPr/>
        </p:nvPicPr>
        <p:blipFill rotWithShape="1">
          <a:blip r:embed="rId3">
            <a:alphaModFix/>
          </a:blip>
          <a:srcRect/>
          <a:stretch/>
        </p:blipFill>
        <p:spPr>
          <a:xfrm>
            <a:off x="1089554" y="1109375"/>
            <a:ext cx="2375286" cy="1596249"/>
          </a:xfrm>
          <a:prstGeom prst="rect">
            <a:avLst/>
          </a:prstGeom>
          <a:noFill/>
          <a:ln>
            <a:noFill/>
          </a:ln>
        </p:spPr>
      </p:pic>
      <p:pic>
        <p:nvPicPr>
          <p:cNvPr id="380" name="Google Shape;380;p51"/>
          <p:cNvPicPr preferRelativeResize="0"/>
          <p:nvPr/>
        </p:nvPicPr>
        <p:blipFill rotWithShape="1">
          <a:blip r:embed="rId4">
            <a:alphaModFix/>
          </a:blip>
          <a:srcRect/>
          <a:stretch/>
        </p:blipFill>
        <p:spPr>
          <a:xfrm>
            <a:off x="5267179" y="1109375"/>
            <a:ext cx="2612090" cy="1631089"/>
          </a:xfrm>
          <a:prstGeom prst="rect">
            <a:avLst/>
          </a:prstGeom>
          <a:noFill/>
          <a:ln>
            <a:noFill/>
          </a:ln>
        </p:spPr>
      </p:pic>
      <p:pic>
        <p:nvPicPr>
          <p:cNvPr id="381" name="Google Shape;381;p51"/>
          <p:cNvPicPr preferRelativeResize="0"/>
          <p:nvPr/>
        </p:nvPicPr>
        <p:blipFill rotWithShape="1">
          <a:blip r:embed="rId5">
            <a:alphaModFix/>
          </a:blip>
          <a:srcRect/>
          <a:stretch/>
        </p:blipFill>
        <p:spPr>
          <a:xfrm>
            <a:off x="1089553" y="2938536"/>
            <a:ext cx="2375286" cy="1813679"/>
          </a:xfrm>
          <a:prstGeom prst="rect">
            <a:avLst/>
          </a:prstGeom>
          <a:noFill/>
          <a:ln>
            <a:noFill/>
          </a:ln>
        </p:spPr>
      </p:pic>
      <p:pic>
        <p:nvPicPr>
          <p:cNvPr id="382" name="Google Shape;382;p51"/>
          <p:cNvPicPr preferRelativeResize="0"/>
          <p:nvPr/>
        </p:nvPicPr>
        <p:blipFill rotWithShape="1">
          <a:blip r:embed="rId6">
            <a:alphaModFix/>
          </a:blip>
          <a:srcRect/>
          <a:stretch/>
        </p:blipFill>
        <p:spPr>
          <a:xfrm>
            <a:off x="5267179" y="2973375"/>
            <a:ext cx="2612089" cy="1778840"/>
          </a:xfrm>
          <a:prstGeom prst="rect">
            <a:avLst/>
          </a:prstGeom>
          <a:noFill/>
          <a:ln>
            <a:noFill/>
          </a:ln>
        </p:spPr>
      </p:pic>
      <p:sp>
        <p:nvSpPr>
          <p:cNvPr id="383" name="Google Shape;383;p51"/>
          <p:cNvSpPr txBox="1"/>
          <p:nvPr/>
        </p:nvSpPr>
        <p:spPr>
          <a:xfrm>
            <a:off x="1318299" y="911677"/>
            <a:ext cx="2056800" cy="148500"/>
          </a:xfrm>
          <a:prstGeom prst="rect">
            <a:avLst/>
          </a:prstGeom>
          <a:noFill/>
          <a:ln>
            <a:noFill/>
          </a:ln>
        </p:spPr>
        <p:txBody>
          <a:bodyPr spcFirstLastPara="1" wrap="square" lIns="65300" tIns="65300" rIns="65300" bIns="65300" anchor="t" anchorCtr="0">
            <a:noAutofit/>
          </a:bodyPr>
          <a:lstStyle/>
          <a:p>
            <a:pPr marL="0" marR="0" lvl="0" indent="0" algn="l" rtl="0">
              <a:spcBef>
                <a:spcPts val="0"/>
              </a:spcBef>
              <a:spcAft>
                <a:spcPts val="0"/>
              </a:spcAft>
              <a:buNone/>
            </a:pPr>
            <a:r>
              <a:rPr lang="en" sz="800" b="1">
                <a:solidFill>
                  <a:schemeClr val="dk1"/>
                </a:solidFill>
              </a:rPr>
              <a:t>DATA_in=11111111 ,       Vout=4.2V</a:t>
            </a:r>
            <a:endParaRPr sz="800" b="1">
              <a:solidFill>
                <a:schemeClr val="dk1"/>
              </a:solidFill>
            </a:endParaRPr>
          </a:p>
        </p:txBody>
      </p:sp>
      <p:sp>
        <p:nvSpPr>
          <p:cNvPr id="384" name="Google Shape;384;p51"/>
          <p:cNvSpPr txBox="1"/>
          <p:nvPr/>
        </p:nvSpPr>
        <p:spPr>
          <a:xfrm>
            <a:off x="5685277" y="911675"/>
            <a:ext cx="2000700" cy="211500"/>
          </a:xfrm>
          <a:prstGeom prst="rect">
            <a:avLst/>
          </a:prstGeom>
          <a:noFill/>
          <a:ln>
            <a:noFill/>
          </a:ln>
        </p:spPr>
        <p:txBody>
          <a:bodyPr spcFirstLastPara="1" wrap="square" lIns="65300" tIns="65300" rIns="65300" bIns="65300" anchor="t" anchorCtr="0">
            <a:noAutofit/>
          </a:bodyPr>
          <a:lstStyle/>
          <a:p>
            <a:pPr marL="0" marR="0" lvl="0" indent="0" algn="l" rtl="0">
              <a:spcBef>
                <a:spcPts val="0"/>
              </a:spcBef>
              <a:spcAft>
                <a:spcPts val="0"/>
              </a:spcAft>
              <a:buNone/>
            </a:pPr>
            <a:r>
              <a:rPr lang="en" sz="800" b="1">
                <a:solidFill>
                  <a:schemeClr val="dk1"/>
                </a:solidFill>
              </a:rPr>
              <a:t>DATA_in=00000000 ,       Vout=0V</a:t>
            </a:r>
            <a:endParaRPr sz="800" b="1">
              <a:solidFill>
                <a:schemeClr val="dk1"/>
              </a:solidFill>
            </a:endParaRPr>
          </a:p>
        </p:txBody>
      </p:sp>
      <p:sp>
        <p:nvSpPr>
          <p:cNvPr id="385" name="Google Shape;385;p51"/>
          <p:cNvSpPr txBox="1"/>
          <p:nvPr/>
        </p:nvSpPr>
        <p:spPr>
          <a:xfrm>
            <a:off x="1354174" y="2680525"/>
            <a:ext cx="2110800" cy="258000"/>
          </a:xfrm>
          <a:prstGeom prst="rect">
            <a:avLst/>
          </a:prstGeom>
          <a:noFill/>
          <a:ln>
            <a:noFill/>
          </a:ln>
        </p:spPr>
        <p:txBody>
          <a:bodyPr spcFirstLastPara="1" wrap="square" lIns="65300" tIns="65300" rIns="65300" bIns="65300" anchor="t" anchorCtr="0">
            <a:noAutofit/>
          </a:bodyPr>
          <a:lstStyle/>
          <a:p>
            <a:pPr marL="0" marR="0" lvl="0" indent="0" algn="l" rtl="0">
              <a:spcBef>
                <a:spcPts val="0"/>
              </a:spcBef>
              <a:spcAft>
                <a:spcPts val="0"/>
              </a:spcAft>
              <a:buNone/>
            </a:pPr>
            <a:r>
              <a:rPr lang="en" sz="800" b="1">
                <a:solidFill>
                  <a:schemeClr val="dk1"/>
                </a:solidFill>
              </a:rPr>
              <a:t>DATA_in=00000001 ,       Vout=2.1V</a:t>
            </a:r>
            <a:endParaRPr sz="800" b="1">
              <a:solidFill>
                <a:schemeClr val="dk1"/>
              </a:solidFill>
            </a:endParaRPr>
          </a:p>
        </p:txBody>
      </p:sp>
      <p:sp>
        <p:nvSpPr>
          <p:cNvPr id="386" name="Google Shape;386;p51"/>
          <p:cNvSpPr txBox="1"/>
          <p:nvPr/>
        </p:nvSpPr>
        <p:spPr>
          <a:xfrm>
            <a:off x="5625875" y="2740475"/>
            <a:ext cx="2196900" cy="258000"/>
          </a:xfrm>
          <a:prstGeom prst="rect">
            <a:avLst/>
          </a:prstGeom>
          <a:noFill/>
          <a:ln>
            <a:noFill/>
          </a:ln>
        </p:spPr>
        <p:txBody>
          <a:bodyPr spcFirstLastPara="1" wrap="square" lIns="65300" tIns="65300" rIns="65300" bIns="65300" anchor="t" anchorCtr="0">
            <a:noAutofit/>
          </a:bodyPr>
          <a:lstStyle/>
          <a:p>
            <a:pPr marL="0" marR="0" lvl="0" indent="0" algn="l" rtl="0">
              <a:spcBef>
                <a:spcPts val="0"/>
              </a:spcBef>
              <a:spcAft>
                <a:spcPts val="0"/>
              </a:spcAft>
              <a:buNone/>
            </a:pPr>
            <a:r>
              <a:rPr lang="en" sz="800" b="1">
                <a:solidFill>
                  <a:schemeClr val="dk1"/>
                </a:solidFill>
              </a:rPr>
              <a:t>DATA_in=10101010 ,       Vout=1.41V</a:t>
            </a:r>
            <a:endParaRPr sz="800" b="1">
              <a:solidFill>
                <a:schemeClr val="dk1"/>
              </a:solidFill>
            </a:endParaRPr>
          </a:p>
        </p:txBody>
      </p:sp>
      <p:sp>
        <p:nvSpPr>
          <p:cNvPr id="387" name="Google Shape;387;p51"/>
          <p:cNvSpPr txBox="1"/>
          <p:nvPr/>
        </p:nvSpPr>
        <p:spPr>
          <a:xfrm>
            <a:off x="8145464" y="4496786"/>
            <a:ext cx="912428" cy="211500"/>
          </a:xfrm>
          <a:prstGeom prst="rect">
            <a:avLst/>
          </a:prstGeom>
          <a:noFill/>
          <a:ln>
            <a:noFill/>
          </a:ln>
        </p:spPr>
        <p:txBody>
          <a:bodyPr spcFirstLastPara="1" wrap="square" lIns="65300" tIns="65300" rIns="65300" bIns="65300" anchor="t" anchorCtr="0">
            <a:noAutofit/>
          </a:bodyPr>
          <a:lstStyle/>
          <a:p>
            <a:pPr marL="0" marR="0" lvl="0" indent="0" algn="l" rtl="0">
              <a:spcBef>
                <a:spcPts val="0"/>
              </a:spcBef>
              <a:spcAft>
                <a:spcPts val="0"/>
              </a:spcAft>
              <a:buNone/>
            </a:pPr>
            <a:r>
              <a:rPr lang="en" sz="900">
                <a:solidFill>
                  <a:schemeClr val="dk1"/>
                </a:solidFill>
                <a:latin typeface="Arial"/>
                <a:ea typeface="Arial"/>
                <a:cs typeface="Arial"/>
                <a:sym typeface="Arial"/>
              </a:rPr>
              <a:t>*LSB- &gt;MSB</a:t>
            </a:r>
            <a:endParaRPr sz="900">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52"/>
          <p:cNvSpPr txBox="1">
            <a:spLocks noGrp="1"/>
          </p:cNvSpPr>
          <p:nvPr>
            <p:ph type="sldNum" idx="12"/>
          </p:nvPr>
        </p:nvSpPr>
        <p:spPr>
          <a:xfrm>
            <a:off x="6631832" y="4655767"/>
            <a:ext cx="2057357" cy="260785"/>
          </a:xfrm>
          <a:prstGeom prst="rect">
            <a:avLst/>
          </a:prstGeom>
          <a:noFill/>
          <a:ln>
            <a:noFill/>
          </a:ln>
        </p:spPr>
        <p:txBody>
          <a:bodyPr spcFirstLastPara="1" wrap="square" lIns="65300" tIns="32625" rIns="65300" bIns="32625" anchor="ctr"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
              <a:t>30</a:t>
            </a:fld>
            <a:endParaRPr/>
          </a:p>
        </p:txBody>
      </p:sp>
      <p:sp>
        <p:nvSpPr>
          <p:cNvPr id="394" name="Google Shape;394;p52"/>
          <p:cNvSpPr txBox="1">
            <a:spLocks noGrp="1"/>
          </p:cNvSpPr>
          <p:nvPr>
            <p:ph type="title"/>
          </p:nvPr>
        </p:nvSpPr>
        <p:spPr>
          <a:xfrm>
            <a:off x="628650" y="305895"/>
            <a:ext cx="7886786" cy="494357"/>
          </a:xfrm>
          <a:prstGeom prst="rect">
            <a:avLst/>
          </a:prstGeom>
          <a:noFill/>
          <a:ln>
            <a:noFill/>
          </a:ln>
        </p:spPr>
        <p:txBody>
          <a:bodyPr spcFirstLastPara="1" wrap="square" lIns="65300" tIns="32625" rIns="65300" bIns="32625" anchor="ctr" anchorCtr="0">
            <a:normAutofit/>
          </a:bodyPr>
          <a:lstStyle/>
          <a:p>
            <a:pPr marL="0" lvl="0" indent="0" algn="ctr" rtl="0">
              <a:lnSpc>
                <a:spcPct val="100000"/>
              </a:lnSpc>
              <a:spcBef>
                <a:spcPts val="0"/>
              </a:spcBef>
              <a:spcAft>
                <a:spcPts val="0"/>
              </a:spcAft>
              <a:buClr>
                <a:schemeClr val="dk1"/>
              </a:buClr>
              <a:buFont typeface="Arial"/>
              <a:buNone/>
            </a:pPr>
            <a:r>
              <a:rPr lang="en" sz="2300"/>
              <a:t>Simulation plots</a:t>
            </a:r>
            <a:endParaRPr/>
          </a:p>
        </p:txBody>
      </p:sp>
      <p:sp>
        <p:nvSpPr>
          <p:cNvPr id="395" name="Google Shape;395;p52"/>
          <p:cNvSpPr txBox="1"/>
          <p:nvPr/>
        </p:nvSpPr>
        <p:spPr>
          <a:xfrm>
            <a:off x="999095" y="1196375"/>
            <a:ext cx="2740800" cy="363000"/>
          </a:xfrm>
          <a:prstGeom prst="rect">
            <a:avLst/>
          </a:prstGeom>
          <a:noFill/>
          <a:ln>
            <a:noFill/>
          </a:ln>
        </p:spPr>
        <p:txBody>
          <a:bodyPr spcFirstLastPara="1" wrap="square" lIns="65300" tIns="65300" rIns="65300" bIns="65300" anchor="t" anchorCtr="0">
            <a:noAutofit/>
          </a:bodyPr>
          <a:lstStyle/>
          <a:p>
            <a:pPr marL="0" marR="0" lvl="0" indent="0" algn="l" rtl="0">
              <a:spcBef>
                <a:spcPts val="0"/>
              </a:spcBef>
              <a:spcAft>
                <a:spcPts val="0"/>
              </a:spcAft>
              <a:buNone/>
            </a:pPr>
            <a:r>
              <a:rPr lang="en" sz="1000" b="1">
                <a:solidFill>
                  <a:schemeClr val="dk1"/>
                </a:solidFill>
              </a:rPr>
              <a:t>DATA_in=00001111 ,      Vout= 0.394V</a:t>
            </a:r>
            <a:endParaRPr sz="1000" b="1">
              <a:solidFill>
                <a:schemeClr val="dk1"/>
              </a:solidFill>
            </a:endParaRPr>
          </a:p>
        </p:txBody>
      </p:sp>
      <p:pic>
        <p:nvPicPr>
          <p:cNvPr id="396" name="Google Shape;396;p52"/>
          <p:cNvPicPr preferRelativeResize="0"/>
          <p:nvPr/>
        </p:nvPicPr>
        <p:blipFill rotWithShape="1">
          <a:blip r:embed="rId3">
            <a:alphaModFix/>
          </a:blip>
          <a:srcRect/>
          <a:stretch/>
        </p:blipFill>
        <p:spPr>
          <a:xfrm>
            <a:off x="4789929" y="1507955"/>
            <a:ext cx="3396820" cy="2823268"/>
          </a:xfrm>
          <a:prstGeom prst="rect">
            <a:avLst/>
          </a:prstGeom>
          <a:noFill/>
          <a:ln>
            <a:noFill/>
          </a:ln>
        </p:spPr>
      </p:pic>
      <p:sp>
        <p:nvSpPr>
          <p:cNvPr id="397" name="Google Shape;397;p52"/>
          <p:cNvSpPr txBox="1"/>
          <p:nvPr/>
        </p:nvSpPr>
        <p:spPr>
          <a:xfrm>
            <a:off x="5378279" y="1156599"/>
            <a:ext cx="2615700" cy="260700"/>
          </a:xfrm>
          <a:prstGeom prst="rect">
            <a:avLst/>
          </a:prstGeom>
          <a:noFill/>
          <a:ln>
            <a:noFill/>
          </a:ln>
        </p:spPr>
        <p:txBody>
          <a:bodyPr spcFirstLastPara="1" wrap="square" lIns="65300" tIns="65300" rIns="65300" bIns="65300" anchor="t" anchorCtr="0">
            <a:noAutofit/>
          </a:bodyPr>
          <a:lstStyle/>
          <a:p>
            <a:pPr marL="0" marR="0" lvl="0" indent="0" algn="l" rtl="0">
              <a:spcBef>
                <a:spcPts val="0"/>
              </a:spcBef>
              <a:spcAft>
                <a:spcPts val="0"/>
              </a:spcAft>
              <a:buNone/>
            </a:pPr>
            <a:r>
              <a:rPr lang="en" sz="1000" b="1">
                <a:solidFill>
                  <a:schemeClr val="dk1"/>
                </a:solidFill>
              </a:rPr>
              <a:t>DATA_in=11110000 ,      Vout= 0.41V</a:t>
            </a:r>
            <a:endParaRPr sz="1000" b="1">
              <a:solidFill>
                <a:schemeClr val="dk1"/>
              </a:solidFill>
            </a:endParaRPr>
          </a:p>
        </p:txBody>
      </p:sp>
      <p:pic>
        <p:nvPicPr>
          <p:cNvPr id="398" name="Google Shape;398;p52"/>
          <p:cNvPicPr preferRelativeResize="0"/>
          <p:nvPr/>
        </p:nvPicPr>
        <p:blipFill rotWithShape="1">
          <a:blip r:embed="rId4">
            <a:alphaModFix/>
          </a:blip>
          <a:srcRect/>
          <a:stretch/>
        </p:blipFill>
        <p:spPr>
          <a:xfrm>
            <a:off x="549179" y="1507947"/>
            <a:ext cx="3247029" cy="282326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53"/>
          <p:cNvSpPr txBox="1">
            <a:spLocks noGrp="1"/>
          </p:cNvSpPr>
          <p:nvPr>
            <p:ph type="sldNum" idx="12"/>
          </p:nvPr>
        </p:nvSpPr>
        <p:spPr>
          <a:xfrm>
            <a:off x="6631832" y="4655767"/>
            <a:ext cx="2057357" cy="260785"/>
          </a:xfrm>
          <a:prstGeom prst="rect">
            <a:avLst/>
          </a:prstGeom>
          <a:noFill/>
          <a:ln>
            <a:noFill/>
          </a:ln>
        </p:spPr>
        <p:txBody>
          <a:bodyPr spcFirstLastPara="1" wrap="square" lIns="65300" tIns="32625" rIns="65300" bIns="32625" anchor="ctr"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
              <a:t>31</a:t>
            </a:fld>
            <a:endParaRPr/>
          </a:p>
        </p:txBody>
      </p:sp>
      <p:sp>
        <p:nvSpPr>
          <p:cNvPr id="405" name="Google Shape;405;p53"/>
          <p:cNvSpPr txBox="1">
            <a:spLocks noGrp="1"/>
          </p:cNvSpPr>
          <p:nvPr>
            <p:ph type="title"/>
          </p:nvPr>
        </p:nvSpPr>
        <p:spPr>
          <a:xfrm>
            <a:off x="628650" y="305895"/>
            <a:ext cx="7886786" cy="494357"/>
          </a:xfrm>
          <a:prstGeom prst="rect">
            <a:avLst/>
          </a:prstGeom>
          <a:noFill/>
          <a:ln>
            <a:noFill/>
          </a:ln>
        </p:spPr>
        <p:txBody>
          <a:bodyPr spcFirstLastPara="1" wrap="square" lIns="65300" tIns="32625" rIns="65300" bIns="3262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t>test case of generating Sine wave</a:t>
            </a:r>
            <a:endParaRPr/>
          </a:p>
        </p:txBody>
      </p:sp>
      <p:pic>
        <p:nvPicPr>
          <p:cNvPr id="406" name="Google Shape;406;p53"/>
          <p:cNvPicPr preferRelativeResize="0"/>
          <p:nvPr/>
        </p:nvPicPr>
        <p:blipFill rotWithShape="1">
          <a:blip r:embed="rId3">
            <a:alphaModFix/>
          </a:blip>
          <a:srcRect/>
          <a:stretch/>
        </p:blipFill>
        <p:spPr>
          <a:xfrm>
            <a:off x="24893" y="1774554"/>
            <a:ext cx="4694465" cy="2433142"/>
          </a:xfrm>
          <a:prstGeom prst="rect">
            <a:avLst/>
          </a:prstGeom>
          <a:noFill/>
          <a:ln>
            <a:noFill/>
          </a:ln>
          <a:effectLst>
            <a:outerShdw blurRad="57150" dist="19050" dir="5400000" algn="bl" rotWithShape="0">
              <a:srgbClr val="000000">
                <a:alpha val="50196"/>
              </a:srgbClr>
            </a:outerShdw>
          </a:effectLst>
        </p:spPr>
      </p:pic>
      <p:pic>
        <p:nvPicPr>
          <p:cNvPr id="407" name="Google Shape;407;p53"/>
          <p:cNvPicPr preferRelativeResize="0"/>
          <p:nvPr/>
        </p:nvPicPr>
        <p:blipFill rotWithShape="1">
          <a:blip r:embed="rId4">
            <a:alphaModFix/>
          </a:blip>
          <a:srcRect t="2856"/>
          <a:stretch/>
        </p:blipFill>
        <p:spPr>
          <a:xfrm>
            <a:off x="4743233" y="1774553"/>
            <a:ext cx="4372661" cy="2464893"/>
          </a:xfrm>
          <a:prstGeom prst="rect">
            <a:avLst/>
          </a:prstGeom>
          <a:noFill/>
          <a:ln>
            <a:noFill/>
          </a:ln>
          <a:effectLst>
            <a:outerShdw blurRad="57150" dist="19050" dir="5400000" algn="bl" rotWithShape="0">
              <a:srgbClr val="000000">
                <a:alpha val="50196"/>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54"/>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t>Design Specifications for Opamp</a:t>
            </a:r>
            <a:endParaRPr/>
          </a:p>
        </p:txBody>
      </p:sp>
      <p:graphicFrame>
        <p:nvGraphicFramePr>
          <p:cNvPr id="413" name="Google Shape;413;p54"/>
          <p:cNvGraphicFramePr/>
          <p:nvPr/>
        </p:nvGraphicFramePr>
        <p:xfrm>
          <a:off x="2943422" y="1518084"/>
          <a:ext cx="3000000" cy="3000000"/>
        </p:xfrm>
        <a:graphic>
          <a:graphicData uri="http://schemas.openxmlformats.org/drawingml/2006/table">
            <a:tbl>
              <a:tblPr firstRow="1" bandRow="1">
                <a:noFill/>
                <a:tableStyleId>{61557439-C961-4ACF-BB76-F6D57C97AC43}</a:tableStyleId>
              </a:tblPr>
              <a:tblGrid>
                <a:gridCol w="393425">
                  <a:extLst>
                    <a:ext uri="{9D8B030D-6E8A-4147-A177-3AD203B41FA5}">
                      <a16:colId xmlns:a16="http://schemas.microsoft.com/office/drawing/2014/main" val="20000"/>
                    </a:ext>
                  </a:extLst>
                </a:gridCol>
                <a:gridCol w="1417150">
                  <a:extLst>
                    <a:ext uri="{9D8B030D-6E8A-4147-A177-3AD203B41FA5}">
                      <a16:colId xmlns:a16="http://schemas.microsoft.com/office/drawing/2014/main" val="20001"/>
                    </a:ext>
                  </a:extLst>
                </a:gridCol>
                <a:gridCol w="1803875">
                  <a:extLst>
                    <a:ext uri="{9D8B030D-6E8A-4147-A177-3AD203B41FA5}">
                      <a16:colId xmlns:a16="http://schemas.microsoft.com/office/drawing/2014/main" val="20002"/>
                    </a:ext>
                  </a:extLst>
                </a:gridCol>
              </a:tblGrid>
              <a:tr h="278125">
                <a:tc>
                  <a:txBody>
                    <a:bodyPr/>
                    <a:lstStyle/>
                    <a:p>
                      <a:pPr marL="0" marR="0" lvl="0" indent="0" algn="ctr" rtl="0">
                        <a:spcBef>
                          <a:spcPts val="0"/>
                        </a:spcBef>
                        <a:spcAft>
                          <a:spcPts val="0"/>
                        </a:spcAft>
                        <a:buNone/>
                      </a:pPr>
                      <a:r>
                        <a:rPr lang="en" sz="1400" u="none" strike="noStrike" cap="none"/>
                        <a:t>No.</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Parameter</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Value</a:t>
                      </a:r>
                      <a:endParaRPr sz="1100"/>
                    </a:p>
                  </a:txBody>
                  <a:tcPr marL="68600" marR="68600" marT="34300" marB="34300"/>
                </a:tc>
                <a:extLst>
                  <a:ext uri="{0D108BD9-81ED-4DB2-BD59-A6C34878D82A}">
                    <a16:rowId xmlns:a16="http://schemas.microsoft.com/office/drawing/2014/main" val="10000"/>
                  </a:ext>
                </a:extLst>
              </a:tr>
              <a:tr h="278125">
                <a:tc>
                  <a:txBody>
                    <a:bodyPr/>
                    <a:lstStyle/>
                    <a:p>
                      <a:pPr marL="0" marR="0" lvl="0" indent="0" algn="ctr" rtl="0">
                        <a:spcBef>
                          <a:spcPts val="0"/>
                        </a:spcBef>
                        <a:spcAft>
                          <a:spcPts val="0"/>
                        </a:spcAft>
                        <a:buNone/>
                      </a:pPr>
                      <a:r>
                        <a:rPr lang="en" sz="1400" u="none" strike="noStrike" cap="none"/>
                        <a:t>1.</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DC Open Loop Gain</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&gt;70dB</a:t>
                      </a:r>
                      <a:endParaRPr sz="1100"/>
                    </a:p>
                  </a:txBody>
                  <a:tcPr marL="68600" marR="68600" marT="34300" marB="34300"/>
                </a:tc>
                <a:extLst>
                  <a:ext uri="{0D108BD9-81ED-4DB2-BD59-A6C34878D82A}">
                    <a16:rowId xmlns:a16="http://schemas.microsoft.com/office/drawing/2014/main" val="10001"/>
                  </a:ext>
                </a:extLst>
              </a:tr>
              <a:tr h="278125">
                <a:tc>
                  <a:txBody>
                    <a:bodyPr/>
                    <a:lstStyle/>
                    <a:p>
                      <a:pPr marL="0" marR="0" lvl="0" indent="0" algn="ctr" rtl="0">
                        <a:spcBef>
                          <a:spcPts val="0"/>
                        </a:spcBef>
                        <a:spcAft>
                          <a:spcPts val="0"/>
                        </a:spcAft>
                        <a:buNone/>
                      </a:pPr>
                      <a:r>
                        <a:rPr lang="en" sz="1400" u="none" strike="noStrike" cap="none"/>
                        <a:t>2.</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Unity Gain Bandwidth</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&gt;30MHz</a:t>
                      </a:r>
                      <a:endParaRPr sz="1100"/>
                    </a:p>
                  </a:txBody>
                  <a:tcPr marL="68600" marR="68600" marT="34300" marB="34300"/>
                </a:tc>
                <a:extLst>
                  <a:ext uri="{0D108BD9-81ED-4DB2-BD59-A6C34878D82A}">
                    <a16:rowId xmlns:a16="http://schemas.microsoft.com/office/drawing/2014/main" val="10002"/>
                  </a:ext>
                </a:extLst>
              </a:tr>
              <a:tr h="278125">
                <a:tc>
                  <a:txBody>
                    <a:bodyPr/>
                    <a:lstStyle/>
                    <a:p>
                      <a:pPr marL="0" marR="0" lvl="0" indent="0" algn="ctr" rtl="0">
                        <a:spcBef>
                          <a:spcPts val="0"/>
                        </a:spcBef>
                        <a:spcAft>
                          <a:spcPts val="0"/>
                        </a:spcAft>
                        <a:buNone/>
                      </a:pPr>
                      <a:r>
                        <a:rPr lang="en" sz="1400" u="none" strike="noStrike" cap="none"/>
                        <a:t>3.</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Phase Margin</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&gt;60̊</a:t>
                      </a:r>
                      <a:endParaRPr sz="1100"/>
                    </a:p>
                  </a:txBody>
                  <a:tcPr marL="68600" marR="68600" marT="34300" marB="34300"/>
                </a:tc>
                <a:extLst>
                  <a:ext uri="{0D108BD9-81ED-4DB2-BD59-A6C34878D82A}">
                    <a16:rowId xmlns:a16="http://schemas.microsoft.com/office/drawing/2014/main" val="10003"/>
                  </a:ext>
                </a:extLst>
              </a:tr>
              <a:tr h="278125">
                <a:tc>
                  <a:txBody>
                    <a:bodyPr/>
                    <a:lstStyle/>
                    <a:p>
                      <a:pPr marL="0" marR="0" lvl="0" indent="0" algn="ctr" rtl="0">
                        <a:spcBef>
                          <a:spcPts val="0"/>
                        </a:spcBef>
                        <a:spcAft>
                          <a:spcPts val="0"/>
                        </a:spcAft>
                        <a:buNone/>
                      </a:pPr>
                      <a:r>
                        <a:rPr lang="en" sz="1400" u="none" strike="noStrike" cap="none"/>
                        <a:t>4.</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VDD</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5V</a:t>
                      </a:r>
                      <a:endParaRPr sz="1100"/>
                    </a:p>
                  </a:txBody>
                  <a:tcPr marL="68600" marR="68600" marT="34300" marB="34300"/>
                </a:tc>
                <a:extLst>
                  <a:ext uri="{0D108BD9-81ED-4DB2-BD59-A6C34878D82A}">
                    <a16:rowId xmlns:a16="http://schemas.microsoft.com/office/drawing/2014/main" val="10004"/>
                  </a:ext>
                </a:extLst>
              </a:tr>
              <a:tr h="278125">
                <a:tc>
                  <a:txBody>
                    <a:bodyPr/>
                    <a:lstStyle/>
                    <a:p>
                      <a:pPr marL="0" marR="0" lvl="0" indent="0" algn="ctr" rtl="0">
                        <a:spcBef>
                          <a:spcPts val="0"/>
                        </a:spcBef>
                        <a:spcAft>
                          <a:spcPts val="0"/>
                        </a:spcAft>
                        <a:buNone/>
                      </a:pPr>
                      <a:r>
                        <a:rPr lang="en" sz="1400" u="none" strike="noStrike" cap="none"/>
                        <a:t>5.</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Input Bias Current</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5uA</a:t>
                      </a:r>
                      <a:endParaRPr sz="1100"/>
                    </a:p>
                  </a:txBody>
                  <a:tcPr marL="68600" marR="68600" marT="34300" marB="34300"/>
                </a:tc>
                <a:extLst>
                  <a:ext uri="{0D108BD9-81ED-4DB2-BD59-A6C34878D82A}">
                    <a16:rowId xmlns:a16="http://schemas.microsoft.com/office/drawing/2014/main" val="10005"/>
                  </a:ext>
                </a:extLst>
              </a:tr>
            </a:tbl>
          </a:graphicData>
        </a:graphic>
      </p:graphicFrame>
      <p:sp>
        <p:nvSpPr>
          <p:cNvPr id="414" name="Google Shape;414;p54"/>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55"/>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t>Opamp Schematic</a:t>
            </a:r>
            <a:endParaRPr/>
          </a:p>
        </p:txBody>
      </p:sp>
      <p:pic>
        <p:nvPicPr>
          <p:cNvPr id="420" name="Google Shape;420;p55"/>
          <p:cNvPicPr preferRelativeResize="0">
            <a:picLocks noGrp="1"/>
          </p:cNvPicPr>
          <p:nvPr>
            <p:ph type="body" idx="1"/>
          </p:nvPr>
        </p:nvPicPr>
        <p:blipFill rotWithShape="1">
          <a:blip r:embed="rId3">
            <a:alphaModFix/>
          </a:blip>
          <a:srcRect/>
          <a:stretch/>
        </p:blipFill>
        <p:spPr>
          <a:xfrm>
            <a:off x="1471613" y="1016267"/>
            <a:ext cx="6188869" cy="3557453"/>
          </a:xfrm>
          <a:prstGeom prst="rect">
            <a:avLst/>
          </a:prstGeom>
          <a:noFill/>
          <a:ln w="28575" cap="flat" cmpd="sng">
            <a:solidFill>
              <a:srgbClr val="000000"/>
            </a:solidFill>
            <a:prstDash val="solid"/>
            <a:round/>
            <a:headEnd type="none" w="sm" len="sm"/>
            <a:tailEnd type="none" w="sm" len="sm"/>
          </a:ln>
        </p:spPr>
      </p:pic>
      <p:sp>
        <p:nvSpPr>
          <p:cNvPr id="421" name="Google Shape;421;p55"/>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56"/>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t>Open Loop Testbench</a:t>
            </a:r>
            <a:endParaRPr/>
          </a:p>
        </p:txBody>
      </p:sp>
      <p:pic>
        <p:nvPicPr>
          <p:cNvPr id="427" name="Google Shape;427;p56" descr="The image is a technical schematic or waveform diagram, possibly from an SPICE simulation, showcasing an operational amplifier's AC open loop gain, phase margin, and other electrical parameters, with annotations for various components and their values.&#10;&#10;AI-generated content may be incorrect."/>
          <p:cNvPicPr preferRelativeResize="0">
            <a:picLocks noGrp="1"/>
          </p:cNvPicPr>
          <p:nvPr>
            <p:ph type="body" idx="1"/>
          </p:nvPr>
        </p:nvPicPr>
        <p:blipFill rotWithShape="1">
          <a:blip r:embed="rId3">
            <a:alphaModFix/>
          </a:blip>
          <a:srcRect/>
          <a:stretch/>
        </p:blipFill>
        <p:spPr>
          <a:xfrm>
            <a:off x="1471613" y="1028701"/>
            <a:ext cx="6188869" cy="3387657"/>
          </a:xfrm>
          <a:prstGeom prst="rect">
            <a:avLst/>
          </a:prstGeom>
          <a:noFill/>
          <a:ln w="28575" cap="flat" cmpd="sng">
            <a:solidFill>
              <a:srgbClr val="000000"/>
            </a:solidFill>
            <a:prstDash val="solid"/>
            <a:round/>
            <a:headEnd type="none" w="sm" len="sm"/>
            <a:tailEnd type="none" w="sm" len="sm"/>
          </a:ln>
        </p:spPr>
      </p:pic>
      <p:sp>
        <p:nvSpPr>
          <p:cNvPr id="428" name="Google Shape;428;p56"/>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57"/>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t>AC Simulation Results</a:t>
            </a:r>
            <a:endParaRPr/>
          </a:p>
        </p:txBody>
      </p:sp>
      <p:pic>
        <p:nvPicPr>
          <p:cNvPr id="434" name="Google Shape;434;p57" descr="The image shows a graph with two plots: one for gain in decibels (dB) across a frequency range from 1 Hz to 10^9 Hz, and another for phase in degrees (unwrapped) across the same frequency range.&#10;&#10;AI-generated content may be incorrect."/>
          <p:cNvPicPr preferRelativeResize="0">
            <a:picLocks noGrp="1"/>
          </p:cNvPicPr>
          <p:nvPr>
            <p:ph type="body" idx="1"/>
          </p:nvPr>
        </p:nvPicPr>
        <p:blipFill rotWithShape="1">
          <a:blip r:embed="rId3">
            <a:alphaModFix/>
          </a:blip>
          <a:srcRect/>
          <a:stretch/>
        </p:blipFill>
        <p:spPr>
          <a:xfrm>
            <a:off x="2036731" y="974889"/>
            <a:ext cx="2581564" cy="3521869"/>
          </a:xfrm>
          <a:prstGeom prst="rect">
            <a:avLst/>
          </a:prstGeom>
          <a:noFill/>
          <a:ln w="28575" cap="flat" cmpd="sng">
            <a:solidFill>
              <a:srgbClr val="000000"/>
            </a:solidFill>
            <a:prstDash val="solid"/>
            <a:round/>
            <a:headEnd type="none" w="sm" len="sm"/>
            <a:tailEnd type="none" w="sm" len="sm"/>
          </a:ln>
        </p:spPr>
      </p:pic>
      <p:sp>
        <p:nvSpPr>
          <p:cNvPr id="435" name="Google Shape;435;p57"/>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35</a:t>
            </a:fld>
            <a:endParaRPr/>
          </a:p>
        </p:txBody>
      </p:sp>
      <p:pic>
        <p:nvPicPr>
          <p:cNvPr id="436" name="Google Shape;436;p57" descr="The image shows a SPICE simulation output for an operational amplifier, displaying parameters like gmin, db, ugb, phase_ugb, and pm, with dynamic gmin stepping completed.&#10;&#10;AI-generated content may be incorrect."/>
          <p:cNvPicPr preferRelativeResize="0"/>
          <p:nvPr/>
        </p:nvPicPr>
        <p:blipFill rotWithShape="1">
          <a:blip r:embed="rId4">
            <a:alphaModFix/>
          </a:blip>
          <a:srcRect/>
          <a:stretch/>
        </p:blipFill>
        <p:spPr>
          <a:xfrm>
            <a:off x="4883494" y="1407100"/>
            <a:ext cx="2334465" cy="1960951"/>
          </a:xfrm>
          <a:prstGeom prst="rect">
            <a:avLst/>
          </a:prstGeom>
          <a:noFill/>
          <a:ln>
            <a:noFill/>
          </a:ln>
        </p:spPr>
      </p:pic>
      <p:sp>
        <p:nvSpPr>
          <p:cNvPr id="437" name="Google Shape;437;p57"/>
          <p:cNvSpPr txBox="1"/>
          <p:nvPr/>
        </p:nvSpPr>
        <p:spPr>
          <a:xfrm>
            <a:off x="2448068" y="1453487"/>
            <a:ext cx="395782" cy="20774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900">
                <a:solidFill>
                  <a:srgbClr val="FF0000"/>
                </a:solidFill>
                <a:latin typeface="Arial"/>
                <a:ea typeface="Arial"/>
                <a:cs typeface="Arial"/>
                <a:sym typeface="Arial"/>
              </a:rPr>
              <a:t>88dB</a:t>
            </a:r>
            <a:endParaRPr sz="1100"/>
          </a:p>
        </p:txBody>
      </p:sp>
      <p:sp>
        <p:nvSpPr>
          <p:cNvPr id="438" name="Google Shape;438;p57"/>
          <p:cNvSpPr txBox="1"/>
          <p:nvPr/>
        </p:nvSpPr>
        <p:spPr>
          <a:xfrm>
            <a:off x="4920019" y="3628599"/>
            <a:ext cx="2400000" cy="11466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dk1"/>
                </a:solidFill>
                <a:latin typeface="Arial"/>
                <a:ea typeface="Arial"/>
                <a:cs typeface="Arial"/>
                <a:sym typeface="Arial"/>
              </a:rPr>
              <a:t>Typical Corner Results:</a:t>
            </a:r>
            <a:endParaRPr sz="1100"/>
          </a:p>
          <a:p>
            <a:pPr marL="0" marR="0" lvl="0" indent="0" algn="l" rtl="0">
              <a:spcBef>
                <a:spcPts val="0"/>
              </a:spcBef>
              <a:spcAft>
                <a:spcPts val="0"/>
              </a:spcAft>
              <a:buNone/>
            </a:pPr>
            <a:r>
              <a:rPr lang="en" sz="1400">
                <a:solidFill>
                  <a:schemeClr val="dk1"/>
                </a:solidFill>
                <a:latin typeface="Arial"/>
                <a:ea typeface="Arial"/>
                <a:cs typeface="Arial"/>
                <a:sym typeface="Arial"/>
              </a:rPr>
              <a:t>DC Open Loop Gain = 88.27dB</a:t>
            </a:r>
            <a:endParaRPr sz="1100"/>
          </a:p>
          <a:p>
            <a:pPr marL="0" marR="0" lvl="0" indent="0" algn="l" rtl="0">
              <a:spcBef>
                <a:spcPts val="0"/>
              </a:spcBef>
              <a:spcAft>
                <a:spcPts val="0"/>
              </a:spcAft>
              <a:buNone/>
            </a:pPr>
            <a:r>
              <a:rPr lang="en" sz="1400">
                <a:solidFill>
                  <a:schemeClr val="dk1"/>
                </a:solidFill>
                <a:latin typeface="Arial"/>
                <a:ea typeface="Arial"/>
                <a:cs typeface="Arial"/>
                <a:sym typeface="Arial"/>
              </a:rPr>
              <a:t>UGB = 52MHz</a:t>
            </a:r>
            <a:endParaRPr sz="1100"/>
          </a:p>
          <a:p>
            <a:pPr marL="0" marR="0" lvl="0" indent="0" algn="l" rtl="0">
              <a:spcBef>
                <a:spcPts val="0"/>
              </a:spcBef>
              <a:spcAft>
                <a:spcPts val="0"/>
              </a:spcAft>
              <a:buNone/>
            </a:pPr>
            <a:r>
              <a:rPr lang="en" sz="1400">
                <a:solidFill>
                  <a:schemeClr val="dk1"/>
                </a:solidFill>
                <a:latin typeface="Arial"/>
                <a:ea typeface="Arial"/>
                <a:cs typeface="Arial"/>
                <a:sym typeface="Arial"/>
              </a:rPr>
              <a:t>Phase Margin = 60.5̊</a:t>
            </a:r>
            <a:endParaRPr sz="11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58"/>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t>Closed Loop Buffer Schematic</a:t>
            </a:r>
            <a:endParaRPr/>
          </a:p>
        </p:txBody>
      </p:sp>
      <p:pic>
        <p:nvPicPr>
          <p:cNvPr id="444" name="Google Shape;444;p58" descr="The image appears to be a complex circuit diagram featuring various electronic components such as transistors, diodes, resistors, and capacitors, with labels for different voltages, input and output values, and other parameters.&#10;&#10;AI-generated content may be incorrect."/>
          <p:cNvPicPr preferRelativeResize="0">
            <a:picLocks noGrp="1"/>
          </p:cNvPicPr>
          <p:nvPr>
            <p:ph type="body" idx="1"/>
          </p:nvPr>
        </p:nvPicPr>
        <p:blipFill rotWithShape="1">
          <a:blip r:embed="rId3">
            <a:alphaModFix/>
          </a:blip>
          <a:srcRect/>
          <a:stretch/>
        </p:blipFill>
        <p:spPr>
          <a:xfrm>
            <a:off x="1685526" y="1030410"/>
            <a:ext cx="5593849" cy="3310904"/>
          </a:xfrm>
          <a:prstGeom prst="rect">
            <a:avLst/>
          </a:prstGeom>
          <a:noFill/>
          <a:ln w="28575" cap="flat" cmpd="sng">
            <a:solidFill>
              <a:srgbClr val="000000"/>
            </a:solidFill>
            <a:prstDash val="solid"/>
            <a:round/>
            <a:headEnd type="none" w="sm" len="sm"/>
            <a:tailEnd type="none" w="sm" len="sm"/>
          </a:ln>
        </p:spPr>
      </p:pic>
      <p:sp>
        <p:nvSpPr>
          <p:cNvPr id="445" name="Google Shape;445;p58"/>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36</a:t>
            </a:fld>
            <a:endParaRPr/>
          </a:p>
        </p:txBody>
      </p:sp>
      <p:sp>
        <p:nvSpPr>
          <p:cNvPr id="446" name="Google Shape;446;p58"/>
          <p:cNvSpPr txBox="1"/>
          <p:nvPr/>
        </p:nvSpPr>
        <p:spPr>
          <a:xfrm>
            <a:off x="3461414" y="4341314"/>
            <a:ext cx="2453124" cy="69249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dk1"/>
                </a:solidFill>
                <a:latin typeface="Arial"/>
                <a:ea typeface="Arial"/>
                <a:cs typeface="Arial"/>
                <a:sym typeface="Arial"/>
              </a:rPr>
              <a:t>Programmable Gain</a:t>
            </a:r>
            <a:endParaRPr sz="1100"/>
          </a:p>
          <a:p>
            <a:pPr marL="0" marR="0" lvl="0" indent="0" algn="l" rtl="0">
              <a:spcBef>
                <a:spcPts val="0"/>
              </a:spcBef>
              <a:spcAft>
                <a:spcPts val="0"/>
              </a:spcAft>
              <a:buNone/>
            </a:pPr>
            <a:r>
              <a:rPr lang="en" sz="1400">
                <a:solidFill>
                  <a:schemeClr val="dk1"/>
                </a:solidFill>
                <a:latin typeface="Arial"/>
                <a:ea typeface="Arial"/>
                <a:cs typeface="Arial"/>
                <a:sym typeface="Arial"/>
              </a:rPr>
              <a:t>Mode_sel = 0, Gain = 1(Default)</a:t>
            </a:r>
            <a:endParaRPr sz="1100"/>
          </a:p>
          <a:p>
            <a:pPr marL="0" marR="0" lvl="0" indent="0" algn="l" rtl="0">
              <a:spcBef>
                <a:spcPts val="0"/>
              </a:spcBef>
              <a:spcAft>
                <a:spcPts val="0"/>
              </a:spcAft>
              <a:buNone/>
            </a:pPr>
            <a:r>
              <a:rPr lang="en" sz="1400">
                <a:solidFill>
                  <a:schemeClr val="dk1"/>
                </a:solidFill>
                <a:latin typeface="Arial"/>
                <a:ea typeface="Arial"/>
                <a:cs typeface="Arial"/>
                <a:sym typeface="Arial"/>
              </a:rPr>
              <a:t>Mode_sel = 1, Gain = 30</a:t>
            </a:r>
            <a:endParaRPr sz="11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59"/>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t>Closed Loop Testbench</a:t>
            </a:r>
            <a:endParaRPr/>
          </a:p>
        </p:txBody>
      </p:sp>
      <p:pic>
        <p:nvPicPr>
          <p:cNvPr id="452" name="Google Shape;452;p59" descr="The image is a schematic diagram for an analog-to-digital converter (ADC) non-inverting amplifier driver, with parameters and measurements for voltage gain and input/output voltage range.&#10;&#10;AI-generated content may be incorrect."/>
          <p:cNvPicPr preferRelativeResize="0">
            <a:picLocks noGrp="1"/>
          </p:cNvPicPr>
          <p:nvPr>
            <p:ph type="body" idx="1"/>
          </p:nvPr>
        </p:nvPicPr>
        <p:blipFill rotWithShape="1">
          <a:blip r:embed="rId3">
            <a:alphaModFix/>
          </a:blip>
          <a:srcRect/>
          <a:stretch/>
        </p:blipFill>
        <p:spPr>
          <a:xfrm>
            <a:off x="1635384" y="1135856"/>
            <a:ext cx="5861327" cy="3496866"/>
          </a:xfrm>
          <a:prstGeom prst="rect">
            <a:avLst/>
          </a:prstGeom>
          <a:noFill/>
          <a:ln w="28575" cap="flat" cmpd="sng">
            <a:solidFill>
              <a:srgbClr val="000000"/>
            </a:solidFill>
            <a:prstDash val="solid"/>
            <a:round/>
            <a:headEnd type="none" w="sm" len="sm"/>
            <a:tailEnd type="none" w="sm" len="sm"/>
          </a:ln>
        </p:spPr>
      </p:pic>
      <p:sp>
        <p:nvSpPr>
          <p:cNvPr id="453" name="Google Shape;453;p59"/>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60"/>
          <p:cNvSpPr txBox="1">
            <a:spLocks noGrp="1"/>
          </p:cNvSpPr>
          <p:nvPr>
            <p:ph type="title"/>
          </p:nvPr>
        </p:nvSpPr>
        <p:spPr>
          <a:xfrm>
            <a:off x="1368828" y="207956"/>
            <a:ext cx="5915025" cy="519077"/>
          </a:xfrm>
          <a:prstGeom prst="rect">
            <a:avLst/>
          </a:prstGeom>
          <a:noFill/>
          <a:ln>
            <a:noFill/>
          </a:ln>
        </p:spPr>
        <p:txBody>
          <a:bodyPr spcFirstLastPara="1" wrap="square" lIns="68575" tIns="34275" rIns="68575" bIns="34275" anchor="ctr" anchorCtr="0">
            <a:normAutofit fontScale="90000"/>
          </a:bodyPr>
          <a:lstStyle/>
          <a:p>
            <a:pPr marL="0" lvl="0" indent="0" algn="ctr" rtl="0">
              <a:lnSpc>
                <a:spcPct val="90000"/>
              </a:lnSpc>
              <a:spcBef>
                <a:spcPts val="0"/>
              </a:spcBef>
              <a:spcAft>
                <a:spcPts val="0"/>
              </a:spcAft>
              <a:buClr>
                <a:schemeClr val="dk1"/>
              </a:buClr>
              <a:buSzPct val="100000"/>
              <a:buFont typeface="Arial"/>
              <a:buNone/>
            </a:pPr>
            <a:r>
              <a:rPr lang="en"/>
              <a:t>Transient Simulation Results, Mode_sel = 0, Gain = 1</a:t>
            </a:r>
            <a:endParaRPr/>
          </a:p>
        </p:txBody>
      </p:sp>
      <p:pic>
        <p:nvPicPr>
          <p:cNvPr id="459" name="Google Shape;459;p60" descr="The image depicts a graph with time on the x-axis and voltage values on the y-axis, showing a voltage signal over time, and includes a path reference to a schematic file.&#10;&#10;AI-generated content may be incorrect."/>
          <p:cNvPicPr preferRelativeResize="0">
            <a:picLocks noGrp="1"/>
          </p:cNvPicPr>
          <p:nvPr>
            <p:ph type="body" idx="1"/>
          </p:nvPr>
        </p:nvPicPr>
        <p:blipFill rotWithShape="1">
          <a:blip r:embed="rId3">
            <a:alphaModFix/>
          </a:blip>
          <a:srcRect/>
          <a:stretch/>
        </p:blipFill>
        <p:spPr>
          <a:xfrm>
            <a:off x="1583373" y="992467"/>
            <a:ext cx="3877239" cy="3409950"/>
          </a:xfrm>
          <a:prstGeom prst="rect">
            <a:avLst/>
          </a:prstGeom>
          <a:noFill/>
          <a:ln w="28575" cap="flat" cmpd="sng">
            <a:solidFill>
              <a:srgbClr val="000000"/>
            </a:solidFill>
            <a:prstDash val="solid"/>
            <a:round/>
            <a:headEnd type="none" w="sm" len="sm"/>
            <a:tailEnd type="none" w="sm" len="sm"/>
          </a:ln>
        </p:spPr>
      </p:pic>
      <p:sp>
        <p:nvSpPr>
          <p:cNvPr id="460" name="Google Shape;460;p60"/>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38</a:t>
            </a:fld>
            <a:endParaRPr/>
          </a:p>
        </p:txBody>
      </p:sp>
      <p:pic>
        <p:nvPicPr>
          <p:cNvPr id="461" name="Google Shape;461;p60" descr="The image is a data table showing electrical parameters like input voltage range, output voltage range, voltage pair-to-pair, gain, and other reference values for an electronic component.&#10;&#10;AI-generated content may be incorrect."/>
          <p:cNvPicPr preferRelativeResize="0"/>
          <p:nvPr/>
        </p:nvPicPr>
        <p:blipFill rotWithShape="1">
          <a:blip r:embed="rId4">
            <a:alphaModFix/>
          </a:blip>
          <a:srcRect/>
          <a:stretch/>
        </p:blipFill>
        <p:spPr>
          <a:xfrm>
            <a:off x="5644895" y="1963442"/>
            <a:ext cx="2241789" cy="912824"/>
          </a:xfrm>
          <a:prstGeom prst="rect">
            <a:avLst/>
          </a:prstGeom>
          <a:noFill/>
          <a:ln>
            <a:noFill/>
          </a:ln>
        </p:spPr>
      </p:pic>
      <p:sp>
        <p:nvSpPr>
          <p:cNvPr id="462" name="Google Shape;462;p60"/>
          <p:cNvSpPr txBox="1"/>
          <p:nvPr/>
        </p:nvSpPr>
        <p:spPr>
          <a:xfrm>
            <a:off x="5644896" y="3157751"/>
            <a:ext cx="1379224" cy="484748"/>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dk1"/>
                </a:solidFill>
                <a:latin typeface="Arial"/>
                <a:ea typeface="Arial"/>
                <a:cs typeface="Arial"/>
                <a:sym typeface="Arial"/>
              </a:rPr>
              <a:t>Unity Gain mode</a:t>
            </a:r>
            <a:endParaRPr sz="1100"/>
          </a:p>
          <a:p>
            <a:pPr marL="0" marR="0" lvl="0" indent="0" algn="l" rtl="0">
              <a:spcBef>
                <a:spcPts val="0"/>
              </a:spcBef>
              <a:spcAft>
                <a:spcPts val="0"/>
              </a:spcAft>
              <a:buNone/>
            </a:pPr>
            <a:r>
              <a:rPr lang="en" sz="1400">
                <a:solidFill>
                  <a:schemeClr val="dk1"/>
                </a:solidFill>
                <a:latin typeface="Arial"/>
                <a:ea typeface="Arial"/>
                <a:cs typeface="Arial"/>
                <a:sym typeface="Arial"/>
              </a:rPr>
              <a:t>Vin = 20mV p2p</a:t>
            </a:r>
            <a:endParaRPr sz="1100"/>
          </a:p>
        </p:txBody>
      </p:sp>
      <p:sp>
        <p:nvSpPr>
          <p:cNvPr id="463" name="Google Shape;463;p60"/>
          <p:cNvSpPr txBox="1"/>
          <p:nvPr/>
        </p:nvSpPr>
        <p:spPr>
          <a:xfrm>
            <a:off x="1997691" y="3797490"/>
            <a:ext cx="1113527" cy="27699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dk1"/>
                </a:solidFill>
                <a:latin typeface="Arial"/>
                <a:ea typeface="Arial"/>
                <a:cs typeface="Arial"/>
                <a:sym typeface="Arial"/>
              </a:rPr>
              <a:t>Mode_sel = 0</a:t>
            </a:r>
            <a:endParaRPr sz="11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61"/>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fontScale="90000"/>
          </a:bodyPr>
          <a:lstStyle/>
          <a:p>
            <a:pPr marL="0" lvl="0" indent="0" algn="ctr" rtl="0">
              <a:lnSpc>
                <a:spcPct val="90000"/>
              </a:lnSpc>
              <a:spcBef>
                <a:spcPts val="0"/>
              </a:spcBef>
              <a:spcAft>
                <a:spcPts val="0"/>
              </a:spcAft>
              <a:buClr>
                <a:schemeClr val="dk1"/>
              </a:buClr>
              <a:buSzPct val="100000"/>
              <a:buFont typeface="Arial"/>
              <a:buNone/>
            </a:pPr>
            <a:r>
              <a:rPr lang="en"/>
              <a:t>Transient Simulation Results, Mode_sel = 1, Gain = 30</a:t>
            </a:r>
            <a:endParaRPr/>
          </a:p>
        </p:txBody>
      </p:sp>
      <p:pic>
        <p:nvPicPr>
          <p:cNvPr id="469" name="Google Shape;469;p61" descr="The image is a graph displaying a voltage waveform, with voltage values (V) on the y-axis and time on the x-axis, showing a relationship between input voltage (vinp) and output voltage (vout) at various time intervals.&#10;&#10;AI-generated content may be incorrect."/>
          <p:cNvPicPr preferRelativeResize="0">
            <a:picLocks noGrp="1"/>
          </p:cNvPicPr>
          <p:nvPr>
            <p:ph type="body" idx="1"/>
          </p:nvPr>
        </p:nvPicPr>
        <p:blipFill rotWithShape="1">
          <a:blip r:embed="rId3">
            <a:alphaModFix/>
          </a:blip>
          <a:srcRect/>
          <a:stretch/>
        </p:blipFill>
        <p:spPr>
          <a:xfrm>
            <a:off x="1421704" y="1175113"/>
            <a:ext cx="4158524" cy="3479027"/>
          </a:xfrm>
          <a:prstGeom prst="rect">
            <a:avLst/>
          </a:prstGeom>
          <a:noFill/>
          <a:ln w="28575" cap="flat" cmpd="sng">
            <a:solidFill>
              <a:srgbClr val="000000"/>
            </a:solidFill>
            <a:prstDash val="solid"/>
            <a:round/>
            <a:headEnd type="none" w="sm" len="sm"/>
            <a:tailEnd type="none" w="sm" len="sm"/>
          </a:ln>
        </p:spPr>
      </p:pic>
      <p:sp>
        <p:nvSpPr>
          <p:cNvPr id="470" name="Google Shape;470;p61"/>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39</a:t>
            </a:fld>
            <a:endParaRPr/>
          </a:p>
        </p:txBody>
      </p:sp>
      <p:sp>
        <p:nvSpPr>
          <p:cNvPr id="471" name="Google Shape;471;p61"/>
          <p:cNvSpPr txBox="1"/>
          <p:nvPr/>
        </p:nvSpPr>
        <p:spPr>
          <a:xfrm>
            <a:off x="1915804" y="1560963"/>
            <a:ext cx="1113527" cy="27699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dk1"/>
                </a:solidFill>
                <a:latin typeface="Arial"/>
                <a:ea typeface="Arial"/>
                <a:cs typeface="Arial"/>
                <a:sym typeface="Arial"/>
              </a:rPr>
              <a:t>Mode_sel = 1</a:t>
            </a:r>
            <a:endParaRPr sz="1100"/>
          </a:p>
        </p:txBody>
      </p:sp>
      <p:pic>
        <p:nvPicPr>
          <p:cNvPr id="472" name="Google Shape;472;p61" descr="The image displays a table with various electrical component values, including maximum and minimum voltage levels for 'vin' and 'vout', peak-to-peak values for both, and the gain of a circuit.&#10;&#10;AI-generated content may be incorrect."/>
          <p:cNvPicPr preferRelativeResize="0"/>
          <p:nvPr/>
        </p:nvPicPr>
        <p:blipFill rotWithShape="1">
          <a:blip r:embed="rId4">
            <a:alphaModFix/>
          </a:blip>
          <a:srcRect/>
          <a:stretch/>
        </p:blipFill>
        <p:spPr>
          <a:xfrm>
            <a:off x="5759350" y="1971567"/>
            <a:ext cx="2120141" cy="950760"/>
          </a:xfrm>
          <a:prstGeom prst="rect">
            <a:avLst/>
          </a:prstGeom>
          <a:noFill/>
          <a:ln>
            <a:noFill/>
          </a:ln>
        </p:spPr>
      </p:pic>
      <p:sp>
        <p:nvSpPr>
          <p:cNvPr id="473" name="Google Shape;473;p61"/>
          <p:cNvSpPr txBox="1"/>
          <p:nvPr/>
        </p:nvSpPr>
        <p:spPr>
          <a:xfrm>
            <a:off x="5644895" y="3157751"/>
            <a:ext cx="1490889" cy="1107996"/>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dk1"/>
                </a:solidFill>
                <a:latin typeface="Arial"/>
                <a:ea typeface="Arial"/>
                <a:cs typeface="Arial"/>
                <a:sym typeface="Arial"/>
              </a:rPr>
              <a:t>Unity Gain mode</a:t>
            </a:r>
            <a:endParaRPr sz="1100"/>
          </a:p>
          <a:p>
            <a:pPr marL="0" marR="0" lvl="0" indent="0" algn="l" rtl="0">
              <a:spcBef>
                <a:spcPts val="0"/>
              </a:spcBef>
              <a:spcAft>
                <a:spcPts val="0"/>
              </a:spcAft>
              <a:buNone/>
            </a:pPr>
            <a:r>
              <a:rPr lang="en" sz="1400">
                <a:solidFill>
                  <a:schemeClr val="dk1"/>
                </a:solidFill>
                <a:latin typeface="Arial"/>
                <a:ea typeface="Arial"/>
                <a:cs typeface="Arial"/>
                <a:sym typeface="Arial"/>
              </a:rPr>
              <a:t>Vin = 20mV p2p</a:t>
            </a:r>
            <a:endParaRPr sz="1100"/>
          </a:p>
          <a:p>
            <a:pPr marL="0" marR="0" lvl="0" indent="0" algn="l" rtl="0">
              <a:spcBef>
                <a:spcPts val="0"/>
              </a:spcBef>
              <a:spcAft>
                <a:spcPts val="0"/>
              </a:spcAft>
              <a:buNone/>
            </a:pPr>
            <a:r>
              <a:rPr lang="en" sz="1400">
                <a:solidFill>
                  <a:schemeClr val="dk1"/>
                </a:solidFill>
                <a:latin typeface="Arial"/>
                <a:ea typeface="Arial"/>
                <a:cs typeface="Arial"/>
                <a:sym typeface="Arial"/>
              </a:rPr>
              <a:t>Vout = 612mV p2p</a:t>
            </a:r>
            <a:endParaRPr sz="1100"/>
          </a:p>
          <a:p>
            <a:pPr marL="0" marR="0" lvl="0" indent="0" algn="l" rtl="0">
              <a:spcBef>
                <a:spcPts val="0"/>
              </a:spcBef>
              <a:spcAft>
                <a:spcPts val="0"/>
              </a:spcAft>
              <a:buNone/>
            </a:pPr>
            <a:r>
              <a:rPr lang="en" sz="1400">
                <a:solidFill>
                  <a:schemeClr val="dk1"/>
                </a:solidFill>
                <a:latin typeface="Arial"/>
                <a:ea typeface="Arial"/>
                <a:cs typeface="Arial"/>
                <a:sym typeface="Arial"/>
              </a:rPr>
              <a:t>Gain = 30.86</a:t>
            </a:r>
            <a:endParaRPr sz="1400">
              <a:solidFill>
                <a:schemeClr val="dk1"/>
              </a:solidFill>
              <a:latin typeface="Arial"/>
              <a:ea typeface="Arial"/>
              <a:cs typeface="Arial"/>
              <a:sym typeface="Arial"/>
            </a:endParaRPr>
          </a:p>
          <a:p>
            <a:pPr marL="0" marR="0" lvl="0" indent="0" algn="l" rtl="0">
              <a:spcBef>
                <a:spcPts val="0"/>
              </a:spcBef>
              <a:spcAft>
                <a:spcPts val="0"/>
              </a:spcAft>
              <a:buNone/>
            </a:pPr>
            <a:endParaRPr sz="1400">
              <a:solidFill>
                <a:schemeClr val="dk1"/>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62"/>
          <p:cNvSpPr txBox="1">
            <a:spLocks noGrp="1"/>
          </p:cNvSpPr>
          <p:nvPr>
            <p:ph type="title"/>
          </p:nvPr>
        </p:nvSpPr>
        <p:spPr>
          <a:xfrm>
            <a:off x="628650" y="192602"/>
            <a:ext cx="7886700" cy="519077"/>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2400"/>
              <a:buFont typeface="Arial"/>
              <a:buNone/>
            </a:pPr>
            <a:r>
              <a:rPr lang="en"/>
              <a:t>Summary</a:t>
            </a:r>
            <a:endParaRPr/>
          </a:p>
        </p:txBody>
      </p:sp>
      <p:sp>
        <p:nvSpPr>
          <p:cNvPr id="479" name="Google Shape;479;p62"/>
          <p:cNvSpPr txBox="1">
            <a:spLocks noGrp="1"/>
          </p:cNvSpPr>
          <p:nvPr>
            <p:ph type="sldNum" idx="12"/>
          </p:nvPr>
        </p:nvSpPr>
        <p:spPr>
          <a:xfrm>
            <a:off x="6631832" y="4759967"/>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40</a:t>
            </a:fld>
            <a:endParaRPr/>
          </a:p>
        </p:txBody>
      </p:sp>
      <p:graphicFrame>
        <p:nvGraphicFramePr>
          <p:cNvPr id="480" name="Google Shape;480;p62"/>
          <p:cNvGraphicFramePr/>
          <p:nvPr/>
        </p:nvGraphicFramePr>
        <p:xfrm>
          <a:off x="1614489" y="1385018"/>
          <a:ext cx="3000000" cy="3000000"/>
        </p:xfrm>
        <a:graphic>
          <a:graphicData uri="http://schemas.openxmlformats.org/drawingml/2006/table">
            <a:tbl>
              <a:tblPr firstRow="1" bandRow="1">
                <a:noFill/>
                <a:tableStyleId>{61557439-C961-4ACF-BB76-F6D57C97AC43}</a:tableStyleId>
              </a:tblPr>
              <a:tblGrid>
                <a:gridCol w="365250">
                  <a:extLst>
                    <a:ext uri="{9D8B030D-6E8A-4147-A177-3AD203B41FA5}">
                      <a16:colId xmlns:a16="http://schemas.microsoft.com/office/drawing/2014/main" val="20000"/>
                    </a:ext>
                  </a:extLst>
                </a:gridCol>
                <a:gridCol w="1758025">
                  <a:extLst>
                    <a:ext uri="{9D8B030D-6E8A-4147-A177-3AD203B41FA5}">
                      <a16:colId xmlns:a16="http://schemas.microsoft.com/office/drawing/2014/main" val="20001"/>
                    </a:ext>
                  </a:extLst>
                </a:gridCol>
                <a:gridCol w="1232275">
                  <a:extLst>
                    <a:ext uri="{9D8B030D-6E8A-4147-A177-3AD203B41FA5}">
                      <a16:colId xmlns:a16="http://schemas.microsoft.com/office/drawing/2014/main" val="20002"/>
                    </a:ext>
                  </a:extLst>
                </a:gridCol>
                <a:gridCol w="1674675">
                  <a:extLst>
                    <a:ext uri="{9D8B030D-6E8A-4147-A177-3AD203B41FA5}">
                      <a16:colId xmlns:a16="http://schemas.microsoft.com/office/drawing/2014/main" val="20003"/>
                    </a:ext>
                  </a:extLst>
                </a:gridCol>
              </a:tblGrid>
              <a:tr h="278125">
                <a:tc>
                  <a:txBody>
                    <a:bodyPr/>
                    <a:lstStyle/>
                    <a:p>
                      <a:pPr marL="0" marR="0" lvl="0" indent="0" algn="ctr" rtl="0">
                        <a:spcBef>
                          <a:spcPts val="0"/>
                        </a:spcBef>
                        <a:spcAft>
                          <a:spcPts val="0"/>
                        </a:spcAft>
                        <a:buNone/>
                      </a:pPr>
                      <a:r>
                        <a:rPr lang="en" sz="1400" u="none" strike="noStrike" cap="none"/>
                        <a:t>No.</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Parameter</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Value</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Simulations Results</a:t>
                      </a:r>
                      <a:endParaRPr sz="1100"/>
                    </a:p>
                  </a:txBody>
                  <a:tcPr marL="68600" marR="68600" marT="34300" marB="34300"/>
                </a:tc>
                <a:extLst>
                  <a:ext uri="{0D108BD9-81ED-4DB2-BD59-A6C34878D82A}">
                    <a16:rowId xmlns:a16="http://schemas.microsoft.com/office/drawing/2014/main" val="10000"/>
                  </a:ext>
                </a:extLst>
              </a:tr>
              <a:tr h="278125">
                <a:tc>
                  <a:txBody>
                    <a:bodyPr/>
                    <a:lstStyle/>
                    <a:p>
                      <a:pPr marL="0" marR="0" lvl="0" indent="0" algn="ctr" rtl="0">
                        <a:spcBef>
                          <a:spcPts val="0"/>
                        </a:spcBef>
                        <a:spcAft>
                          <a:spcPts val="0"/>
                        </a:spcAft>
                        <a:buNone/>
                      </a:pPr>
                      <a:r>
                        <a:rPr lang="en" sz="1400" u="none" strike="noStrike" cap="none"/>
                        <a:t>1.</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DC Open Loop Gain</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&gt; 70dB</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88.27dB</a:t>
                      </a:r>
                      <a:endParaRPr sz="1100"/>
                    </a:p>
                  </a:txBody>
                  <a:tcPr marL="68600" marR="68600" marT="34300" marB="34300"/>
                </a:tc>
                <a:extLst>
                  <a:ext uri="{0D108BD9-81ED-4DB2-BD59-A6C34878D82A}">
                    <a16:rowId xmlns:a16="http://schemas.microsoft.com/office/drawing/2014/main" val="10001"/>
                  </a:ext>
                </a:extLst>
              </a:tr>
              <a:tr h="278125">
                <a:tc>
                  <a:txBody>
                    <a:bodyPr/>
                    <a:lstStyle/>
                    <a:p>
                      <a:pPr marL="0" marR="0" lvl="0" indent="0" algn="ctr" rtl="0">
                        <a:spcBef>
                          <a:spcPts val="0"/>
                        </a:spcBef>
                        <a:spcAft>
                          <a:spcPts val="0"/>
                        </a:spcAft>
                        <a:buNone/>
                      </a:pPr>
                      <a:r>
                        <a:rPr lang="en" sz="1400" u="none" strike="noStrike" cap="none"/>
                        <a:t>2.</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Unity Gain Bandwidth</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&gt; 30MHz</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52MHz</a:t>
                      </a:r>
                      <a:endParaRPr sz="1100"/>
                    </a:p>
                  </a:txBody>
                  <a:tcPr marL="68600" marR="68600" marT="34300" marB="34300"/>
                </a:tc>
                <a:extLst>
                  <a:ext uri="{0D108BD9-81ED-4DB2-BD59-A6C34878D82A}">
                    <a16:rowId xmlns:a16="http://schemas.microsoft.com/office/drawing/2014/main" val="10002"/>
                  </a:ext>
                </a:extLst>
              </a:tr>
              <a:tr h="278125">
                <a:tc>
                  <a:txBody>
                    <a:bodyPr/>
                    <a:lstStyle/>
                    <a:p>
                      <a:pPr marL="0" marR="0" lvl="0" indent="0" algn="ctr" rtl="0">
                        <a:spcBef>
                          <a:spcPts val="0"/>
                        </a:spcBef>
                        <a:spcAft>
                          <a:spcPts val="0"/>
                        </a:spcAft>
                        <a:buNone/>
                      </a:pPr>
                      <a:r>
                        <a:rPr lang="en" sz="1400" u="none" strike="noStrike" cap="none"/>
                        <a:t>3.</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Phase Margin</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&gt; 60̊</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60.5̊</a:t>
                      </a:r>
                      <a:endParaRPr sz="1100"/>
                    </a:p>
                  </a:txBody>
                  <a:tcPr marL="68600" marR="68600" marT="34300" marB="34300"/>
                </a:tc>
                <a:extLst>
                  <a:ext uri="{0D108BD9-81ED-4DB2-BD59-A6C34878D82A}">
                    <a16:rowId xmlns:a16="http://schemas.microsoft.com/office/drawing/2014/main" val="10003"/>
                  </a:ext>
                </a:extLst>
              </a:tr>
              <a:tr h="278125">
                <a:tc>
                  <a:txBody>
                    <a:bodyPr/>
                    <a:lstStyle/>
                    <a:p>
                      <a:pPr marL="0" marR="0" lvl="0" indent="0" algn="ctr" rtl="0">
                        <a:spcBef>
                          <a:spcPts val="0"/>
                        </a:spcBef>
                        <a:spcAft>
                          <a:spcPts val="0"/>
                        </a:spcAft>
                        <a:buNone/>
                      </a:pPr>
                      <a:r>
                        <a:rPr lang="en" sz="1400" u="none" strike="noStrike" cap="none"/>
                        <a:t>4.</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Current Consumption</a:t>
                      </a:r>
                      <a:endParaRPr sz="1100"/>
                    </a:p>
                  </a:txBody>
                  <a:tcPr marL="68600" marR="68600" marT="34300" marB="34300"/>
                </a:tc>
                <a:tc>
                  <a:txBody>
                    <a:bodyPr/>
                    <a:lstStyle/>
                    <a:p>
                      <a:pPr marL="0" marR="0" lvl="0" indent="0" algn="ctr" rtl="0">
                        <a:spcBef>
                          <a:spcPts val="0"/>
                        </a:spcBef>
                        <a:spcAft>
                          <a:spcPts val="0"/>
                        </a:spcAft>
                        <a:buNone/>
                      </a:pPr>
                      <a:endParaRPr sz="1400" u="none" strike="noStrike" cap="none"/>
                    </a:p>
                  </a:txBody>
                  <a:tcPr marL="68600" marR="68600" marT="34300" marB="34300"/>
                </a:tc>
                <a:tc>
                  <a:txBody>
                    <a:bodyPr/>
                    <a:lstStyle/>
                    <a:p>
                      <a:pPr marL="0" marR="0" lvl="0" indent="0" algn="ctr" rtl="0">
                        <a:spcBef>
                          <a:spcPts val="0"/>
                        </a:spcBef>
                        <a:spcAft>
                          <a:spcPts val="0"/>
                        </a:spcAft>
                        <a:buNone/>
                      </a:pPr>
                      <a:r>
                        <a:rPr lang="en" sz="1400" u="none" strike="noStrike" cap="none"/>
                        <a:t>435uA</a:t>
                      </a:r>
                      <a:endParaRPr sz="1100"/>
                    </a:p>
                  </a:txBody>
                  <a:tcPr marL="68600" marR="68600" marT="34300" marB="34300"/>
                </a:tc>
                <a:extLst>
                  <a:ext uri="{0D108BD9-81ED-4DB2-BD59-A6C34878D82A}">
                    <a16:rowId xmlns:a16="http://schemas.microsoft.com/office/drawing/2014/main" val="10004"/>
                  </a:ext>
                </a:extLst>
              </a:tr>
              <a:tr h="278125">
                <a:tc>
                  <a:txBody>
                    <a:bodyPr/>
                    <a:lstStyle/>
                    <a:p>
                      <a:pPr marL="0" marR="0" lvl="0" indent="0" algn="ctr" rtl="0">
                        <a:spcBef>
                          <a:spcPts val="0"/>
                        </a:spcBef>
                        <a:spcAft>
                          <a:spcPts val="0"/>
                        </a:spcAft>
                        <a:buNone/>
                      </a:pPr>
                      <a:r>
                        <a:rPr lang="en" sz="1400" u="none" strike="noStrike" cap="none"/>
                        <a:t>5.</a:t>
                      </a:r>
                      <a:endParaRPr sz="1100"/>
                    </a:p>
                  </a:txBody>
                  <a:tcPr marL="68600" marR="68600" marT="34300" marB="34300"/>
                </a:tc>
                <a:tc>
                  <a:txBody>
                    <a:bodyPr/>
                    <a:lstStyle/>
                    <a:p>
                      <a:pPr marL="0" marR="0" lvl="0" indent="0" algn="ctr" rtl="0">
                        <a:spcBef>
                          <a:spcPts val="0"/>
                        </a:spcBef>
                        <a:spcAft>
                          <a:spcPts val="0"/>
                        </a:spcAft>
                        <a:buNone/>
                      </a:pPr>
                      <a:r>
                        <a:rPr lang="en" sz="1400" u="none" strike="noStrike" cap="none"/>
                        <a:t>Settling Time</a:t>
                      </a:r>
                      <a:endParaRPr sz="1100"/>
                    </a:p>
                  </a:txBody>
                  <a:tcPr marL="68600" marR="68600" marT="34300" marB="34300"/>
                </a:tc>
                <a:tc>
                  <a:txBody>
                    <a:bodyPr/>
                    <a:lstStyle/>
                    <a:p>
                      <a:pPr marL="0" marR="0" lvl="0" indent="0" algn="ctr" rtl="0">
                        <a:spcBef>
                          <a:spcPts val="0"/>
                        </a:spcBef>
                        <a:spcAft>
                          <a:spcPts val="0"/>
                        </a:spcAft>
                        <a:buNone/>
                      </a:pPr>
                      <a:endParaRPr sz="1400" u="none" strike="noStrike" cap="none"/>
                    </a:p>
                  </a:txBody>
                  <a:tcPr marL="68600" marR="68600" marT="34300" marB="34300"/>
                </a:tc>
                <a:tc>
                  <a:txBody>
                    <a:bodyPr/>
                    <a:lstStyle/>
                    <a:p>
                      <a:pPr marL="0" marR="0" lvl="0" indent="0" algn="ctr" rtl="0">
                        <a:spcBef>
                          <a:spcPts val="0"/>
                        </a:spcBef>
                        <a:spcAft>
                          <a:spcPts val="0"/>
                        </a:spcAft>
                        <a:buNone/>
                      </a:pPr>
                      <a:r>
                        <a:rPr lang="en" sz="1400" u="none" strike="noStrike" cap="none"/>
                        <a:t>30ns</a:t>
                      </a:r>
                      <a:endParaRPr sz="1100"/>
                    </a:p>
                  </a:txBody>
                  <a:tcPr marL="68600" marR="68600" marT="34300" marB="34300"/>
                </a:tc>
                <a:extLst>
                  <a:ext uri="{0D108BD9-81ED-4DB2-BD59-A6C34878D82A}">
                    <a16:rowId xmlns:a16="http://schemas.microsoft.com/office/drawing/2014/main" val="10005"/>
                  </a:ext>
                </a:extLst>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939</Words>
  <Application>Microsoft Office PowerPoint</Application>
  <PresentationFormat>On-screen Show (16:9)</PresentationFormat>
  <Paragraphs>258</Paragraphs>
  <Slides>40</Slides>
  <Notes>36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40</vt:i4>
      </vt:variant>
    </vt:vector>
  </HeadingPairs>
  <TitlesOfParts>
    <vt:vector size="46" baseType="lpstr">
      <vt:lpstr>Aptos</vt:lpstr>
      <vt:lpstr>Arial</vt:lpstr>
      <vt:lpstr>Calibri</vt:lpstr>
      <vt:lpstr>Noto Sans Symbols</vt:lpstr>
      <vt:lpstr>Simple Light</vt:lpstr>
      <vt:lpstr>Office Theme</vt:lpstr>
      <vt:lpstr>Battery Management System - AFE  Design Review</vt:lpstr>
      <vt:lpstr>System Architecture </vt:lpstr>
      <vt:lpstr>Top-Level System Schematic</vt:lpstr>
      <vt:lpstr>ADC Specifications</vt:lpstr>
      <vt:lpstr>ADC Schematics</vt:lpstr>
      <vt:lpstr>ADC Schematics</vt:lpstr>
      <vt:lpstr>ADC Schematics</vt:lpstr>
      <vt:lpstr>ADC Simulation Results</vt:lpstr>
      <vt:lpstr>ADC Simulation Results</vt:lpstr>
      <vt:lpstr>ADC Simulation Results</vt:lpstr>
      <vt:lpstr>ADC Simulation Results</vt:lpstr>
      <vt:lpstr>CCIA Specification </vt:lpstr>
      <vt:lpstr>CCIA Schematics</vt:lpstr>
      <vt:lpstr>CCIA Schematics</vt:lpstr>
      <vt:lpstr>CCIA Schematics</vt:lpstr>
      <vt:lpstr>CCIA Schematics</vt:lpstr>
      <vt:lpstr>CCIA Schematics</vt:lpstr>
      <vt:lpstr>CCIA Schematics</vt:lpstr>
      <vt:lpstr>CCIA Schematics</vt:lpstr>
      <vt:lpstr>CCIA AC response </vt:lpstr>
      <vt:lpstr>CCIA CMRR analysis</vt:lpstr>
      <vt:lpstr>CCIA PSRR analysis</vt:lpstr>
      <vt:lpstr>PowerPoint Presentation</vt:lpstr>
      <vt:lpstr>EIS TestBench Schematic</vt:lpstr>
      <vt:lpstr>Top level schematic of EIS</vt:lpstr>
      <vt:lpstr>PowerPoint Presentation</vt:lpstr>
      <vt:lpstr>PowerPoint Presentation</vt:lpstr>
      <vt:lpstr>Simulation result</vt:lpstr>
      <vt:lpstr>PowerPoint Presentation</vt:lpstr>
      <vt:lpstr>Simulation plots</vt:lpstr>
      <vt:lpstr>test case of generating Sine wave</vt:lpstr>
      <vt:lpstr>Design Specifications for Opamp</vt:lpstr>
      <vt:lpstr>Opamp Schematic</vt:lpstr>
      <vt:lpstr>Open Loop Testbench</vt:lpstr>
      <vt:lpstr>AC Simulation Results</vt:lpstr>
      <vt:lpstr>Closed Loop Buffer Schematic</vt:lpstr>
      <vt:lpstr>Closed Loop Testbench</vt:lpstr>
      <vt:lpstr>Transient Simulation Results, Mode_sel = 0, Gain = 1</vt:lpstr>
      <vt:lpstr>Transient Simulation Results, Mode_sel = 1, Gain = 30</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Battery Management System - AFE  Design Review</dc:title>
  <cp:lastModifiedBy>dell</cp:lastModifiedBy>
  <cp:revision>1</cp:revision>
  <dcterms:modified xsi:type="dcterms:W3CDTF">2026-10-09T10:53:36Z</dcterms:modified>
</cp:coreProperties>
</file>